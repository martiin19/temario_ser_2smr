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78" y="10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11/25/2025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751669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11/25/2025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647059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11/25/2025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887946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11/25/2025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037009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11/25/2025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34599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11/25/2025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991802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11/25/2025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568118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11/25/2025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486192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11/25/2025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383805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11/25/2025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873748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11/25/2025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685832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11/25/2025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‹Nº›</a:t>
            </a:fld>
            <a:endParaRPr lang="en-US"/>
          </a:p>
        </p:txBody>
      </p:sp>
    </p:spTree>
    <p:extLst>
      <p:ext uri="{BB962C8B-B14F-4D97-AF65-F5344CB8AC3E}">
        <p14:creationId xmlns:p14="http://schemas.microsoft.com/office/powerpoint/2010/main" val="3744979167"/>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descr="Bolígrafo situado en la parte superior de una línea de firma">
            <a:extLst>
              <a:ext uri="{FF2B5EF4-FFF2-40B4-BE49-F238E27FC236}">
                <a16:creationId xmlns:a16="http://schemas.microsoft.com/office/drawing/2014/main" id="{E493696E-3797-838A-49E5-22B42C960EFE}"/>
              </a:ext>
            </a:extLst>
          </p:cNvPr>
          <p:cNvPicPr>
            <a:picLocks noChangeAspect="1"/>
          </p:cNvPicPr>
          <p:nvPr/>
        </p:nvPicPr>
        <p:blipFill>
          <a:blip r:embed="rId2"/>
          <a:srcRect b="15730"/>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7D064F0-6D2A-219C-C000-14ABD99ECE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06" y="0"/>
            <a:ext cx="4903694" cy="6858001"/>
          </a:xfrm>
          <a:prstGeom prst="rect">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8460D57-F315-FBD0-037F-99C185DD69E0}"/>
              </a:ext>
            </a:extLst>
          </p:cNvPr>
          <p:cNvSpPr>
            <a:spLocks noGrp="1"/>
          </p:cNvSpPr>
          <p:nvPr>
            <p:ph type="ctrTitle"/>
          </p:nvPr>
        </p:nvSpPr>
        <p:spPr>
          <a:xfrm>
            <a:off x="7620001" y="822960"/>
            <a:ext cx="4286054" cy="3474720"/>
          </a:xfrm>
        </p:spPr>
        <p:txBody>
          <a:bodyPr anchor="b">
            <a:normAutofit/>
          </a:bodyPr>
          <a:lstStyle/>
          <a:p>
            <a:pPr algn="l"/>
            <a:r>
              <a:rPr lang="es-ES" sz="5200" dirty="0"/>
              <a:t>Servicios de resolución de nombres</a:t>
            </a:r>
          </a:p>
        </p:txBody>
      </p:sp>
      <p:sp>
        <p:nvSpPr>
          <p:cNvPr id="3" name="Subtítulo 2">
            <a:extLst>
              <a:ext uri="{FF2B5EF4-FFF2-40B4-BE49-F238E27FC236}">
                <a16:creationId xmlns:a16="http://schemas.microsoft.com/office/drawing/2014/main" id="{01491D22-AF70-B9B2-FD24-4E413F0FD293}"/>
              </a:ext>
            </a:extLst>
          </p:cNvPr>
          <p:cNvSpPr>
            <a:spLocks noGrp="1"/>
          </p:cNvSpPr>
          <p:nvPr>
            <p:ph type="subTitle" idx="1"/>
          </p:nvPr>
        </p:nvSpPr>
        <p:spPr>
          <a:xfrm>
            <a:off x="7620001" y="4419600"/>
            <a:ext cx="3931920" cy="1386840"/>
          </a:xfrm>
        </p:spPr>
        <p:txBody>
          <a:bodyPr anchor="t">
            <a:normAutofit/>
          </a:bodyPr>
          <a:lstStyle/>
          <a:p>
            <a:pPr algn="l"/>
            <a:endParaRPr lang="es-ES" sz="2200"/>
          </a:p>
        </p:txBody>
      </p:sp>
    </p:spTree>
    <p:extLst>
      <p:ext uri="{BB962C8B-B14F-4D97-AF65-F5344CB8AC3E}">
        <p14:creationId xmlns:p14="http://schemas.microsoft.com/office/powerpoint/2010/main" val="85429481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81F7DB-B590-D0DE-FA7E-7817AA22B87E}"/>
              </a:ext>
            </a:extLst>
          </p:cNvPr>
          <p:cNvSpPr>
            <a:spLocks noGrp="1"/>
          </p:cNvSpPr>
          <p:nvPr>
            <p:ph type="title"/>
          </p:nvPr>
        </p:nvSpPr>
        <p:spPr/>
        <p:txBody>
          <a:bodyPr/>
          <a:lstStyle/>
          <a:p>
            <a:r>
              <a:rPr lang="es-ES" dirty="0"/>
              <a:t>3.1. Introducción</a:t>
            </a:r>
          </a:p>
        </p:txBody>
      </p:sp>
      <p:sp>
        <p:nvSpPr>
          <p:cNvPr id="3" name="Marcador de contenido 2">
            <a:extLst>
              <a:ext uri="{FF2B5EF4-FFF2-40B4-BE49-F238E27FC236}">
                <a16:creationId xmlns:a16="http://schemas.microsoft.com/office/drawing/2014/main" id="{F1F867E7-527A-5602-A6E6-745903508089}"/>
              </a:ext>
            </a:extLst>
          </p:cNvPr>
          <p:cNvSpPr>
            <a:spLocks noGrp="1"/>
          </p:cNvSpPr>
          <p:nvPr>
            <p:ph idx="1"/>
          </p:nvPr>
        </p:nvSpPr>
        <p:spPr/>
        <p:txBody>
          <a:bodyPr>
            <a:normAutofit/>
          </a:bodyPr>
          <a:lstStyle/>
          <a:p>
            <a:pPr marL="0" indent="0">
              <a:buNone/>
            </a:pPr>
            <a:r>
              <a:rPr lang="es-ES" dirty="0"/>
              <a:t>Cada vez son más </a:t>
            </a:r>
            <a:r>
              <a:rPr lang="es-ES" b="1" dirty="0"/>
              <a:t>los equipos conectados a la red </a:t>
            </a:r>
            <a:r>
              <a:rPr lang="es-ES" dirty="0"/>
              <a:t>que ofrecen algún </a:t>
            </a:r>
            <a:r>
              <a:rPr lang="es-ES" b="1" dirty="0"/>
              <a:t>tipo de servicio o recurso </a:t>
            </a:r>
            <a:r>
              <a:rPr lang="es-ES" dirty="0"/>
              <a:t>y, por tanto, también es mayor la necesidad de conocer cómo acceder a ellos. Aunque conocerla dirección lógica del equipo que ofrece el servicio o recurso permite prescindir de conocer el nombre asociado a la misma, cierto es que para los humanos es mucho </a:t>
            </a:r>
            <a:r>
              <a:rPr lang="es-ES" b="1" dirty="0"/>
              <a:t>más sencillo recordar nombres que combinaciones de números</a:t>
            </a:r>
            <a:r>
              <a:rPr lang="es-ES" dirty="0"/>
              <a:t>. </a:t>
            </a:r>
          </a:p>
          <a:p>
            <a:pPr marL="0" indent="0">
              <a:buNone/>
            </a:pPr>
            <a:r>
              <a:rPr lang="es-ES" dirty="0"/>
              <a:t>Ya sea en Internet o en una red privada local, los </a:t>
            </a:r>
            <a:r>
              <a:rPr lang="es-ES" b="1" dirty="0"/>
              <a:t>servicios de resolución de nombres </a:t>
            </a:r>
            <a:r>
              <a:rPr lang="es-ES" dirty="0"/>
              <a:t>juegan un papel </a:t>
            </a:r>
            <a:r>
              <a:rPr lang="es-ES" b="1" dirty="0"/>
              <a:t>crucial a la hora de acceder a los recursos</a:t>
            </a:r>
            <a:r>
              <a:rPr lang="es-ES" dirty="0"/>
              <a:t>. A lo largo de este capítulo se describirán los </a:t>
            </a:r>
            <a:r>
              <a:rPr lang="es-ES" b="1" dirty="0"/>
              <a:t>diferentes servicios </a:t>
            </a:r>
            <a:r>
              <a:rPr lang="es-ES" dirty="0"/>
              <a:t>encargados de llevar a cabo las </a:t>
            </a:r>
            <a:r>
              <a:rPr lang="es-ES" b="1" dirty="0"/>
              <a:t>traducciones de nombres a direcciones IP</a:t>
            </a:r>
            <a:r>
              <a:rPr lang="es-ES" dirty="0"/>
              <a:t> y viceversa.</a:t>
            </a:r>
          </a:p>
        </p:txBody>
      </p:sp>
    </p:spTree>
    <p:extLst>
      <p:ext uri="{BB962C8B-B14F-4D97-AF65-F5344CB8AC3E}">
        <p14:creationId xmlns:p14="http://schemas.microsoft.com/office/powerpoint/2010/main" val="2838092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0ED65B-A6DB-3F09-1494-6CD3AF2D0F6F}"/>
              </a:ext>
            </a:extLst>
          </p:cNvPr>
          <p:cNvSpPr>
            <a:spLocks noGrp="1"/>
          </p:cNvSpPr>
          <p:nvPr>
            <p:ph type="title"/>
          </p:nvPr>
        </p:nvSpPr>
        <p:spPr/>
        <p:txBody>
          <a:bodyPr/>
          <a:lstStyle/>
          <a:p>
            <a:r>
              <a:rPr lang="es-ES" dirty="0"/>
              <a:t>3.2. Sistema de nombres planos</a:t>
            </a:r>
          </a:p>
        </p:txBody>
      </p:sp>
      <p:sp>
        <p:nvSpPr>
          <p:cNvPr id="3" name="Marcador de contenido 2">
            <a:extLst>
              <a:ext uri="{FF2B5EF4-FFF2-40B4-BE49-F238E27FC236}">
                <a16:creationId xmlns:a16="http://schemas.microsoft.com/office/drawing/2014/main" id="{4568C0CD-A9E7-5DAB-BEBD-1F5DDE0E47DC}"/>
              </a:ext>
            </a:extLst>
          </p:cNvPr>
          <p:cNvSpPr>
            <a:spLocks noGrp="1"/>
          </p:cNvSpPr>
          <p:nvPr>
            <p:ph idx="1"/>
          </p:nvPr>
        </p:nvSpPr>
        <p:spPr/>
        <p:txBody>
          <a:bodyPr>
            <a:normAutofit fontScale="92500" lnSpcReduction="20000"/>
          </a:bodyPr>
          <a:lstStyle/>
          <a:p>
            <a:pPr marL="0" indent="0">
              <a:buNone/>
            </a:pPr>
            <a:r>
              <a:rPr lang="es-ES" dirty="0"/>
              <a:t>Mediante el empleo de </a:t>
            </a:r>
            <a:r>
              <a:rPr lang="es-ES" b="1" dirty="0"/>
              <a:t>nombres planos </a:t>
            </a:r>
            <a:r>
              <a:rPr lang="es-ES" dirty="0"/>
              <a:t>es posible identificar y acceder a </a:t>
            </a:r>
            <a:r>
              <a:rPr lang="es-ES" b="1" dirty="0"/>
              <a:t>equipos que están dentro de una red</a:t>
            </a:r>
            <a:r>
              <a:rPr lang="es-ES" dirty="0"/>
              <a:t>, pero en ningún caso se conoce la estructura lógica de la misma. Este tipo de sistemas pueden implementarse sobre </a:t>
            </a:r>
            <a:r>
              <a:rPr lang="es-ES" b="1" dirty="0"/>
              <a:t>arquitecturas cliente servidor o estar distribuidos</a:t>
            </a:r>
            <a:r>
              <a:rPr lang="es-ES" dirty="0"/>
              <a:t>. </a:t>
            </a:r>
          </a:p>
          <a:p>
            <a:pPr marL="0" indent="0">
              <a:buNone/>
            </a:pPr>
            <a:r>
              <a:rPr lang="es-ES" dirty="0"/>
              <a:t>Uno de los sistemas que emplea </a:t>
            </a:r>
            <a:r>
              <a:rPr lang="es-ES" b="1" dirty="0"/>
              <a:t>nombres planos es </a:t>
            </a:r>
            <a:r>
              <a:rPr lang="es-ES" b="1" dirty="0" err="1"/>
              <a:t>NetBios</a:t>
            </a:r>
            <a:r>
              <a:rPr lang="es-ES" b="1" dirty="0"/>
              <a:t> </a:t>
            </a:r>
            <a:r>
              <a:rPr lang="es-ES" dirty="0"/>
              <a:t>(Network Basic Input-Output </a:t>
            </a:r>
            <a:r>
              <a:rPr lang="es-ES" dirty="0" err="1"/>
              <a:t>System</a:t>
            </a:r>
            <a:r>
              <a:rPr lang="es-ES" dirty="0"/>
              <a:t>). Se trata de un </a:t>
            </a:r>
            <a:r>
              <a:rPr lang="es-ES" b="1" dirty="0"/>
              <a:t>sistema que hace de enlace entre la capa de red y las aplicaciones que desean hacer uso de ellas</a:t>
            </a:r>
            <a:r>
              <a:rPr lang="es-ES" dirty="0"/>
              <a:t>. Permite conocer la dirección lógica (</a:t>
            </a:r>
            <a:r>
              <a:rPr lang="es-ES" b="1" dirty="0"/>
              <a:t>IP</a:t>
            </a:r>
            <a:r>
              <a:rPr lang="es-ES" dirty="0"/>
              <a:t>) asignada a un dispositivo dentro de una red a partir de </a:t>
            </a:r>
            <a:r>
              <a:rPr lang="es-ES" b="1" dirty="0"/>
              <a:t>un nombre plano </a:t>
            </a:r>
            <a:r>
              <a:rPr lang="es-ES" dirty="0"/>
              <a:t>y sin necesidad de un servidor que </a:t>
            </a:r>
            <a:r>
              <a:rPr lang="es-ES" b="1" dirty="0"/>
              <a:t>centralice el servicio </a:t>
            </a:r>
            <a:r>
              <a:rPr lang="es-ES" dirty="0"/>
              <a:t>(se trata de un servicio distribuido). </a:t>
            </a:r>
          </a:p>
          <a:p>
            <a:pPr marL="0" indent="0">
              <a:buNone/>
            </a:pPr>
            <a:r>
              <a:rPr lang="es-ES" dirty="0"/>
              <a:t>Una alternativa centralizada es </a:t>
            </a:r>
            <a:r>
              <a:rPr lang="es-ES" b="1" dirty="0"/>
              <a:t>el servidor WINS </a:t>
            </a:r>
            <a:r>
              <a:rPr lang="es-ES" dirty="0"/>
              <a:t>(Windows Internet </a:t>
            </a:r>
            <a:r>
              <a:rPr lang="es-ES" dirty="0" err="1"/>
              <a:t>Naming</a:t>
            </a:r>
            <a:r>
              <a:rPr lang="es-ES" dirty="0"/>
              <a:t> </a:t>
            </a:r>
            <a:r>
              <a:rPr lang="es-ES" dirty="0" err="1"/>
              <a:t>Service</a:t>
            </a:r>
            <a:r>
              <a:rPr lang="es-ES" dirty="0"/>
              <a:t>). Este servicio de resolución y registro de nombres de equipos NetBIOS a direcciones IP está implementado por Microsoft y controla las solicitudes de registro, renovación y liberación que recibe por parte de los clientes, además de responder a las consultas con la dirección IP (siempre y cuando el nombre se encuentre registrado en su base de datos).</a:t>
            </a:r>
          </a:p>
        </p:txBody>
      </p:sp>
    </p:spTree>
    <p:extLst>
      <p:ext uri="{BB962C8B-B14F-4D97-AF65-F5344CB8AC3E}">
        <p14:creationId xmlns:p14="http://schemas.microsoft.com/office/powerpoint/2010/main" val="102691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32AA92-0822-04F7-8C4C-07D0628B4BC7}"/>
              </a:ext>
            </a:extLst>
          </p:cNvPr>
          <p:cNvSpPr>
            <a:spLocks noGrp="1"/>
          </p:cNvSpPr>
          <p:nvPr>
            <p:ph type="title"/>
          </p:nvPr>
        </p:nvSpPr>
        <p:spPr/>
        <p:txBody>
          <a:bodyPr/>
          <a:lstStyle/>
          <a:p>
            <a:r>
              <a:rPr lang="es-ES" dirty="0"/>
              <a:t>3.3. Sistema de nombres jerárquicos </a:t>
            </a:r>
          </a:p>
        </p:txBody>
      </p:sp>
      <p:sp>
        <p:nvSpPr>
          <p:cNvPr id="3" name="Marcador de contenido 2">
            <a:extLst>
              <a:ext uri="{FF2B5EF4-FFF2-40B4-BE49-F238E27FC236}">
                <a16:creationId xmlns:a16="http://schemas.microsoft.com/office/drawing/2014/main" id="{7CADDAC6-9BD1-67D6-8B09-CE14FB1C86D3}"/>
              </a:ext>
            </a:extLst>
          </p:cNvPr>
          <p:cNvSpPr>
            <a:spLocks noGrp="1"/>
          </p:cNvSpPr>
          <p:nvPr>
            <p:ph idx="1"/>
          </p:nvPr>
        </p:nvSpPr>
        <p:spPr/>
        <p:txBody>
          <a:bodyPr>
            <a:normAutofit/>
          </a:bodyPr>
          <a:lstStyle/>
          <a:p>
            <a:pPr marL="0" indent="0">
              <a:buNone/>
            </a:pPr>
            <a:r>
              <a:rPr lang="es-ES" dirty="0"/>
              <a:t>Tal como se ha descrito anteriormente, los sistemas </a:t>
            </a:r>
            <a:r>
              <a:rPr lang="es-ES" b="1" dirty="0"/>
              <a:t>de nombres planos no ofrecen información relativa a la estructura jerárquica </a:t>
            </a:r>
            <a:r>
              <a:rPr lang="es-ES" dirty="0"/>
              <a:t>de la red en la que se encuentran los dispositivos y, salvo </a:t>
            </a:r>
            <a:r>
              <a:rPr lang="es-ES" b="1" dirty="0"/>
              <a:t>escenarios particulares</a:t>
            </a:r>
            <a:r>
              <a:rPr lang="es-ES" dirty="0"/>
              <a:t>, están cayendo en desuso. Para conocer este tipo de información es necesario utilizar </a:t>
            </a:r>
            <a:r>
              <a:rPr lang="es-ES" b="1" dirty="0"/>
              <a:t>nombres articulados o jerárquicos </a:t>
            </a:r>
            <a:r>
              <a:rPr lang="es-ES" dirty="0"/>
              <a:t>cuya sintaxis se describirá en este capitulo.</a:t>
            </a:r>
          </a:p>
          <a:p>
            <a:pPr marL="0" indent="0">
              <a:buNone/>
            </a:pPr>
            <a:r>
              <a:rPr lang="es-ES" dirty="0"/>
              <a:t>El uso de esos sistemas </a:t>
            </a:r>
            <a:r>
              <a:rPr lang="es-ES" b="1" dirty="0"/>
              <a:t>no se limita a la simple traducción </a:t>
            </a:r>
            <a:r>
              <a:rPr lang="es-ES" dirty="0"/>
              <a:t>de nombres a direcciones lógicas y viceversa; también permite conocer la </a:t>
            </a:r>
            <a:r>
              <a:rPr lang="es-ES" b="1" dirty="0"/>
              <a:t>ubicación y forma de acceso </a:t>
            </a:r>
            <a:r>
              <a:rPr lang="es-ES" dirty="0"/>
              <a:t>a determinados servicios dentro de un dominio, entendiéndose el término “</a:t>
            </a:r>
            <a:r>
              <a:rPr lang="es-ES" b="1" dirty="0"/>
              <a:t>dominio</a:t>
            </a:r>
            <a:r>
              <a:rPr lang="es-ES" dirty="0"/>
              <a:t>” como el </a:t>
            </a:r>
            <a:r>
              <a:rPr lang="es-ES" b="1" dirty="0"/>
              <a:t>conjunto de recursos </a:t>
            </a:r>
            <a:r>
              <a:rPr lang="es-ES" dirty="0"/>
              <a:t>que comparten parte de su </a:t>
            </a:r>
            <a:r>
              <a:rPr lang="es-ES" b="1" dirty="0"/>
              <a:t>identificador</a:t>
            </a:r>
            <a:r>
              <a:rPr lang="es-ES" dirty="0"/>
              <a:t> y que son controlados por la </a:t>
            </a:r>
            <a:r>
              <a:rPr lang="es-ES" b="1" dirty="0"/>
              <a:t>misma entidad</a:t>
            </a:r>
            <a:r>
              <a:rPr lang="es-ES" dirty="0"/>
              <a:t>.</a:t>
            </a:r>
          </a:p>
        </p:txBody>
      </p:sp>
    </p:spTree>
    <p:extLst>
      <p:ext uri="{BB962C8B-B14F-4D97-AF65-F5344CB8AC3E}">
        <p14:creationId xmlns:p14="http://schemas.microsoft.com/office/powerpoint/2010/main" val="1705265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B86DE46-A3F1-C0A7-005A-38DB1557EC61}"/>
              </a:ext>
            </a:extLst>
          </p:cNvPr>
          <p:cNvSpPr>
            <a:spLocks noGrp="1"/>
          </p:cNvSpPr>
          <p:nvPr>
            <p:ph type="title"/>
          </p:nvPr>
        </p:nvSpPr>
        <p:spPr>
          <a:xfrm>
            <a:off x="612648" y="1114923"/>
            <a:ext cx="4621553" cy="1360728"/>
          </a:xfrm>
        </p:spPr>
        <p:txBody>
          <a:bodyPr anchor="b">
            <a:normAutofit/>
          </a:bodyPr>
          <a:lstStyle/>
          <a:p>
            <a:r>
              <a:rPr lang="es-ES" dirty="0"/>
              <a:t>3.3.1. Protocolo DNS</a:t>
            </a:r>
          </a:p>
        </p:txBody>
      </p:sp>
      <p:sp>
        <p:nvSpPr>
          <p:cNvPr id="3" name="Marcador de contenido 2">
            <a:extLst>
              <a:ext uri="{FF2B5EF4-FFF2-40B4-BE49-F238E27FC236}">
                <a16:creationId xmlns:a16="http://schemas.microsoft.com/office/drawing/2014/main" id="{263CD113-55D0-DE04-A956-C518FCC5D7F1}"/>
              </a:ext>
            </a:extLst>
          </p:cNvPr>
          <p:cNvSpPr>
            <a:spLocks noGrp="1"/>
          </p:cNvSpPr>
          <p:nvPr>
            <p:ph idx="1"/>
          </p:nvPr>
        </p:nvSpPr>
        <p:spPr>
          <a:xfrm>
            <a:off x="612648" y="2584058"/>
            <a:ext cx="4621553" cy="3159018"/>
          </a:xfrm>
        </p:spPr>
        <p:txBody>
          <a:bodyPr>
            <a:normAutofit/>
          </a:bodyPr>
          <a:lstStyle/>
          <a:p>
            <a:pPr marL="0" indent="0">
              <a:lnSpc>
                <a:spcPct val="110000"/>
              </a:lnSpc>
              <a:buNone/>
            </a:pPr>
            <a:r>
              <a:rPr lang="es-ES" sz="1300" dirty="0"/>
              <a:t>El protocolo </a:t>
            </a:r>
            <a:r>
              <a:rPr lang="es-ES" sz="1300" b="1" dirty="0"/>
              <a:t>DNS</a:t>
            </a:r>
            <a:r>
              <a:rPr lang="es-ES" sz="1300" dirty="0"/>
              <a:t> (</a:t>
            </a:r>
            <a:r>
              <a:rPr lang="es-ES" sz="1300" dirty="0" err="1"/>
              <a:t>Domain</a:t>
            </a:r>
            <a:r>
              <a:rPr lang="es-ES" sz="1300" dirty="0"/>
              <a:t> </a:t>
            </a:r>
            <a:r>
              <a:rPr lang="es-ES" sz="1300" dirty="0" err="1"/>
              <a:t>Name</a:t>
            </a:r>
            <a:r>
              <a:rPr lang="es-ES" sz="1300" dirty="0"/>
              <a:t> </a:t>
            </a:r>
            <a:r>
              <a:rPr lang="es-ES" sz="1300" dirty="0" err="1"/>
              <a:t>System</a:t>
            </a:r>
            <a:r>
              <a:rPr lang="es-ES" sz="1300" dirty="0"/>
              <a:t> o sistema de nombres de dominio) apareció en 1984 para dar respuesta a las necesidades que empezaban a hacerse palpables ante el emergente Internet. El servicio encargado de implementar el protocolo hereda su nombre de este.</a:t>
            </a:r>
          </a:p>
          <a:p>
            <a:pPr marL="0" indent="0">
              <a:lnSpc>
                <a:spcPct val="110000"/>
              </a:lnSpc>
              <a:buNone/>
            </a:pPr>
            <a:r>
              <a:rPr lang="es-ES" sz="1300" dirty="0"/>
              <a:t>DNS generalmente </a:t>
            </a:r>
            <a:r>
              <a:rPr lang="es-ES" sz="1300" b="1" dirty="0"/>
              <a:t>trabaja sobre UDP</a:t>
            </a:r>
            <a:r>
              <a:rPr lang="es-ES" sz="1300" dirty="0"/>
              <a:t>, aunque también soporta conexiones </a:t>
            </a:r>
            <a:r>
              <a:rPr lang="es-ES" sz="1300" b="1" dirty="0"/>
              <a:t>TCP</a:t>
            </a:r>
            <a:r>
              <a:rPr lang="es-ES" sz="1300" dirty="0"/>
              <a:t> cuando el tamaño de los datos de la respuesta sobrepasa los </a:t>
            </a:r>
            <a:r>
              <a:rPr lang="es-ES" sz="1300" b="1" dirty="0"/>
              <a:t>512 bytes</a:t>
            </a:r>
            <a:r>
              <a:rPr lang="es-ES" sz="1300" dirty="0"/>
              <a:t>, tal como sucede cuando se realizan </a:t>
            </a:r>
            <a:r>
              <a:rPr lang="es-ES" sz="1300" b="1" dirty="0"/>
              <a:t>transferencias de zona</a:t>
            </a:r>
            <a:r>
              <a:rPr lang="es-ES" sz="1300" dirty="0"/>
              <a:t>.</a:t>
            </a:r>
          </a:p>
        </p:txBody>
      </p:sp>
      <p:pic>
        <p:nvPicPr>
          <p:cNvPr id="5" name="Imagen 4">
            <a:extLst>
              <a:ext uri="{FF2B5EF4-FFF2-40B4-BE49-F238E27FC236}">
                <a16:creationId xmlns:a16="http://schemas.microsoft.com/office/drawing/2014/main" id="{6C141619-232E-F773-79C3-3A55D4C70758}"/>
              </a:ext>
            </a:extLst>
          </p:cNvPr>
          <p:cNvPicPr>
            <a:picLocks noChangeAspect="1"/>
          </p:cNvPicPr>
          <p:nvPr/>
        </p:nvPicPr>
        <p:blipFill>
          <a:blip r:embed="rId2"/>
          <a:stretch>
            <a:fillRect/>
          </a:stretch>
        </p:blipFill>
        <p:spPr>
          <a:xfrm>
            <a:off x="5691261" y="2151985"/>
            <a:ext cx="5837780" cy="2554029"/>
          </a:xfrm>
          <a:prstGeom prst="rect">
            <a:avLst/>
          </a:prstGeom>
        </p:spPr>
      </p:pic>
    </p:spTree>
    <p:extLst>
      <p:ext uri="{BB962C8B-B14F-4D97-AF65-F5344CB8AC3E}">
        <p14:creationId xmlns:p14="http://schemas.microsoft.com/office/powerpoint/2010/main" val="1625996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BE20F0-5A5C-C29E-23B4-D8EF70DB801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5A59A1B-146F-9D66-A0A5-A910CD37CC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B7CB962-7E65-7714-7B19-1C15AE6DC59C}"/>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3" name="Marcador de contenido 2">
            <a:extLst>
              <a:ext uri="{FF2B5EF4-FFF2-40B4-BE49-F238E27FC236}">
                <a16:creationId xmlns:a16="http://schemas.microsoft.com/office/drawing/2014/main" id="{3EE5399B-B6C4-8185-1940-B0A4404680AA}"/>
              </a:ext>
            </a:extLst>
          </p:cNvPr>
          <p:cNvSpPr>
            <a:spLocks noGrp="1"/>
          </p:cNvSpPr>
          <p:nvPr>
            <p:ph idx="1"/>
          </p:nvPr>
        </p:nvSpPr>
        <p:spPr>
          <a:xfrm>
            <a:off x="612648" y="2584058"/>
            <a:ext cx="4621553" cy="3159018"/>
          </a:xfrm>
        </p:spPr>
        <p:txBody>
          <a:bodyPr>
            <a:normAutofit fontScale="85000" lnSpcReduction="10000"/>
          </a:bodyPr>
          <a:lstStyle/>
          <a:p>
            <a:pPr marL="0" indent="0">
              <a:buNone/>
            </a:pPr>
            <a:r>
              <a:rPr lang="es-ES" dirty="0"/>
              <a:t>Un </a:t>
            </a:r>
            <a:r>
              <a:rPr lang="es-ES" b="1" dirty="0"/>
              <a:t>servidor DNS </a:t>
            </a:r>
            <a:r>
              <a:rPr lang="es-ES" dirty="0"/>
              <a:t>permanece en continua escucha ante </a:t>
            </a:r>
            <a:r>
              <a:rPr lang="es-ES" b="1" dirty="0"/>
              <a:t>posibles peticiones </a:t>
            </a:r>
            <a:r>
              <a:rPr lang="es-ES" dirty="0"/>
              <a:t>de los clientes que deba atender. Los clientes, por su parte, implementarán en sus sistemas </a:t>
            </a:r>
            <a:r>
              <a:rPr lang="es-ES" b="1" dirty="0"/>
              <a:t>operativos el DNS </a:t>
            </a:r>
            <a:r>
              <a:rPr lang="es-ES" i="1" dirty="0"/>
              <a:t>resolver</a:t>
            </a:r>
            <a:r>
              <a:rPr lang="es-ES" dirty="0"/>
              <a:t>, que es el servicio encargado de realizar las consultas a los servidores DNS correspondientes, interpretar </a:t>
            </a:r>
            <a:r>
              <a:rPr lang="es-ES" b="1" dirty="0"/>
              <a:t>las respuestas recibidas y devolver el resultado </a:t>
            </a:r>
            <a:r>
              <a:rPr lang="es-ES" dirty="0"/>
              <a:t>al programa que desencadenó la consulta.</a:t>
            </a:r>
            <a:endParaRPr lang="es-ES" sz="1300" dirty="0"/>
          </a:p>
        </p:txBody>
      </p:sp>
      <p:pic>
        <p:nvPicPr>
          <p:cNvPr id="5" name="Imagen 4">
            <a:extLst>
              <a:ext uri="{FF2B5EF4-FFF2-40B4-BE49-F238E27FC236}">
                <a16:creationId xmlns:a16="http://schemas.microsoft.com/office/drawing/2014/main" id="{EAD76246-95D7-739A-FCA0-1DD64D161BD9}"/>
              </a:ext>
            </a:extLst>
          </p:cNvPr>
          <p:cNvPicPr>
            <a:picLocks noChangeAspect="1"/>
          </p:cNvPicPr>
          <p:nvPr/>
        </p:nvPicPr>
        <p:blipFill>
          <a:blip r:embed="rId2"/>
          <a:stretch>
            <a:fillRect/>
          </a:stretch>
        </p:blipFill>
        <p:spPr>
          <a:xfrm>
            <a:off x="5691261" y="2151985"/>
            <a:ext cx="5837780" cy="2554029"/>
          </a:xfrm>
          <a:prstGeom prst="rect">
            <a:avLst/>
          </a:prstGeom>
        </p:spPr>
      </p:pic>
      <p:sp>
        <p:nvSpPr>
          <p:cNvPr id="4" name="CuadroTexto 3">
            <a:extLst>
              <a:ext uri="{FF2B5EF4-FFF2-40B4-BE49-F238E27FC236}">
                <a16:creationId xmlns:a16="http://schemas.microsoft.com/office/drawing/2014/main" id="{4CDE1614-CB7E-FDCA-1259-BCB21C4D2AB6}"/>
              </a:ext>
            </a:extLst>
          </p:cNvPr>
          <p:cNvSpPr txBox="1"/>
          <p:nvPr/>
        </p:nvSpPr>
        <p:spPr>
          <a:xfrm>
            <a:off x="700391" y="2081719"/>
            <a:ext cx="4250988" cy="369651"/>
          </a:xfrm>
          <a:prstGeom prst="rect">
            <a:avLst/>
          </a:prstGeom>
          <a:noFill/>
        </p:spPr>
        <p:txBody>
          <a:bodyPr wrap="square" rtlCol="0">
            <a:spAutoFit/>
          </a:bodyPr>
          <a:lstStyle/>
          <a:p>
            <a:r>
              <a:rPr lang="es-ES" dirty="0"/>
              <a:t>A) Características y funcionamiento</a:t>
            </a:r>
          </a:p>
        </p:txBody>
      </p:sp>
    </p:spTree>
    <p:extLst>
      <p:ext uri="{BB962C8B-B14F-4D97-AF65-F5344CB8AC3E}">
        <p14:creationId xmlns:p14="http://schemas.microsoft.com/office/powerpoint/2010/main" val="267900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6B4592-4161-818F-32FF-25748182175D}"/>
              </a:ext>
            </a:extLst>
          </p:cNvPr>
          <p:cNvSpPr>
            <a:spLocks noGrp="1"/>
          </p:cNvSpPr>
          <p:nvPr>
            <p:ph type="title"/>
          </p:nvPr>
        </p:nvSpPr>
        <p:spPr/>
        <p:txBody>
          <a:bodyPr/>
          <a:lstStyle/>
          <a:p>
            <a:r>
              <a:rPr lang="es-ES" dirty="0"/>
              <a:t>3.3.1. Protocolo DNS</a:t>
            </a:r>
          </a:p>
        </p:txBody>
      </p:sp>
      <p:pic>
        <p:nvPicPr>
          <p:cNvPr id="5" name="Marcador de contenido 4">
            <a:extLst>
              <a:ext uri="{FF2B5EF4-FFF2-40B4-BE49-F238E27FC236}">
                <a16:creationId xmlns:a16="http://schemas.microsoft.com/office/drawing/2014/main" id="{F71D5A6D-F31E-9AF0-4687-5D65302A9147}"/>
              </a:ext>
            </a:extLst>
          </p:cNvPr>
          <p:cNvPicPr>
            <a:picLocks noGrp="1" noChangeAspect="1"/>
          </p:cNvPicPr>
          <p:nvPr>
            <p:ph idx="1"/>
          </p:nvPr>
        </p:nvPicPr>
        <p:blipFill>
          <a:blip r:embed="rId2"/>
          <a:stretch>
            <a:fillRect/>
          </a:stretch>
        </p:blipFill>
        <p:spPr>
          <a:xfrm>
            <a:off x="1902826" y="1797368"/>
            <a:ext cx="7930982" cy="4592637"/>
          </a:xfrm>
          <a:prstGeom prst="rect">
            <a:avLst/>
          </a:prstGeom>
        </p:spPr>
      </p:pic>
      <p:sp>
        <p:nvSpPr>
          <p:cNvPr id="6" name="CuadroTexto 5">
            <a:extLst>
              <a:ext uri="{FF2B5EF4-FFF2-40B4-BE49-F238E27FC236}">
                <a16:creationId xmlns:a16="http://schemas.microsoft.com/office/drawing/2014/main" id="{B61878F9-67AD-CE92-419D-043522D2591F}"/>
              </a:ext>
            </a:extLst>
          </p:cNvPr>
          <p:cNvSpPr txBox="1"/>
          <p:nvPr/>
        </p:nvSpPr>
        <p:spPr>
          <a:xfrm>
            <a:off x="700391" y="1338222"/>
            <a:ext cx="4250988" cy="369651"/>
          </a:xfrm>
          <a:prstGeom prst="rect">
            <a:avLst/>
          </a:prstGeom>
          <a:noFill/>
        </p:spPr>
        <p:txBody>
          <a:bodyPr wrap="square" rtlCol="0">
            <a:spAutoFit/>
          </a:bodyPr>
          <a:lstStyle/>
          <a:p>
            <a:r>
              <a:rPr lang="es-ES" dirty="0"/>
              <a:t>A) Características y funcionamiento</a:t>
            </a:r>
          </a:p>
        </p:txBody>
      </p:sp>
    </p:spTree>
    <p:extLst>
      <p:ext uri="{BB962C8B-B14F-4D97-AF65-F5344CB8AC3E}">
        <p14:creationId xmlns:p14="http://schemas.microsoft.com/office/powerpoint/2010/main" val="1366670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80C78B-417A-FD23-EB52-106BD0076C4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B01C7F-677E-10DA-8D56-BAB5483C4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A925315-E97C-B088-C136-C6B597918112}"/>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3" name="Marcador de contenido 2">
            <a:extLst>
              <a:ext uri="{FF2B5EF4-FFF2-40B4-BE49-F238E27FC236}">
                <a16:creationId xmlns:a16="http://schemas.microsoft.com/office/drawing/2014/main" id="{5D317C14-3A0C-B00D-B42A-CD4C62C915B7}"/>
              </a:ext>
            </a:extLst>
          </p:cNvPr>
          <p:cNvSpPr>
            <a:spLocks noGrp="1"/>
          </p:cNvSpPr>
          <p:nvPr>
            <p:ph idx="1"/>
          </p:nvPr>
        </p:nvSpPr>
        <p:spPr>
          <a:xfrm>
            <a:off x="612648" y="2584058"/>
            <a:ext cx="4621553" cy="3159018"/>
          </a:xfrm>
        </p:spPr>
        <p:txBody>
          <a:bodyPr>
            <a:normAutofit fontScale="55000" lnSpcReduction="20000"/>
          </a:bodyPr>
          <a:lstStyle/>
          <a:p>
            <a:pPr marL="0" indent="0">
              <a:buNone/>
            </a:pPr>
            <a:r>
              <a:rPr lang="es-ES" dirty="0"/>
              <a:t>Debido al enorme número de nombres de dominio y a la continua aparición de nuevos, no es posible gestionarlos todos de forma centralizada desde un único servidor DNS. Por ello, el sistema DNS se diseñó con una estructura </a:t>
            </a:r>
            <a:r>
              <a:rPr lang="es-ES" b="1" dirty="0"/>
              <a:t>jerárquica y distribuida</a:t>
            </a:r>
            <a:r>
              <a:rPr lang="es-ES" dirty="0"/>
              <a:t>, donde cada servidor es responsable únicamente de una parte del espacio de nombres, denominada </a:t>
            </a:r>
            <a:r>
              <a:rPr lang="es-ES" b="1" dirty="0"/>
              <a:t>zona</a:t>
            </a:r>
            <a:r>
              <a:rPr lang="es-ES" dirty="0"/>
              <a:t>.</a:t>
            </a:r>
            <a:br>
              <a:rPr lang="es-ES" dirty="0"/>
            </a:br>
            <a:r>
              <a:rPr lang="es-ES" dirty="0"/>
              <a:t>Una zona puede definirse como la </a:t>
            </a:r>
            <a:r>
              <a:rPr lang="es-ES" b="1" dirty="0"/>
              <a:t>base de datos completa correspondiente a un subárbol del espacio de dominios</a:t>
            </a:r>
            <a:r>
              <a:rPr lang="es-ES" dirty="0"/>
              <a:t>.</a:t>
            </a:r>
          </a:p>
          <a:p>
            <a:pPr marL="0" indent="0">
              <a:buNone/>
            </a:pPr>
            <a:r>
              <a:rPr lang="es-ES" dirty="0"/>
              <a:t>El protocolo DNS utiliza </a:t>
            </a:r>
            <a:r>
              <a:rPr lang="es-ES" b="1" dirty="0"/>
              <a:t>nombres jerárquicos</a:t>
            </a:r>
            <a:r>
              <a:rPr lang="es-ES" dirty="0"/>
              <a:t> para traducirlos a direcciones IP y viceversa, identificar servicios asociados a cada nombre y reflejar la estructura jerárquica del dominio. Este servicio se emplea comúnmente en </a:t>
            </a:r>
            <a:r>
              <a:rPr lang="es-ES" b="1" dirty="0"/>
              <a:t>redes corporativas</a:t>
            </a:r>
            <a:r>
              <a:rPr lang="es-ES" dirty="0"/>
              <a:t>, donde facilita la localización de dispositivos y servicios, mientras que su relevancia es menor en </a:t>
            </a:r>
            <a:r>
              <a:rPr lang="es-ES" b="1" dirty="0"/>
              <a:t>entornos domésticos</a:t>
            </a:r>
            <a:r>
              <a:rPr lang="es-ES" dirty="0"/>
              <a:t>.</a:t>
            </a:r>
          </a:p>
        </p:txBody>
      </p:sp>
      <p:pic>
        <p:nvPicPr>
          <p:cNvPr id="5" name="Imagen 4">
            <a:extLst>
              <a:ext uri="{FF2B5EF4-FFF2-40B4-BE49-F238E27FC236}">
                <a16:creationId xmlns:a16="http://schemas.microsoft.com/office/drawing/2014/main" id="{7D8A52EE-5E2E-B8B4-9B3F-0D78ECAC8AEA}"/>
              </a:ext>
            </a:extLst>
          </p:cNvPr>
          <p:cNvPicPr>
            <a:picLocks noChangeAspect="1"/>
          </p:cNvPicPr>
          <p:nvPr/>
        </p:nvPicPr>
        <p:blipFill>
          <a:blip r:embed="rId2"/>
          <a:stretch>
            <a:fillRect/>
          </a:stretch>
        </p:blipFill>
        <p:spPr>
          <a:xfrm>
            <a:off x="5741572" y="2151985"/>
            <a:ext cx="5837780" cy="2554029"/>
          </a:xfrm>
          <a:prstGeom prst="rect">
            <a:avLst/>
          </a:prstGeom>
        </p:spPr>
      </p:pic>
      <p:sp>
        <p:nvSpPr>
          <p:cNvPr id="4" name="CuadroTexto 3">
            <a:extLst>
              <a:ext uri="{FF2B5EF4-FFF2-40B4-BE49-F238E27FC236}">
                <a16:creationId xmlns:a16="http://schemas.microsoft.com/office/drawing/2014/main" id="{4555CFD1-6FB6-248E-D0B1-B37E9B47075F}"/>
              </a:ext>
            </a:extLst>
          </p:cNvPr>
          <p:cNvSpPr txBox="1"/>
          <p:nvPr/>
        </p:nvSpPr>
        <p:spPr>
          <a:xfrm>
            <a:off x="700391" y="2081719"/>
            <a:ext cx="4250988" cy="369651"/>
          </a:xfrm>
          <a:prstGeom prst="rect">
            <a:avLst/>
          </a:prstGeom>
          <a:noFill/>
        </p:spPr>
        <p:txBody>
          <a:bodyPr wrap="square" rtlCol="0">
            <a:spAutoFit/>
          </a:bodyPr>
          <a:lstStyle/>
          <a:p>
            <a:r>
              <a:rPr lang="es-ES" dirty="0"/>
              <a:t>A) Características y funcionamiento</a:t>
            </a:r>
          </a:p>
        </p:txBody>
      </p:sp>
    </p:spTree>
    <p:extLst>
      <p:ext uri="{BB962C8B-B14F-4D97-AF65-F5344CB8AC3E}">
        <p14:creationId xmlns:p14="http://schemas.microsoft.com/office/powerpoint/2010/main" val="170135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A13DCD-A084-4434-E49E-E53A191584B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D0CA96-A6A3-FADC-28B0-8B67B8DA1A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FED8501-650A-1880-81A5-A666B7B4FB21}"/>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3" name="Marcador de contenido 2">
            <a:extLst>
              <a:ext uri="{FF2B5EF4-FFF2-40B4-BE49-F238E27FC236}">
                <a16:creationId xmlns:a16="http://schemas.microsoft.com/office/drawing/2014/main" id="{44CDE1E1-4891-58E1-EDD1-46ED07FEB889}"/>
              </a:ext>
            </a:extLst>
          </p:cNvPr>
          <p:cNvSpPr>
            <a:spLocks noGrp="1"/>
          </p:cNvSpPr>
          <p:nvPr>
            <p:ph idx="1"/>
          </p:nvPr>
        </p:nvSpPr>
        <p:spPr>
          <a:xfrm>
            <a:off x="612648" y="2584058"/>
            <a:ext cx="11162257" cy="3159018"/>
          </a:xfrm>
        </p:spPr>
        <p:txBody>
          <a:bodyPr>
            <a:normAutofit/>
          </a:bodyPr>
          <a:lstStyle/>
          <a:p>
            <a:pPr marL="0" indent="0">
              <a:buNone/>
            </a:pPr>
            <a:r>
              <a:rPr lang="es-ES" dirty="0"/>
              <a:t>DNS (</a:t>
            </a:r>
            <a:r>
              <a:rPr lang="es-ES" dirty="0" err="1"/>
              <a:t>Domain</a:t>
            </a:r>
            <a:r>
              <a:rPr lang="es-ES" dirty="0"/>
              <a:t> </a:t>
            </a:r>
            <a:r>
              <a:rPr lang="es-ES" dirty="0" err="1"/>
              <a:t>Name</a:t>
            </a:r>
            <a:r>
              <a:rPr lang="es-ES" dirty="0"/>
              <a:t> </a:t>
            </a:r>
            <a:r>
              <a:rPr lang="es-ES" dirty="0" err="1"/>
              <a:t>System</a:t>
            </a:r>
            <a:r>
              <a:rPr lang="es-ES" dirty="0"/>
              <a:t>) es un sistema que traduce los nombres de dominio (como www.google.com) en direcciones IP (como 142.250.190.78), que son las que realmente entienden los ordenadores para comunicarse en Internet.</a:t>
            </a:r>
          </a:p>
        </p:txBody>
      </p:sp>
      <p:sp>
        <p:nvSpPr>
          <p:cNvPr id="4" name="CuadroTexto 3">
            <a:extLst>
              <a:ext uri="{FF2B5EF4-FFF2-40B4-BE49-F238E27FC236}">
                <a16:creationId xmlns:a16="http://schemas.microsoft.com/office/drawing/2014/main" id="{AECE84A7-EF12-349F-0CD9-1C5567368699}"/>
              </a:ext>
            </a:extLst>
          </p:cNvPr>
          <p:cNvSpPr txBox="1"/>
          <p:nvPr/>
        </p:nvSpPr>
        <p:spPr>
          <a:xfrm>
            <a:off x="700391" y="2081719"/>
            <a:ext cx="4621552" cy="369332"/>
          </a:xfrm>
          <a:prstGeom prst="rect">
            <a:avLst/>
          </a:prstGeom>
          <a:noFill/>
        </p:spPr>
        <p:txBody>
          <a:bodyPr wrap="square" rtlCol="0">
            <a:spAutoFit/>
          </a:bodyPr>
          <a:lstStyle/>
          <a:p>
            <a:r>
              <a:rPr lang="es-ES" dirty="0"/>
              <a:t>B) Espacio de nombres y administración</a:t>
            </a:r>
          </a:p>
        </p:txBody>
      </p:sp>
    </p:spTree>
    <p:extLst>
      <p:ext uri="{BB962C8B-B14F-4D97-AF65-F5344CB8AC3E}">
        <p14:creationId xmlns:p14="http://schemas.microsoft.com/office/powerpoint/2010/main" val="2579072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CFA7F2-54D3-7FE1-CE3C-519D8CBCFD1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96661DE-D4A0-92DA-F20E-DE17547FB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EB87B17-E430-E8DD-283D-03C1693E18CF}"/>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3" name="Marcador de contenido 2">
            <a:extLst>
              <a:ext uri="{FF2B5EF4-FFF2-40B4-BE49-F238E27FC236}">
                <a16:creationId xmlns:a16="http://schemas.microsoft.com/office/drawing/2014/main" id="{73B93D98-9050-8DDD-A97A-DC6899489DFD}"/>
              </a:ext>
            </a:extLst>
          </p:cNvPr>
          <p:cNvSpPr>
            <a:spLocks noGrp="1"/>
          </p:cNvSpPr>
          <p:nvPr>
            <p:ph idx="1"/>
          </p:nvPr>
        </p:nvSpPr>
        <p:spPr>
          <a:xfrm>
            <a:off x="612648" y="2584058"/>
            <a:ext cx="11162257" cy="3159018"/>
          </a:xfrm>
        </p:spPr>
        <p:txBody>
          <a:bodyPr>
            <a:normAutofit fontScale="77500" lnSpcReduction="20000"/>
          </a:bodyPr>
          <a:lstStyle/>
          <a:p>
            <a:pPr marL="0" indent="0">
              <a:buNone/>
            </a:pPr>
            <a:r>
              <a:rPr lang="es-ES" sz="2300" dirty="0"/>
              <a:t>Estructura jerárquica: árbol invertido</a:t>
            </a:r>
          </a:p>
          <a:p>
            <a:pPr marL="0" indent="0">
              <a:buNone/>
            </a:pPr>
            <a:r>
              <a:rPr lang="es-ES" dirty="0"/>
              <a:t>El DNS está organizado como un árbol invertido, es decir:</a:t>
            </a:r>
          </a:p>
          <a:p>
            <a:r>
              <a:rPr lang="es-ES" dirty="0"/>
              <a:t>En la cima del árbol está el dominio raíz, representado por un punto “.” (aunque normalmente no lo vemos al final del nombre).</a:t>
            </a:r>
          </a:p>
          <a:p>
            <a:pPr lvl="1"/>
            <a:r>
              <a:rPr lang="es-ES" dirty="0"/>
              <a:t>Por ejemplo, el nombre completo www.google.com. (con punto al final) incluye ese dominio raíz.</a:t>
            </a:r>
          </a:p>
          <a:p>
            <a:r>
              <a:rPr lang="es-ES" dirty="0"/>
              <a:t>Por debajo del dominio raíz están los dominios de primer nivel o TLD (Top </a:t>
            </a:r>
            <a:r>
              <a:rPr lang="es-ES" dirty="0" err="1"/>
              <a:t>Level</a:t>
            </a:r>
            <a:r>
              <a:rPr lang="es-ES" dirty="0"/>
              <a:t> </a:t>
            </a:r>
            <a:r>
              <a:rPr lang="es-ES" dirty="0" err="1"/>
              <a:t>Domains</a:t>
            </a:r>
            <a:r>
              <a:rPr lang="es-ES" dirty="0"/>
              <a:t>).</a:t>
            </a:r>
          </a:p>
          <a:p>
            <a:pPr lvl="1"/>
            <a:r>
              <a:rPr lang="es-ES" dirty="0"/>
              <a:t>Ejemplo: .</a:t>
            </a:r>
            <a:r>
              <a:rPr lang="es-ES" dirty="0" err="1"/>
              <a:t>com</a:t>
            </a:r>
            <a:r>
              <a:rPr lang="es-ES" dirty="0"/>
              <a:t>, .es, .</a:t>
            </a:r>
            <a:r>
              <a:rPr lang="es-ES" dirty="0" err="1"/>
              <a:t>org</a:t>
            </a:r>
            <a:r>
              <a:rPr lang="es-ES" dirty="0"/>
              <a:t>, .</a:t>
            </a:r>
            <a:r>
              <a:rPr lang="es-ES" dirty="0" err="1"/>
              <a:t>edu</a:t>
            </a:r>
            <a:r>
              <a:rPr lang="es-ES" dirty="0"/>
              <a:t>, .</a:t>
            </a:r>
            <a:r>
              <a:rPr lang="es-ES" dirty="0" err="1"/>
              <a:t>gov</a:t>
            </a:r>
            <a:r>
              <a:rPr lang="es-ES" dirty="0"/>
              <a:t>, etc.</a:t>
            </a:r>
          </a:p>
          <a:p>
            <a:r>
              <a:rPr lang="es-ES" dirty="0"/>
              <a:t>Más abajo están los dominios de segundo nivel (por ejemplo, “</a:t>
            </a:r>
            <a:r>
              <a:rPr lang="es-ES" dirty="0" err="1"/>
              <a:t>google</a:t>
            </a:r>
            <a:r>
              <a:rPr lang="es-ES" dirty="0"/>
              <a:t>” en google.com).</a:t>
            </a:r>
          </a:p>
          <a:p>
            <a:r>
              <a:rPr lang="es-ES" dirty="0"/>
              <a:t>Y más abajo, los subdominios o hosts (por ejemplo, “www” en www.google.com).</a:t>
            </a:r>
          </a:p>
        </p:txBody>
      </p:sp>
      <p:sp>
        <p:nvSpPr>
          <p:cNvPr id="4" name="CuadroTexto 3">
            <a:extLst>
              <a:ext uri="{FF2B5EF4-FFF2-40B4-BE49-F238E27FC236}">
                <a16:creationId xmlns:a16="http://schemas.microsoft.com/office/drawing/2014/main" id="{1D1BD800-2DF6-2FB0-0B70-DB9ADB751C07}"/>
              </a:ext>
            </a:extLst>
          </p:cNvPr>
          <p:cNvSpPr txBox="1"/>
          <p:nvPr/>
        </p:nvSpPr>
        <p:spPr>
          <a:xfrm>
            <a:off x="700391" y="2081719"/>
            <a:ext cx="4621552" cy="369332"/>
          </a:xfrm>
          <a:prstGeom prst="rect">
            <a:avLst/>
          </a:prstGeom>
          <a:noFill/>
        </p:spPr>
        <p:txBody>
          <a:bodyPr wrap="square" rtlCol="0">
            <a:spAutoFit/>
          </a:bodyPr>
          <a:lstStyle/>
          <a:p>
            <a:r>
              <a:rPr lang="es-ES" dirty="0"/>
              <a:t>B) Espacio de nombres y administración</a:t>
            </a:r>
          </a:p>
        </p:txBody>
      </p:sp>
    </p:spTree>
    <p:extLst>
      <p:ext uri="{BB962C8B-B14F-4D97-AF65-F5344CB8AC3E}">
        <p14:creationId xmlns:p14="http://schemas.microsoft.com/office/powerpoint/2010/main" val="2691738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6658BD-B7FD-FD8E-D70A-1E5E865A49E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98FE7E6-EBFB-A8CC-B8E6-D936DC29B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38D6E46-62D9-D5E5-DB63-AA393E714711}"/>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3" name="Marcador de contenido 2">
            <a:extLst>
              <a:ext uri="{FF2B5EF4-FFF2-40B4-BE49-F238E27FC236}">
                <a16:creationId xmlns:a16="http://schemas.microsoft.com/office/drawing/2014/main" id="{182DFDD8-FD6A-DC02-E4BB-C0F4041FEACB}"/>
              </a:ext>
            </a:extLst>
          </p:cNvPr>
          <p:cNvSpPr>
            <a:spLocks noGrp="1"/>
          </p:cNvSpPr>
          <p:nvPr>
            <p:ph idx="1"/>
          </p:nvPr>
        </p:nvSpPr>
        <p:spPr>
          <a:xfrm>
            <a:off x="612648" y="2584058"/>
            <a:ext cx="11162257" cy="3159018"/>
          </a:xfrm>
        </p:spPr>
        <p:txBody>
          <a:bodyPr>
            <a:normAutofit/>
          </a:bodyPr>
          <a:lstStyle/>
          <a:p>
            <a:pPr marL="0" indent="0">
              <a:buNone/>
            </a:pPr>
            <a:r>
              <a:rPr lang="es-ES" b="1" dirty="0"/>
              <a:t>El dominio raíz</a:t>
            </a:r>
          </a:p>
          <a:p>
            <a:r>
              <a:rPr lang="es-ES" dirty="0"/>
              <a:t>Está gestionado por el </a:t>
            </a:r>
            <a:r>
              <a:rPr lang="es-ES" b="1" dirty="0"/>
              <a:t>ICANN</a:t>
            </a:r>
            <a:r>
              <a:rPr lang="es-ES" dirty="0"/>
              <a:t> (la organización que coordina los nombres y direcciones de Internet).</a:t>
            </a:r>
          </a:p>
          <a:p>
            <a:r>
              <a:rPr lang="es-ES" dirty="0"/>
              <a:t>Hay </a:t>
            </a:r>
            <a:r>
              <a:rPr lang="es-ES" b="1" dirty="0"/>
              <a:t>13 servidores raíz principales</a:t>
            </a:r>
            <a:r>
              <a:rPr lang="es-ES" dirty="0"/>
              <a:t> (de la A </a:t>
            </a:r>
            <a:r>
              <a:rPr lang="es-ES" dirty="0" err="1"/>
              <a:t>a</a:t>
            </a:r>
            <a:r>
              <a:rPr lang="es-ES" dirty="0"/>
              <a:t> la M), llamados:</a:t>
            </a:r>
          </a:p>
          <a:p>
            <a:pPr lvl="1"/>
            <a:r>
              <a:rPr lang="es-ES" dirty="0"/>
              <a:t>a.root-servers.net, b.root-servers.net, …, m.root-servers.net</a:t>
            </a:r>
          </a:p>
          <a:p>
            <a:r>
              <a:rPr lang="es-ES" dirty="0"/>
              <a:t>Aunque son 13 nombres, en realidad existen </a:t>
            </a:r>
            <a:r>
              <a:rPr lang="es-ES" b="1" dirty="0"/>
              <a:t>muchas copias (réplicas)</a:t>
            </a:r>
            <a:r>
              <a:rPr lang="es-ES" dirty="0"/>
              <a:t> en todo el mundo para asegurar </a:t>
            </a:r>
            <a:r>
              <a:rPr lang="es-ES" b="1" dirty="0"/>
              <a:t>disponibilidad y rapidez</a:t>
            </a:r>
            <a:r>
              <a:rPr lang="es-ES" dirty="0"/>
              <a:t>.</a:t>
            </a:r>
          </a:p>
          <a:p>
            <a:pPr marL="0" indent="0">
              <a:buNone/>
            </a:pPr>
            <a:endParaRPr lang="es-ES" dirty="0"/>
          </a:p>
        </p:txBody>
      </p:sp>
      <p:sp>
        <p:nvSpPr>
          <p:cNvPr id="4" name="CuadroTexto 3">
            <a:extLst>
              <a:ext uri="{FF2B5EF4-FFF2-40B4-BE49-F238E27FC236}">
                <a16:creationId xmlns:a16="http://schemas.microsoft.com/office/drawing/2014/main" id="{D5B60FA2-D43F-7461-4626-D0E23BF8A18B}"/>
              </a:ext>
            </a:extLst>
          </p:cNvPr>
          <p:cNvSpPr txBox="1"/>
          <p:nvPr/>
        </p:nvSpPr>
        <p:spPr>
          <a:xfrm>
            <a:off x="700391" y="2081719"/>
            <a:ext cx="4621552" cy="369332"/>
          </a:xfrm>
          <a:prstGeom prst="rect">
            <a:avLst/>
          </a:prstGeom>
          <a:noFill/>
        </p:spPr>
        <p:txBody>
          <a:bodyPr wrap="square" rtlCol="0">
            <a:spAutoFit/>
          </a:bodyPr>
          <a:lstStyle/>
          <a:p>
            <a:r>
              <a:rPr lang="es-ES" dirty="0"/>
              <a:t>B) Espacio de nombres y administración</a:t>
            </a:r>
          </a:p>
        </p:txBody>
      </p:sp>
    </p:spTree>
    <p:extLst>
      <p:ext uri="{BB962C8B-B14F-4D97-AF65-F5344CB8AC3E}">
        <p14:creationId xmlns:p14="http://schemas.microsoft.com/office/powerpoint/2010/main" val="3607307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B07D84-8417-7BF4-2C98-10C14D78A10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192D669-EB42-F71C-773E-CB18978AC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BB695A8-536C-D940-E7FD-A07D872ABBD7}"/>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3" name="Marcador de contenido 2">
            <a:extLst>
              <a:ext uri="{FF2B5EF4-FFF2-40B4-BE49-F238E27FC236}">
                <a16:creationId xmlns:a16="http://schemas.microsoft.com/office/drawing/2014/main" id="{9A95792B-C427-2A7B-94AE-AF9EDFC4AF86}"/>
              </a:ext>
            </a:extLst>
          </p:cNvPr>
          <p:cNvSpPr>
            <a:spLocks noGrp="1"/>
          </p:cNvSpPr>
          <p:nvPr>
            <p:ph idx="1"/>
          </p:nvPr>
        </p:nvSpPr>
        <p:spPr>
          <a:xfrm>
            <a:off x="612649" y="2584058"/>
            <a:ext cx="5930392" cy="3159018"/>
          </a:xfrm>
        </p:spPr>
        <p:txBody>
          <a:bodyPr>
            <a:normAutofit/>
          </a:bodyPr>
          <a:lstStyle/>
          <a:p>
            <a:pPr marL="0" indent="0">
              <a:buNone/>
            </a:pPr>
            <a:r>
              <a:rPr lang="es-ES" dirty="0"/>
              <a:t>Dominios de primer nivel (TLD)</a:t>
            </a:r>
          </a:p>
          <a:p>
            <a:r>
              <a:rPr lang="es-ES" dirty="0"/>
              <a:t>Son los que van justo debajo del dominio raíz.</a:t>
            </a:r>
            <a:br>
              <a:rPr lang="es-ES" dirty="0"/>
            </a:br>
            <a:r>
              <a:rPr lang="es-ES" dirty="0"/>
              <a:t>Hay varios tipos:</a:t>
            </a:r>
          </a:p>
          <a:p>
            <a:r>
              <a:rPr lang="es-ES" b="1" dirty="0"/>
              <a:t>De infraestructura</a:t>
            </a:r>
            <a:endParaRPr lang="es-ES" dirty="0"/>
          </a:p>
          <a:p>
            <a:pPr lvl="1"/>
            <a:r>
              <a:rPr lang="es-ES" dirty="0"/>
              <a:t>Se usan internamente para funciones técnicas.</a:t>
            </a:r>
          </a:p>
          <a:p>
            <a:pPr lvl="1"/>
            <a:r>
              <a:rPr lang="es-ES" dirty="0"/>
              <a:t>Ejemplo: .arpa</a:t>
            </a:r>
          </a:p>
          <a:p>
            <a:pPr marL="0" indent="0">
              <a:buNone/>
            </a:pPr>
            <a:endParaRPr lang="es-ES" dirty="0"/>
          </a:p>
        </p:txBody>
      </p:sp>
      <p:sp>
        <p:nvSpPr>
          <p:cNvPr id="4" name="CuadroTexto 3">
            <a:extLst>
              <a:ext uri="{FF2B5EF4-FFF2-40B4-BE49-F238E27FC236}">
                <a16:creationId xmlns:a16="http://schemas.microsoft.com/office/drawing/2014/main" id="{49DBC5DF-A1F9-BCA3-A7FB-FB7B066972D0}"/>
              </a:ext>
            </a:extLst>
          </p:cNvPr>
          <p:cNvSpPr txBox="1"/>
          <p:nvPr/>
        </p:nvSpPr>
        <p:spPr>
          <a:xfrm>
            <a:off x="700391" y="2081719"/>
            <a:ext cx="4621552" cy="369332"/>
          </a:xfrm>
          <a:prstGeom prst="rect">
            <a:avLst/>
          </a:prstGeom>
          <a:noFill/>
        </p:spPr>
        <p:txBody>
          <a:bodyPr wrap="square" rtlCol="0">
            <a:spAutoFit/>
          </a:bodyPr>
          <a:lstStyle/>
          <a:p>
            <a:r>
              <a:rPr lang="es-ES" dirty="0"/>
              <a:t>B) Espacio de nombres y administración</a:t>
            </a:r>
          </a:p>
        </p:txBody>
      </p:sp>
      <p:pic>
        <p:nvPicPr>
          <p:cNvPr id="6" name="Imagen 5">
            <a:extLst>
              <a:ext uri="{FF2B5EF4-FFF2-40B4-BE49-F238E27FC236}">
                <a16:creationId xmlns:a16="http://schemas.microsoft.com/office/drawing/2014/main" id="{6EEA5DC1-0F19-832E-3EBB-64194C0C5717}"/>
              </a:ext>
            </a:extLst>
          </p:cNvPr>
          <p:cNvPicPr>
            <a:picLocks noChangeAspect="1"/>
          </p:cNvPicPr>
          <p:nvPr/>
        </p:nvPicPr>
        <p:blipFill>
          <a:blip r:embed="rId2"/>
          <a:stretch>
            <a:fillRect/>
          </a:stretch>
        </p:blipFill>
        <p:spPr>
          <a:xfrm>
            <a:off x="6461760" y="2845561"/>
            <a:ext cx="5464694" cy="2184633"/>
          </a:xfrm>
          <a:prstGeom prst="rect">
            <a:avLst/>
          </a:prstGeom>
        </p:spPr>
      </p:pic>
    </p:spTree>
    <p:extLst>
      <p:ext uri="{BB962C8B-B14F-4D97-AF65-F5344CB8AC3E}">
        <p14:creationId xmlns:p14="http://schemas.microsoft.com/office/powerpoint/2010/main" val="1686301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854612-C129-1CE2-996F-AB5D5EC9268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BF95F54-9A82-AEC0-3ECE-1B0EB1D0D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547BEB9-49F5-8D3F-92FE-1E362F1C7F6F}"/>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3" name="Marcador de contenido 2">
            <a:extLst>
              <a:ext uri="{FF2B5EF4-FFF2-40B4-BE49-F238E27FC236}">
                <a16:creationId xmlns:a16="http://schemas.microsoft.com/office/drawing/2014/main" id="{E5582FD5-EFF5-9A89-1252-596D471807DF}"/>
              </a:ext>
            </a:extLst>
          </p:cNvPr>
          <p:cNvSpPr>
            <a:spLocks noGrp="1"/>
          </p:cNvSpPr>
          <p:nvPr>
            <p:ph idx="1"/>
          </p:nvPr>
        </p:nvSpPr>
        <p:spPr>
          <a:xfrm>
            <a:off x="612649" y="2584057"/>
            <a:ext cx="6539991" cy="3662277"/>
          </a:xfrm>
        </p:spPr>
        <p:txBody>
          <a:bodyPr>
            <a:normAutofit fontScale="77500" lnSpcReduction="20000"/>
          </a:bodyPr>
          <a:lstStyle/>
          <a:p>
            <a:pPr marL="0" indent="0">
              <a:buNone/>
            </a:pPr>
            <a:r>
              <a:rPr lang="es-ES" dirty="0"/>
              <a:t>Dominios de primer nivel (TLD)</a:t>
            </a:r>
          </a:p>
          <a:p>
            <a:r>
              <a:rPr lang="es-ES" b="1" dirty="0"/>
              <a:t>Genéricos (</a:t>
            </a:r>
            <a:r>
              <a:rPr lang="es-ES" b="1" dirty="0" err="1"/>
              <a:t>gTLD</a:t>
            </a:r>
            <a:r>
              <a:rPr lang="es-ES" b="1" dirty="0"/>
              <a:t>)</a:t>
            </a:r>
            <a:br>
              <a:rPr lang="es-ES" dirty="0"/>
            </a:br>
            <a:r>
              <a:rPr lang="es-ES" dirty="0"/>
              <a:t>Se usan para propósitos generales o por tipo de organización.</a:t>
            </a:r>
            <a:br>
              <a:rPr lang="es-ES" dirty="0"/>
            </a:br>
            <a:r>
              <a:rPr lang="es-ES" dirty="0"/>
              <a:t>Dentro de ellos hay subtipos:</a:t>
            </a:r>
          </a:p>
          <a:p>
            <a:pPr lvl="1"/>
            <a:r>
              <a:rPr lang="es-ES" b="1" dirty="0"/>
              <a:t>Restringidos</a:t>
            </a:r>
            <a:r>
              <a:rPr lang="es-ES" dirty="0"/>
              <a:t> → Solo ciertos usuarios los pueden usar.</a:t>
            </a:r>
            <a:br>
              <a:rPr lang="es-ES" dirty="0"/>
            </a:br>
            <a:r>
              <a:rPr lang="es-ES" dirty="0"/>
              <a:t>Ejemplo: .pro (profesionales), .</a:t>
            </a:r>
            <a:r>
              <a:rPr lang="es-ES" dirty="0" err="1"/>
              <a:t>name</a:t>
            </a:r>
            <a:r>
              <a:rPr lang="es-ES" dirty="0"/>
              <a:t> (uso personal).</a:t>
            </a:r>
          </a:p>
          <a:p>
            <a:pPr lvl="1"/>
            <a:r>
              <a:rPr lang="es-ES" b="1" dirty="0"/>
              <a:t>No restringidos</a:t>
            </a:r>
            <a:r>
              <a:rPr lang="es-ES" dirty="0"/>
              <a:t> → Cualquiera puede usarlos.</a:t>
            </a:r>
            <a:br>
              <a:rPr lang="es-ES" dirty="0"/>
            </a:br>
            <a:r>
              <a:rPr lang="es-ES" dirty="0"/>
              <a:t>Ejemplo: .</a:t>
            </a:r>
            <a:r>
              <a:rPr lang="es-ES" dirty="0" err="1"/>
              <a:t>com</a:t>
            </a:r>
            <a:r>
              <a:rPr lang="es-ES" dirty="0"/>
              <a:t>, .</a:t>
            </a:r>
            <a:r>
              <a:rPr lang="es-ES" dirty="0" err="1"/>
              <a:t>info</a:t>
            </a:r>
            <a:r>
              <a:rPr lang="es-ES" dirty="0"/>
              <a:t>, </a:t>
            </a:r>
            <a:r>
              <a:rPr lang="es-ES" dirty="0" err="1"/>
              <a:t>.net</a:t>
            </a:r>
            <a:r>
              <a:rPr lang="es-ES" dirty="0"/>
              <a:t>, .</a:t>
            </a:r>
            <a:r>
              <a:rPr lang="es-ES" dirty="0" err="1"/>
              <a:t>org</a:t>
            </a:r>
            <a:r>
              <a:rPr lang="es-ES" dirty="0"/>
              <a:t>.</a:t>
            </a:r>
          </a:p>
          <a:p>
            <a:pPr lvl="1"/>
            <a:r>
              <a:rPr lang="es-ES" b="1" dirty="0"/>
              <a:t>Patrocinados</a:t>
            </a:r>
            <a:r>
              <a:rPr lang="es-ES" dirty="0"/>
              <a:t> → Para usos específicos.</a:t>
            </a:r>
            <a:br>
              <a:rPr lang="es-ES" dirty="0"/>
            </a:br>
            <a:r>
              <a:rPr lang="es-ES" dirty="0"/>
              <a:t>Ejemplo: .</a:t>
            </a:r>
            <a:r>
              <a:rPr lang="es-ES" dirty="0" err="1"/>
              <a:t>edu</a:t>
            </a:r>
            <a:r>
              <a:rPr lang="es-ES" dirty="0"/>
              <a:t> (educación), .</a:t>
            </a:r>
            <a:r>
              <a:rPr lang="es-ES" dirty="0" err="1"/>
              <a:t>gov</a:t>
            </a:r>
            <a:r>
              <a:rPr lang="es-ES" dirty="0"/>
              <a:t> (gobierno de EE.UU.), .mil (ejército EE.UU.).</a:t>
            </a:r>
          </a:p>
          <a:p>
            <a:pPr lvl="1"/>
            <a:r>
              <a:rPr lang="es-ES" b="1" dirty="0"/>
              <a:t>Comerciales / regionales nuevos</a:t>
            </a:r>
            <a:r>
              <a:rPr lang="es-ES" dirty="0"/>
              <a:t> → Sin restricciones, creados para regiones o comunidades.</a:t>
            </a:r>
            <a:br>
              <a:rPr lang="es-ES" dirty="0"/>
            </a:br>
            <a:r>
              <a:rPr lang="es-ES" dirty="0"/>
              <a:t>Ejemplo: .</a:t>
            </a:r>
            <a:r>
              <a:rPr lang="es-ES" dirty="0" err="1"/>
              <a:t>eus</a:t>
            </a:r>
            <a:r>
              <a:rPr lang="es-ES" dirty="0"/>
              <a:t> (Euskadi), .gal (Galicia), .</a:t>
            </a:r>
            <a:r>
              <a:rPr lang="es-ES" dirty="0" err="1"/>
              <a:t>madrid</a:t>
            </a:r>
            <a:r>
              <a:rPr lang="es-ES" dirty="0"/>
              <a:t> (Madrid).</a:t>
            </a:r>
          </a:p>
          <a:p>
            <a:pPr marL="0" indent="0">
              <a:buNone/>
            </a:pPr>
            <a:endParaRPr lang="es-ES" dirty="0"/>
          </a:p>
        </p:txBody>
      </p:sp>
      <p:sp>
        <p:nvSpPr>
          <p:cNvPr id="4" name="CuadroTexto 3">
            <a:extLst>
              <a:ext uri="{FF2B5EF4-FFF2-40B4-BE49-F238E27FC236}">
                <a16:creationId xmlns:a16="http://schemas.microsoft.com/office/drawing/2014/main" id="{2E9CC99C-EDED-BE7A-B57A-2D0E757B8DB9}"/>
              </a:ext>
            </a:extLst>
          </p:cNvPr>
          <p:cNvSpPr txBox="1"/>
          <p:nvPr/>
        </p:nvSpPr>
        <p:spPr>
          <a:xfrm>
            <a:off x="700391" y="2081719"/>
            <a:ext cx="4621552" cy="369332"/>
          </a:xfrm>
          <a:prstGeom prst="rect">
            <a:avLst/>
          </a:prstGeom>
          <a:noFill/>
        </p:spPr>
        <p:txBody>
          <a:bodyPr wrap="square" rtlCol="0">
            <a:spAutoFit/>
          </a:bodyPr>
          <a:lstStyle/>
          <a:p>
            <a:r>
              <a:rPr lang="es-ES" dirty="0"/>
              <a:t>B) Espacio de nombres y administración</a:t>
            </a:r>
          </a:p>
        </p:txBody>
      </p:sp>
      <p:pic>
        <p:nvPicPr>
          <p:cNvPr id="6" name="Imagen 5">
            <a:extLst>
              <a:ext uri="{FF2B5EF4-FFF2-40B4-BE49-F238E27FC236}">
                <a16:creationId xmlns:a16="http://schemas.microsoft.com/office/drawing/2014/main" id="{6771BBFA-CA8A-A305-9E4F-C52523C7AAE6}"/>
              </a:ext>
            </a:extLst>
          </p:cNvPr>
          <p:cNvPicPr>
            <a:picLocks noChangeAspect="1"/>
          </p:cNvPicPr>
          <p:nvPr/>
        </p:nvPicPr>
        <p:blipFill>
          <a:blip r:embed="rId2"/>
          <a:stretch>
            <a:fillRect/>
          </a:stretch>
        </p:blipFill>
        <p:spPr>
          <a:xfrm>
            <a:off x="6930708" y="3006573"/>
            <a:ext cx="5187315" cy="2073744"/>
          </a:xfrm>
          <a:prstGeom prst="rect">
            <a:avLst/>
          </a:prstGeom>
        </p:spPr>
      </p:pic>
    </p:spTree>
    <p:extLst>
      <p:ext uri="{BB962C8B-B14F-4D97-AF65-F5344CB8AC3E}">
        <p14:creationId xmlns:p14="http://schemas.microsoft.com/office/powerpoint/2010/main" val="1787377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F0E9D4-F166-CC0D-817A-845CE5D22B6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129B926-093A-833B-A94C-6A26982EDF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F76F8F5-94B3-F1B2-1D14-54F49C0F5EA8}"/>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3" name="Marcador de contenido 2">
            <a:extLst>
              <a:ext uri="{FF2B5EF4-FFF2-40B4-BE49-F238E27FC236}">
                <a16:creationId xmlns:a16="http://schemas.microsoft.com/office/drawing/2014/main" id="{F54A61FD-EB79-DA19-969A-640B662EA77B}"/>
              </a:ext>
            </a:extLst>
          </p:cNvPr>
          <p:cNvSpPr>
            <a:spLocks noGrp="1"/>
          </p:cNvSpPr>
          <p:nvPr>
            <p:ph idx="1"/>
          </p:nvPr>
        </p:nvSpPr>
        <p:spPr>
          <a:xfrm>
            <a:off x="612649" y="2584058"/>
            <a:ext cx="4507992" cy="3159018"/>
          </a:xfrm>
        </p:spPr>
        <p:txBody>
          <a:bodyPr>
            <a:normAutofit/>
          </a:bodyPr>
          <a:lstStyle/>
          <a:p>
            <a:pPr marL="0" indent="0">
              <a:buNone/>
            </a:pPr>
            <a:r>
              <a:rPr lang="es-ES" dirty="0"/>
              <a:t>Dominios de primer nivel (TLD)</a:t>
            </a:r>
          </a:p>
          <a:p>
            <a:r>
              <a:rPr lang="es-ES" b="1" dirty="0"/>
              <a:t>Geográficos (</a:t>
            </a:r>
            <a:r>
              <a:rPr lang="es-ES" b="1" dirty="0" err="1"/>
              <a:t>ccTLD</a:t>
            </a:r>
            <a:r>
              <a:rPr lang="es-ES" b="1" dirty="0"/>
              <a:t>)</a:t>
            </a:r>
            <a:br>
              <a:rPr lang="es-ES" dirty="0"/>
            </a:br>
            <a:r>
              <a:rPr lang="es-ES" dirty="0"/>
              <a:t>Son los dominios de </a:t>
            </a:r>
            <a:r>
              <a:rPr lang="es-ES" b="1" dirty="0"/>
              <a:t>países o territorios</a:t>
            </a:r>
            <a:r>
              <a:rPr lang="es-ES" dirty="0"/>
              <a:t> (dos letras).</a:t>
            </a:r>
            <a:br>
              <a:rPr lang="es-ES" dirty="0"/>
            </a:br>
            <a:r>
              <a:rPr lang="es-ES" dirty="0"/>
              <a:t>Ejemplo: .es (España), .pt (Portugal), .ad (Andorra), .</a:t>
            </a:r>
            <a:r>
              <a:rPr lang="es-ES" dirty="0" err="1"/>
              <a:t>fr</a:t>
            </a:r>
            <a:r>
              <a:rPr lang="es-ES" dirty="0"/>
              <a:t> (Francia).</a:t>
            </a:r>
          </a:p>
          <a:p>
            <a:pPr marL="0" indent="0">
              <a:buNone/>
            </a:pPr>
            <a:endParaRPr lang="es-ES" dirty="0"/>
          </a:p>
        </p:txBody>
      </p:sp>
      <p:sp>
        <p:nvSpPr>
          <p:cNvPr id="4" name="CuadroTexto 3">
            <a:extLst>
              <a:ext uri="{FF2B5EF4-FFF2-40B4-BE49-F238E27FC236}">
                <a16:creationId xmlns:a16="http://schemas.microsoft.com/office/drawing/2014/main" id="{3B3130A4-5C1F-35CD-0234-DCAF57B5C76B}"/>
              </a:ext>
            </a:extLst>
          </p:cNvPr>
          <p:cNvSpPr txBox="1"/>
          <p:nvPr/>
        </p:nvSpPr>
        <p:spPr>
          <a:xfrm>
            <a:off x="700391" y="2081719"/>
            <a:ext cx="4621552" cy="369332"/>
          </a:xfrm>
          <a:prstGeom prst="rect">
            <a:avLst/>
          </a:prstGeom>
          <a:noFill/>
        </p:spPr>
        <p:txBody>
          <a:bodyPr wrap="square" rtlCol="0">
            <a:spAutoFit/>
          </a:bodyPr>
          <a:lstStyle/>
          <a:p>
            <a:r>
              <a:rPr lang="es-ES" dirty="0"/>
              <a:t>B) Espacio de nombres y administración</a:t>
            </a:r>
          </a:p>
        </p:txBody>
      </p:sp>
      <p:pic>
        <p:nvPicPr>
          <p:cNvPr id="6" name="Imagen 5">
            <a:extLst>
              <a:ext uri="{FF2B5EF4-FFF2-40B4-BE49-F238E27FC236}">
                <a16:creationId xmlns:a16="http://schemas.microsoft.com/office/drawing/2014/main" id="{8C0E91AC-ABF6-DABB-7CB9-32EB49C36DCD}"/>
              </a:ext>
            </a:extLst>
          </p:cNvPr>
          <p:cNvPicPr>
            <a:picLocks noChangeAspect="1"/>
          </p:cNvPicPr>
          <p:nvPr/>
        </p:nvPicPr>
        <p:blipFill>
          <a:blip r:embed="rId2"/>
          <a:stretch>
            <a:fillRect/>
          </a:stretch>
        </p:blipFill>
        <p:spPr>
          <a:xfrm>
            <a:off x="5864543" y="2746567"/>
            <a:ext cx="5583555" cy="2232150"/>
          </a:xfrm>
          <a:prstGeom prst="rect">
            <a:avLst/>
          </a:prstGeom>
        </p:spPr>
      </p:pic>
    </p:spTree>
    <p:extLst>
      <p:ext uri="{BB962C8B-B14F-4D97-AF65-F5344CB8AC3E}">
        <p14:creationId xmlns:p14="http://schemas.microsoft.com/office/powerpoint/2010/main" val="1404036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9CE701-8315-37BB-40A5-C5D9E279F25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81DCBF-F98E-554E-8414-BFAE7F652F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AD43540-F553-9FAA-F759-19E4B3F3041D}"/>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3" name="Marcador de contenido 2">
            <a:extLst>
              <a:ext uri="{FF2B5EF4-FFF2-40B4-BE49-F238E27FC236}">
                <a16:creationId xmlns:a16="http://schemas.microsoft.com/office/drawing/2014/main" id="{9D137D69-A791-081E-39E3-250B78EDCF76}"/>
              </a:ext>
            </a:extLst>
          </p:cNvPr>
          <p:cNvSpPr>
            <a:spLocks noGrp="1"/>
          </p:cNvSpPr>
          <p:nvPr>
            <p:ph idx="1"/>
          </p:nvPr>
        </p:nvSpPr>
        <p:spPr>
          <a:xfrm>
            <a:off x="612648" y="2584058"/>
            <a:ext cx="11162257" cy="3159018"/>
          </a:xfrm>
        </p:spPr>
        <p:txBody>
          <a:bodyPr>
            <a:normAutofit fontScale="55000" lnSpcReduction="20000"/>
          </a:bodyPr>
          <a:lstStyle/>
          <a:p>
            <a:pPr marL="0" indent="0">
              <a:buNone/>
            </a:pPr>
            <a:r>
              <a:rPr lang="es-ES" dirty="0"/>
              <a:t>Es el </a:t>
            </a:r>
            <a:r>
              <a:rPr lang="es-ES" b="1" dirty="0"/>
              <a:t>nombre completo del dominio</a:t>
            </a:r>
            <a:r>
              <a:rPr lang="es-ES" dirty="0"/>
              <a:t>, que incluye todas las partes jerárquicas hasta el dominio raíz.</a:t>
            </a:r>
            <a:br>
              <a:rPr lang="es-ES" dirty="0"/>
            </a:br>
            <a:r>
              <a:rPr lang="es-ES" dirty="0"/>
              <a:t>Ejemplos:</a:t>
            </a:r>
          </a:p>
          <a:p>
            <a:r>
              <a:rPr lang="es-ES" dirty="0"/>
              <a:t>www.google.com.</a:t>
            </a:r>
          </a:p>
          <a:p>
            <a:r>
              <a:rPr lang="es-ES" dirty="0"/>
              <a:t>www.gnu.org.</a:t>
            </a:r>
          </a:p>
          <a:p>
            <a:r>
              <a:rPr lang="es-ES" dirty="0"/>
              <a:t>www.sintesis.com.</a:t>
            </a:r>
          </a:p>
          <a:p>
            <a:pPr marL="0" indent="0">
              <a:buNone/>
            </a:pPr>
            <a:r>
              <a:rPr lang="es-ES" dirty="0"/>
              <a:t>Se compone de:</a:t>
            </a:r>
          </a:p>
          <a:p>
            <a:r>
              <a:rPr lang="es-ES" dirty="0"/>
              <a:t>Lo forman un conjunto de hasta 127 etiquetas separadas por el carácter punto “, donde cada etiqueta representa un nodo (dominio).</a:t>
            </a:r>
          </a:p>
          <a:p>
            <a:r>
              <a:rPr lang="es-ES" dirty="0"/>
              <a:t>Cada etiqueta puede tener </a:t>
            </a:r>
            <a:r>
              <a:rPr lang="es-ES" b="1" dirty="0"/>
              <a:t>hasta 63 caracteres</a:t>
            </a:r>
            <a:r>
              <a:rPr lang="es-ES" dirty="0"/>
              <a:t>, y el total no puede superar </a:t>
            </a:r>
            <a:r>
              <a:rPr lang="es-ES" b="1" dirty="0"/>
              <a:t>255 caracteres</a:t>
            </a:r>
            <a:r>
              <a:rPr lang="es-ES" dirty="0"/>
              <a:t>.</a:t>
            </a:r>
          </a:p>
          <a:p>
            <a:r>
              <a:rPr lang="es-ES" dirty="0"/>
              <a:t>No distingue entre mayúsculas y minúsculas (Google.com = google.com).</a:t>
            </a:r>
          </a:p>
          <a:p>
            <a:r>
              <a:rPr lang="es-ES" dirty="0"/>
              <a:t>Antes se usaban solo caracteres ASCII (letras, números y guiones, llamado </a:t>
            </a:r>
            <a:r>
              <a:rPr lang="es-ES" i="1" dirty="0"/>
              <a:t>LDH</a:t>
            </a:r>
            <a:r>
              <a:rPr lang="es-ES" dirty="0"/>
              <a:t>), pero hoy existen los </a:t>
            </a:r>
            <a:r>
              <a:rPr lang="es-ES" b="1" dirty="0"/>
              <a:t>dominios internacionalizados (IDN)</a:t>
            </a:r>
            <a:r>
              <a:rPr lang="es-ES" dirty="0"/>
              <a:t> que permiten usar caracteres de otros idiomas (como ñ, á, ü, etc.).</a:t>
            </a:r>
          </a:p>
          <a:p>
            <a:pPr marL="0" indent="0">
              <a:buNone/>
            </a:pPr>
            <a:endParaRPr lang="es-ES" dirty="0"/>
          </a:p>
        </p:txBody>
      </p:sp>
      <p:sp>
        <p:nvSpPr>
          <p:cNvPr id="4" name="CuadroTexto 3">
            <a:extLst>
              <a:ext uri="{FF2B5EF4-FFF2-40B4-BE49-F238E27FC236}">
                <a16:creationId xmlns:a16="http://schemas.microsoft.com/office/drawing/2014/main" id="{567F18A2-1FC5-109C-9D34-5F053176BB4A}"/>
              </a:ext>
            </a:extLst>
          </p:cNvPr>
          <p:cNvSpPr txBox="1"/>
          <p:nvPr/>
        </p:nvSpPr>
        <p:spPr>
          <a:xfrm>
            <a:off x="700391" y="2081719"/>
            <a:ext cx="4621552" cy="369332"/>
          </a:xfrm>
          <a:prstGeom prst="rect">
            <a:avLst/>
          </a:prstGeom>
          <a:noFill/>
        </p:spPr>
        <p:txBody>
          <a:bodyPr wrap="square" rtlCol="0">
            <a:spAutoFit/>
          </a:bodyPr>
          <a:lstStyle/>
          <a:p>
            <a:r>
              <a:rPr lang="es-ES" dirty="0"/>
              <a:t>B) Espacio de nombres y administración</a:t>
            </a:r>
          </a:p>
        </p:txBody>
      </p:sp>
    </p:spTree>
    <p:extLst>
      <p:ext uri="{BB962C8B-B14F-4D97-AF65-F5344CB8AC3E}">
        <p14:creationId xmlns:p14="http://schemas.microsoft.com/office/powerpoint/2010/main" val="4069054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7883C6-01B7-2B49-FF7A-B217CBB4C8B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5BA94E3-A1D5-A28C-AE44-2DA8116CD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0793119-AB58-403E-30B3-DB73F1A96BD4}"/>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3" name="Marcador de contenido 2">
            <a:extLst>
              <a:ext uri="{FF2B5EF4-FFF2-40B4-BE49-F238E27FC236}">
                <a16:creationId xmlns:a16="http://schemas.microsoft.com/office/drawing/2014/main" id="{F7598224-BD28-F18D-33DC-E1B12DC5F586}"/>
              </a:ext>
            </a:extLst>
          </p:cNvPr>
          <p:cNvSpPr>
            <a:spLocks noGrp="1"/>
          </p:cNvSpPr>
          <p:nvPr>
            <p:ph idx="1"/>
          </p:nvPr>
        </p:nvSpPr>
        <p:spPr>
          <a:xfrm>
            <a:off x="612648" y="2584058"/>
            <a:ext cx="11162257" cy="3159018"/>
          </a:xfrm>
        </p:spPr>
        <p:txBody>
          <a:bodyPr>
            <a:normAutofit/>
          </a:bodyPr>
          <a:lstStyle/>
          <a:p>
            <a:r>
              <a:rPr lang="es-ES" dirty="0"/>
              <a:t>Cuando una persona o empresa quiere tener su propio dominio (por ejemplo, </a:t>
            </a:r>
            <a:r>
              <a:rPr lang="es-ES" i="1" dirty="0"/>
              <a:t>miempresa.com</a:t>
            </a:r>
            <a:r>
              <a:rPr lang="es-ES" dirty="0"/>
              <a:t>), debe </a:t>
            </a:r>
            <a:r>
              <a:rPr lang="es-ES" b="1" dirty="0"/>
              <a:t>registrarlo</a:t>
            </a:r>
            <a:r>
              <a:rPr lang="es-ES" dirty="0"/>
              <a:t> a través de una entidad autorizada llamada </a:t>
            </a:r>
            <a:r>
              <a:rPr lang="es-ES" b="1" dirty="0"/>
              <a:t>registrador</a:t>
            </a:r>
            <a:r>
              <a:rPr lang="es-ES" dirty="0"/>
              <a:t>.</a:t>
            </a:r>
          </a:p>
          <a:p>
            <a:r>
              <a:rPr lang="es-ES" dirty="0"/>
              <a:t>No se puede registrar directamente en los </a:t>
            </a:r>
            <a:r>
              <a:rPr lang="es-ES" b="1" dirty="0"/>
              <a:t>servidores raíz</a:t>
            </a:r>
            <a:r>
              <a:rPr lang="es-ES" dirty="0"/>
              <a:t>.</a:t>
            </a:r>
          </a:p>
          <a:p>
            <a:r>
              <a:rPr lang="es-ES" dirty="0"/>
              <a:t>El registro se hace en los </a:t>
            </a:r>
            <a:r>
              <a:rPr lang="es-ES" b="1" dirty="0"/>
              <a:t>TLD</a:t>
            </a:r>
            <a:r>
              <a:rPr lang="es-ES" dirty="0"/>
              <a:t> (como .</a:t>
            </a:r>
            <a:r>
              <a:rPr lang="es-ES" dirty="0" err="1"/>
              <a:t>com</a:t>
            </a:r>
            <a:r>
              <a:rPr lang="es-ES" dirty="0"/>
              <a:t>, .es, etc.) o en </a:t>
            </a:r>
            <a:r>
              <a:rPr lang="es-ES" b="1" dirty="0"/>
              <a:t>niveles inferiores</a:t>
            </a:r>
            <a:r>
              <a:rPr lang="es-ES" dirty="0"/>
              <a:t> (por ejemplo, co.uk en Reino Unido).</a:t>
            </a:r>
          </a:p>
          <a:p>
            <a:pPr marL="0" indent="0">
              <a:buNone/>
            </a:pPr>
            <a:endParaRPr lang="es-ES" dirty="0"/>
          </a:p>
        </p:txBody>
      </p:sp>
      <p:sp>
        <p:nvSpPr>
          <p:cNvPr id="4" name="CuadroTexto 3">
            <a:extLst>
              <a:ext uri="{FF2B5EF4-FFF2-40B4-BE49-F238E27FC236}">
                <a16:creationId xmlns:a16="http://schemas.microsoft.com/office/drawing/2014/main" id="{5EA43B07-73E8-0642-9133-99B54C193B8F}"/>
              </a:ext>
            </a:extLst>
          </p:cNvPr>
          <p:cNvSpPr txBox="1"/>
          <p:nvPr/>
        </p:nvSpPr>
        <p:spPr>
          <a:xfrm>
            <a:off x="700391" y="2081719"/>
            <a:ext cx="4621552" cy="369332"/>
          </a:xfrm>
          <a:prstGeom prst="rect">
            <a:avLst/>
          </a:prstGeom>
          <a:noFill/>
        </p:spPr>
        <p:txBody>
          <a:bodyPr wrap="square" rtlCol="0">
            <a:spAutoFit/>
          </a:bodyPr>
          <a:lstStyle/>
          <a:p>
            <a:r>
              <a:rPr lang="es-ES" dirty="0"/>
              <a:t>B) Espacio de nombres y administración</a:t>
            </a:r>
          </a:p>
        </p:txBody>
      </p:sp>
    </p:spTree>
    <p:extLst>
      <p:ext uri="{BB962C8B-B14F-4D97-AF65-F5344CB8AC3E}">
        <p14:creationId xmlns:p14="http://schemas.microsoft.com/office/powerpoint/2010/main" val="2704429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B3EB3D-3C7B-C21D-F283-867F89BA33B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EDDE08-56DC-1F5E-57C2-BE475C942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383D89A-9960-8492-1DC0-0E2B326CA1B0}"/>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pic>
        <p:nvPicPr>
          <p:cNvPr id="6" name="Marcador de contenido 5">
            <a:extLst>
              <a:ext uri="{FF2B5EF4-FFF2-40B4-BE49-F238E27FC236}">
                <a16:creationId xmlns:a16="http://schemas.microsoft.com/office/drawing/2014/main" id="{B14E9A5F-0A14-CD92-035D-622E3C7425FC}"/>
              </a:ext>
            </a:extLst>
          </p:cNvPr>
          <p:cNvPicPr>
            <a:picLocks noGrp="1" noChangeAspect="1"/>
          </p:cNvPicPr>
          <p:nvPr>
            <p:ph idx="1"/>
          </p:nvPr>
        </p:nvPicPr>
        <p:blipFill>
          <a:blip r:embed="rId2"/>
          <a:stretch>
            <a:fillRect/>
          </a:stretch>
        </p:blipFill>
        <p:spPr>
          <a:xfrm>
            <a:off x="1602581" y="3335337"/>
            <a:ext cx="9182100" cy="1657350"/>
          </a:xfrm>
          <a:prstGeom prst="rect">
            <a:avLst/>
          </a:prstGeom>
        </p:spPr>
      </p:pic>
      <p:sp>
        <p:nvSpPr>
          <p:cNvPr id="4" name="CuadroTexto 3">
            <a:extLst>
              <a:ext uri="{FF2B5EF4-FFF2-40B4-BE49-F238E27FC236}">
                <a16:creationId xmlns:a16="http://schemas.microsoft.com/office/drawing/2014/main" id="{F7FFE3A2-697B-BEB4-014F-76E66C9455E8}"/>
              </a:ext>
            </a:extLst>
          </p:cNvPr>
          <p:cNvSpPr txBox="1"/>
          <p:nvPr/>
        </p:nvSpPr>
        <p:spPr>
          <a:xfrm>
            <a:off x="700391" y="2081719"/>
            <a:ext cx="4621552" cy="369332"/>
          </a:xfrm>
          <a:prstGeom prst="rect">
            <a:avLst/>
          </a:prstGeom>
          <a:noFill/>
        </p:spPr>
        <p:txBody>
          <a:bodyPr wrap="square" rtlCol="0">
            <a:spAutoFit/>
          </a:bodyPr>
          <a:lstStyle/>
          <a:p>
            <a:r>
              <a:rPr lang="es-ES" dirty="0"/>
              <a:t>B) Espacio de nombres y administración</a:t>
            </a:r>
          </a:p>
        </p:txBody>
      </p:sp>
    </p:spTree>
    <p:extLst>
      <p:ext uri="{BB962C8B-B14F-4D97-AF65-F5344CB8AC3E}">
        <p14:creationId xmlns:p14="http://schemas.microsoft.com/office/powerpoint/2010/main" val="486931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9D6D27-B2CF-358D-3883-8908BB9C11C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CF4FCEE-3F88-326F-CFB5-F8CBB406A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8985591-00A9-FC67-B567-514DF207F499}"/>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0736CFB4-6DF4-C41D-9BBD-567B3501F61E}"/>
              </a:ext>
            </a:extLst>
          </p:cNvPr>
          <p:cNvSpPr txBox="1"/>
          <p:nvPr/>
        </p:nvSpPr>
        <p:spPr>
          <a:xfrm>
            <a:off x="700391" y="2081719"/>
            <a:ext cx="4621552" cy="369332"/>
          </a:xfrm>
          <a:prstGeom prst="rect">
            <a:avLst/>
          </a:prstGeom>
          <a:noFill/>
        </p:spPr>
        <p:txBody>
          <a:bodyPr wrap="square" rtlCol="0">
            <a:spAutoFit/>
          </a:bodyPr>
          <a:lstStyle/>
          <a:p>
            <a:r>
              <a:rPr lang="es-ES" dirty="0"/>
              <a:t>B) Espacio de nombres y administración</a:t>
            </a:r>
          </a:p>
        </p:txBody>
      </p:sp>
      <p:pic>
        <p:nvPicPr>
          <p:cNvPr id="8" name="Imagen 7">
            <a:extLst>
              <a:ext uri="{FF2B5EF4-FFF2-40B4-BE49-F238E27FC236}">
                <a16:creationId xmlns:a16="http://schemas.microsoft.com/office/drawing/2014/main" id="{EA72E995-E53D-26C9-F33C-90C075CB298F}"/>
              </a:ext>
            </a:extLst>
          </p:cNvPr>
          <p:cNvPicPr>
            <a:picLocks noChangeAspect="1"/>
          </p:cNvPicPr>
          <p:nvPr/>
        </p:nvPicPr>
        <p:blipFill>
          <a:blip r:embed="rId2"/>
          <a:stretch>
            <a:fillRect/>
          </a:stretch>
        </p:blipFill>
        <p:spPr>
          <a:xfrm>
            <a:off x="1253136" y="3083243"/>
            <a:ext cx="9372600" cy="2333625"/>
          </a:xfrm>
          <a:prstGeom prst="rect">
            <a:avLst/>
          </a:prstGeom>
        </p:spPr>
      </p:pic>
    </p:spTree>
    <p:extLst>
      <p:ext uri="{BB962C8B-B14F-4D97-AF65-F5344CB8AC3E}">
        <p14:creationId xmlns:p14="http://schemas.microsoft.com/office/powerpoint/2010/main" val="1989915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19190E-7FA3-6965-05A2-C7C2C88FFA9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104C76E-ACA8-146A-A01D-0FAF8A7DD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3275894-C984-4007-58C6-A31F22E389A8}"/>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3" name="Marcador de contenido 2">
            <a:extLst>
              <a:ext uri="{FF2B5EF4-FFF2-40B4-BE49-F238E27FC236}">
                <a16:creationId xmlns:a16="http://schemas.microsoft.com/office/drawing/2014/main" id="{2A2E9D68-F9FF-05D7-00C4-9F9311D49847}"/>
              </a:ext>
            </a:extLst>
          </p:cNvPr>
          <p:cNvSpPr>
            <a:spLocks noGrp="1"/>
          </p:cNvSpPr>
          <p:nvPr>
            <p:ph idx="1"/>
          </p:nvPr>
        </p:nvSpPr>
        <p:spPr>
          <a:xfrm>
            <a:off x="612648" y="2584058"/>
            <a:ext cx="5234201" cy="3159018"/>
          </a:xfrm>
        </p:spPr>
        <p:txBody>
          <a:bodyPr>
            <a:normAutofit fontScale="92500" lnSpcReduction="10000"/>
          </a:bodyPr>
          <a:lstStyle/>
          <a:p>
            <a:pPr marL="0" indent="0">
              <a:buNone/>
            </a:pPr>
            <a:r>
              <a:rPr lang="es-ES" dirty="0"/>
              <a:t>Las consultas formuladas por los </a:t>
            </a:r>
            <a:r>
              <a:rPr lang="es-ES" b="1" dirty="0"/>
              <a:t>DNS</a:t>
            </a:r>
            <a:r>
              <a:rPr lang="es-ES" dirty="0"/>
              <a:t> resolver (cliente) y las respuestas emitidas por los servicios </a:t>
            </a:r>
            <a:r>
              <a:rPr lang="es-ES" b="1" dirty="0"/>
              <a:t>DNS</a:t>
            </a:r>
            <a:r>
              <a:rPr lang="es-ES" dirty="0"/>
              <a:t> se realizan sobre el </a:t>
            </a:r>
            <a:r>
              <a:rPr lang="es-ES" b="1" dirty="0"/>
              <a:t>protocolo de transporte UDP</a:t>
            </a:r>
            <a:r>
              <a:rPr lang="es-ES" dirty="0"/>
              <a:t>. Las consultas pueden preguntar por una dirección correspondiente a un equipo con un nombre determinado, por un nombre asociado a una dirección concreta, por servicios para un determinado nombre del dominio…</a:t>
            </a:r>
          </a:p>
        </p:txBody>
      </p:sp>
      <p:sp>
        <p:nvSpPr>
          <p:cNvPr id="4" name="CuadroTexto 3">
            <a:extLst>
              <a:ext uri="{FF2B5EF4-FFF2-40B4-BE49-F238E27FC236}">
                <a16:creationId xmlns:a16="http://schemas.microsoft.com/office/drawing/2014/main" id="{012B0EC3-1693-C7BE-DAB9-C56C041EF540}"/>
              </a:ext>
            </a:extLst>
          </p:cNvPr>
          <p:cNvSpPr txBox="1"/>
          <p:nvPr/>
        </p:nvSpPr>
        <p:spPr>
          <a:xfrm>
            <a:off x="700391" y="2081719"/>
            <a:ext cx="4621552" cy="369332"/>
          </a:xfrm>
          <a:prstGeom prst="rect">
            <a:avLst/>
          </a:prstGeom>
          <a:noFill/>
        </p:spPr>
        <p:txBody>
          <a:bodyPr wrap="square" rtlCol="0">
            <a:spAutoFit/>
          </a:bodyPr>
          <a:lstStyle/>
          <a:p>
            <a:r>
              <a:rPr lang="es-ES" dirty="0"/>
              <a:t>C) Consultas y respuestas</a:t>
            </a:r>
          </a:p>
        </p:txBody>
      </p:sp>
      <p:pic>
        <p:nvPicPr>
          <p:cNvPr id="6" name="Imagen 5">
            <a:extLst>
              <a:ext uri="{FF2B5EF4-FFF2-40B4-BE49-F238E27FC236}">
                <a16:creationId xmlns:a16="http://schemas.microsoft.com/office/drawing/2014/main" id="{73063951-22A9-47F1-DD1A-15E47A854A38}"/>
              </a:ext>
            </a:extLst>
          </p:cNvPr>
          <p:cNvPicPr>
            <a:picLocks noChangeAspect="1"/>
          </p:cNvPicPr>
          <p:nvPr/>
        </p:nvPicPr>
        <p:blipFill>
          <a:blip r:embed="rId2"/>
          <a:stretch>
            <a:fillRect/>
          </a:stretch>
        </p:blipFill>
        <p:spPr>
          <a:xfrm>
            <a:off x="5846849" y="1497171"/>
            <a:ext cx="6034087" cy="4472998"/>
          </a:xfrm>
          <a:prstGeom prst="rect">
            <a:avLst/>
          </a:prstGeom>
        </p:spPr>
      </p:pic>
    </p:spTree>
    <p:extLst>
      <p:ext uri="{BB962C8B-B14F-4D97-AF65-F5344CB8AC3E}">
        <p14:creationId xmlns:p14="http://schemas.microsoft.com/office/powerpoint/2010/main" val="3983851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D1DA4F-2BD4-7488-EEDA-9ED721E4249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538B3EB-6739-8450-F5B1-E50F7ED5B1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4C411E1-21BE-CB91-A530-E4B936654B14}"/>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3" name="Marcador de contenido 2">
            <a:extLst>
              <a:ext uri="{FF2B5EF4-FFF2-40B4-BE49-F238E27FC236}">
                <a16:creationId xmlns:a16="http://schemas.microsoft.com/office/drawing/2014/main" id="{B4573F68-187D-33F3-B091-59459742E0B0}"/>
              </a:ext>
            </a:extLst>
          </p:cNvPr>
          <p:cNvSpPr>
            <a:spLocks noGrp="1"/>
          </p:cNvSpPr>
          <p:nvPr>
            <p:ph idx="1"/>
          </p:nvPr>
        </p:nvSpPr>
        <p:spPr>
          <a:xfrm>
            <a:off x="612648" y="2584058"/>
            <a:ext cx="5234201" cy="3159018"/>
          </a:xfrm>
        </p:spPr>
        <p:txBody>
          <a:bodyPr>
            <a:normAutofit/>
          </a:bodyPr>
          <a:lstStyle/>
          <a:p>
            <a:pPr marL="0" indent="0">
              <a:buNone/>
            </a:pPr>
            <a:r>
              <a:rPr lang="es-ES" dirty="0"/>
              <a:t>Estas consultas pueden ser de tipo:</a:t>
            </a:r>
          </a:p>
          <a:p>
            <a:pPr marL="457200" indent="-457200">
              <a:buFont typeface="+mj-lt"/>
              <a:buAutoNum type="arabicPeriod"/>
            </a:pPr>
            <a:r>
              <a:rPr lang="es-ES" dirty="0"/>
              <a:t>Recursiva: En ellas se solicita al servidor DNS que conteste directamente con el resultado o con un error (en caso de no existir respuesta).</a:t>
            </a:r>
          </a:p>
        </p:txBody>
      </p:sp>
      <p:sp>
        <p:nvSpPr>
          <p:cNvPr id="4" name="CuadroTexto 3">
            <a:extLst>
              <a:ext uri="{FF2B5EF4-FFF2-40B4-BE49-F238E27FC236}">
                <a16:creationId xmlns:a16="http://schemas.microsoft.com/office/drawing/2014/main" id="{31DF8195-DB13-EB5E-DBB2-C9158C12E3D9}"/>
              </a:ext>
            </a:extLst>
          </p:cNvPr>
          <p:cNvSpPr txBox="1"/>
          <p:nvPr/>
        </p:nvSpPr>
        <p:spPr>
          <a:xfrm>
            <a:off x="700391" y="2081719"/>
            <a:ext cx="4621552" cy="369332"/>
          </a:xfrm>
          <a:prstGeom prst="rect">
            <a:avLst/>
          </a:prstGeom>
          <a:noFill/>
        </p:spPr>
        <p:txBody>
          <a:bodyPr wrap="square" rtlCol="0">
            <a:spAutoFit/>
          </a:bodyPr>
          <a:lstStyle/>
          <a:p>
            <a:r>
              <a:rPr lang="es-ES" dirty="0"/>
              <a:t>C) Consultas y respuestas</a:t>
            </a:r>
          </a:p>
        </p:txBody>
      </p:sp>
      <p:pic>
        <p:nvPicPr>
          <p:cNvPr id="6" name="Imagen 5">
            <a:extLst>
              <a:ext uri="{FF2B5EF4-FFF2-40B4-BE49-F238E27FC236}">
                <a16:creationId xmlns:a16="http://schemas.microsoft.com/office/drawing/2014/main" id="{7398BBDE-2105-BC3B-4AD8-AF297B8A658A}"/>
              </a:ext>
            </a:extLst>
          </p:cNvPr>
          <p:cNvPicPr>
            <a:picLocks noChangeAspect="1"/>
          </p:cNvPicPr>
          <p:nvPr/>
        </p:nvPicPr>
        <p:blipFill>
          <a:blip r:embed="rId2"/>
          <a:stretch>
            <a:fillRect/>
          </a:stretch>
        </p:blipFill>
        <p:spPr>
          <a:xfrm>
            <a:off x="5846849" y="1497171"/>
            <a:ext cx="6034087" cy="4472998"/>
          </a:xfrm>
          <a:prstGeom prst="rect">
            <a:avLst/>
          </a:prstGeom>
        </p:spPr>
      </p:pic>
    </p:spTree>
    <p:extLst>
      <p:ext uri="{BB962C8B-B14F-4D97-AF65-F5344CB8AC3E}">
        <p14:creationId xmlns:p14="http://schemas.microsoft.com/office/powerpoint/2010/main" val="503496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E7D7D6-BCD0-6802-C29B-3089B1FC7BF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1F9F8D7-A95B-DF66-479B-BCC5977727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192C460-396E-71F0-767F-18F8FFEA954F}"/>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3" name="Marcador de contenido 2">
            <a:extLst>
              <a:ext uri="{FF2B5EF4-FFF2-40B4-BE49-F238E27FC236}">
                <a16:creationId xmlns:a16="http://schemas.microsoft.com/office/drawing/2014/main" id="{223D6DD3-8526-A06D-DF6C-E55B11DE6827}"/>
              </a:ext>
            </a:extLst>
          </p:cNvPr>
          <p:cNvSpPr>
            <a:spLocks noGrp="1"/>
          </p:cNvSpPr>
          <p:nvPr>
            <p:ph idx="1"/>
          </p:nvPr>
        </p:nvSpPr>
        <p:spPr>
          <a:xfrm>
            <a:off x="612648" y="2584058"/>
            <a:ext cx="5234201" cy="3159018"/>
          </a:xfrm>
        </p:spPr>
        <p:txBody>
          <a:bodyPr>
            <a:normAutofit/>
          </a:bodyPr>
          <a:lstStyle/>
          <a:p>
            <a:r>
              <a:rPr lang="es-ES" dirty="0"/>
              <a:t>Si la respuesta del servidor se construye con base en la información contenida dentro de las zonas que él mismo gestiona y que, por tanto, conoce de primera mano, se tratará de una respuesta autoritativa.</a:t>
            </a:r>
          </a:p>
        </p:txBody>
      </p:sp>
      <p:sp>
        <p:nvSpPr>
          <p:cNvPr id="4" name="CuadroTexto 3">
            <a:extLst>
              <a:ext uri="{FF2B5EF4-FFF2-40B4-BE49-F238E27FC236}">
                <a16:creationId xmlns:a16="http://schemas.microsoft.com/office/drawing/2014/main" id="{F75C6704-C318-0026-B1EE-6F5D8B9DF1D0}"/>
              </a:ext>
            </a:extLst>
          </p:cNvPr>
          <p:cNvSpPr txBox="1"/>
          <p:nvPr/>
        </p:nvSpPr>
        <p:spPr>
          <a:xfrm>
            <a:off x="700391" y="2081719"/>
            <a:ext cx="4621552" cy="369332"/>
          </a:xfrm>
          <a:prstGeom prst="rect">
            <a:avLst/>
          </a:prstGeom>
          <a:noFill/>
        </p:spPr>
        <p:txBody>
          <a:bodyPr wrap="square" rtlCol="0">
            <a:spAutoFit/>
          </a:bodyPr>
          <a:lstStyle/>
          <a:p>
            <a:r>
              <a:rPr lang="es-ES" dirty="0"/>
              <a:t>C) Consultas y respuestas</a:t>
            </a:r>
          </a:p>
        </p:txBody>
      </p:sp>
      <p:pic>
        <p:nvPicPr>
          <p:cNvPr id="6" name="Imagen 5">
            <a:extLst>
              <a:ext uri="{FF2B5EF4-FFF2-40B4-BE49-F238E27FC236}">
                <a16:creationId xmlns:a16="http://schemas.microsoft.com/office/drawing/2014/main" id="{D0135AB6-335F-4231-4F67-A8314E6B65F4}"/>
              </a:ext>
            </a:extLst>
          </p:cNvPr>
          <p:cNvPicPr>
            <a:picLocks noChangeAspect="1"/>
          </p:cNvPicPr>
          <p:nvPr/>
        </p:nvPicPr>
        <p:blipFill>
          <a:blip r:embed="rId2"/>
          <a:stretch>
            <a:fillRect/>
          </a:stretch>
        </p:blipFill>
        <p:spPr>
          <a:xfrm>
            <a:off x="5846849" y="1497171"/>
            <a:ext cx="6034087" cy="4472998"/>
          </a:xfrm>
          <a:prstGeom prst="rect">
            <a:avLst/>
          </a:prstGeom>
        </p:spPr>
      </p:pic>
    </p:spTree>
    <p:extLst>
      <p:ext uri="{BB962C8B-B14F-4D97-AF65-F5344CB8AC3E}">
        <p14:creationId xmlns:p14="http://schemas.microsoft.com/office/powerpoint/2010/main" val="4247051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2AD127-E027-6B8F-A130-B3BA8205683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88EFEB7-EDCC-4D7F-DD63-F633416F4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D9BAB51-7F93-FB3C-2E32-59107BB7B80F}"/>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3" name="Marcador de contenido 2">
            <a:extLst>
              <a:ext uri="{FF2B5EF4-FFF2-40B4-BE49-F238E27FC236}">
                <a16:creationId xmlns:a16="http://schemas.microsoft.com/office/drawing/2014/main" id="{B7664100-353B-2D80-B1DC-F69667EBEA1D}"/>
              </a:ext>
            </a:extLst>
          </p:cNvPr>
          <p:cNvSpPr>
            <a:spLocks noGrp="1"/>
          </p:cNvSpPr>
          <p:nvPr>
            <p:ph idx="1"/>
          </p:nvPr>
        </p:nvSpPr>
        <p:spPr>
          <a:xfrm>
            <a:off x="612648" y="2584058"/>
            <a:ext cx="5234201" cy="3159018"/>
          </a:xfrm>
        </p:spPr>
        <p:txBody>
          <a:bodyPr>
            <a:normAutofit fontScale="92500" lnSpcReduction="20000"/>
          </a:bodyPr>
          <a:lstStyle/>
          <a:p>
            <a:r>
              <a:rPr lang="es-ES" dirty="0"/>
              <a:t>En caso contrario, y suponiendo que el servidor no se haya configurado para rechazar consultas recursivas, el servidor actuará como un intermediario y la respuesta se construirá según la información contenida en su caché tras haberse consultado al servidor que tiene la autoridad para responder sobre la misma. En este caso será una respuesta no autoritativa.</a:t>
            </a:r>
          </a:p>
        </p:txBody>
      </p:sp>
      <p:sp>
        <p:nvSpPr>
          <p:cNvPr id="4" name="CuadroTexto 3">
            <a:extLst>
              <a:ext uri="{FF2B5EF4-FFF2-40B4-BE49-F238E27FC236}">
                <a16:creationId xmlns:a16="http://schemas.microsoft.com/office/drawing/2014/main" id="{579293F6-C5CB-A051-2E35-7E071D2A673B}"/>
              </a:ext>
            </a:extLst>
          </p:cNvPr>
          <p:cNvSpPr txBox="1"/>
          <p:nvPr/>
        </p:nvSpPr>
        <p:spPr>
          <a:xfrm>
            <a:off x="700391" y="2081719"/>
            <a:ext cx="4621552" cy="369332"/>
          </a:xfrm>
          <a:prstGeom prst="rect">
            <a:avLst/>
          </a:prstGeom>
          <a:noFill/>
        </p:spPr>
        <p:txBody>
          <a:bodyPr wrap="square" rtlCol="0">
            <a:spAutoFit/>
          </a:bodyPr>
          <a:lstStyle/>
          <a:p>
            <a:r>
              <a:rPr lang="es-ES" dirty="0"/>
              <a:t>C) Consultas y respuestas</a:t>
            </a:r>
          </a:p>
        </p:txBody>
      </p:sp>
      <p:pic>
        <p:nvPicPr>
          <p:cNvPr id="6" name="Imagen 5">
            <a:extLst>
              <a:ext uri="{FF2B5EF4-FFF2-40B4-BE49-F238E27FC236}">
                <a16:creationId xmlns:a16="http://schemas.microsoft.com/office/drawing/2014/main" id="{3AFF2D0B-E39F-9A63-CC30-ECDDDD395376}"/>
              </a:ext>
            </a:extLst>
          </p:cNvPr>
          <p:cNvPicPr>
            <a:picLocks noChangeAspect="1"/>
          </p:cNvPicPr>
          <p:nvPr/>
        </p:nvPicPr>
        <p:blipFill>
          <a:blip r:embed="rId2"/>
          <a:stretch>
            <a:fillRect/>
          </a:stretch>
        </p:blipFill>
        <p:spPr>
          <a:xfrm>
            <a:off x="5846849" y="1497171"/>
            <a:ext cx="6034087" cy="4472998"/>
          </a:xfrm>
          <a:prstGeom prst="rect">
            <a:avLst/>
          </a:prstGeom>
        </p:spPr>
      </p:pic>
    </p:spTree>
    <p:extLst>
      <p:ext uri="{BB962C8B-B14F-4D97-AF65-F5344CB8AC3E}">
        <p14:creationId xmlns:p14="http://schemas.microsoft.com/office/powerpoint/2010/main" val="29484038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F0E682-9BAB-CB96-6EAB-76CD4EF40E4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DD16BA9-2059-1FF4-F3E9-D6523998C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F6DF565-B4D9-4B8A-F4E7-339EF5D56D1B}"/>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3" name="Marcador de contenido 2">
            <a:extLst>
              <a:ext uri="{FF2B5EF4-FFF2-40B4-BE49-F238E27FC236}">
                <a16:creationId xmlns:a16="http://schemas.microsoft.com/office/drawing/2014/main" id="{AD64B770-0A2A-8949-846A-DDF8D14AB49C}"/>
              </a:ext>
            </a:extLst>
          </p:cNvPr>
          <p:cNvSpPr>
            <a:spLocks noGrp="1"/>
          </p:cNvSpPr>
          <p:nvPr>
            <p:ph idx="1"/>
          </p:nvPr>
        </p:nvSpPr>
        <p:spPr>
          <a:xfrm>
            <a:off x="612648" y="2584058"/>
            <a:ext cx="5234201" cy="3159018"/>
          </a:xfrm>
        </p:spPr>
        <p:txBody>
          <a:bodyPr>
            <a:normAutofit/>
          </a:bodyPr>
          <a:lstStyle/>
          <a:p>
            <a:pPr marL="0" indent="0">
              <a:buNone/>
            </a:pPr>
            <a:r>
              <a:rPr lang="es-ES" dirty="0"/>
              <a:t>2. Iterativa: En ellas se solicita al servidor que conteste con el resultado si lo conoce, con un error en caso de que el recurso solicitado no exista en las zonas que gestiona directamente o con una </a:t>
            </a:r>
            <a:r>
              <a:rPr lang="es-ES" dirty="0" err="1"/>
              <a:t>referral</a:t>
            </a:r>
            <a:r>
              <a:rPr lang="es-ES" dirty="0"/>
              <a:t>. Este modo deben soportarlo todos los servidores DNS.</a:t>
            </a:r>
          </a:p>
        </p:txBody>
      </p:sp>
      <p:sp>
        <p:nvSpPr>
          <p:cNvPr id="4" name="CuadroTexto 3">
            <a:extLst>
              <a:ext uri="{FF2B5EF4-FFF2-40B4-BE49-F238E27FC236}">
                <a16:creationId xmlns:a16="http://schemas.microsoft.com/office/drawing/2014/main" id="{920F0755-F439-2760-2CD6-6DE8825C6B6A}"/>
              </a:ext>
            </a:extLst>
          </p:cNvPr>
          <p:cNvSpPr txBox="1"/>
          <p:nvPr/>
        </p:nvSpPr>
        <p:spPr>
          <a:xfrm>
            <a:off x="700391" y="2081719"/>
            <a:ext cx="4621552" cy="369332"/>
          </a:xfrm>
          <a:prstGeom prst="rect">
            <a:avLst/>
          </a:prstGeom>
          <a:noFill/>
        </p:spPr>
        <p:txBody>
          <a:bodyPr wrap="square" rtlCol="0">
            <a:spAutoFit/>
          </a:bodyPr>
          <a:lstStyle/>
          <a:p>
            <a:r>
              <a:rPr lang="es-ES" dirty="0"/>
              <a:t>C) Consultas y respuestas</a:t>
            </a:r>
          </a:p>
        </p:txBody>
      </p:sp>
      <p:pic>
        <p:nvPicPr>
          <p:cNvPr id="7" name="Imagen 6">
            <a:extLst>
              <a:ext uri="{FF2B5EF4-FFF2-40B4-BE49-F238E27FC236}">
                <a16:creationId xmlns:a16="http://schemas.microsoft.com/office/drawing/2014/main" id="{0950DBB9-9B18-AAEA-19C0-2D406D5EB7BD}"/>
              </a:ext>
            </a:extLst>
          </p:cNvPr>
          <p:cNvPicPr>
            <a:picLocks noChangeAspect="1"/>
          </p:cNvPicPr>
          <p:nvPr/>
        </p:nvPicPr>
        <p:blipFill>
          <a:blip r:embed="rId2"/>
          <a:stretch>
            <a:fillRect/>
          </a:stretch>
        </p:blipFill>
        <p:spPr>
          <a:xfrm>
            <a:off x="6022334" y="1690331"/>
            <a:ext cx="5779228" cy="4622237"/>
          </a:xfrm>
          <a:prstGeom prst="rect">
            <a:avLst/>
          </a:prstGeom>
        </p:spPr>
      </p:pic>
    </p:spTree>
    <p:extLst>
      <p:ext uri="{BB962C8B-B14F-4D97-AF65-F5344CB8AC3E}">
        <p14:creationId xmlns:p14="http://schemas.microsoft.com/office/powerpoint/2010/main" val="24132316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3EB233-F217-EFE9-33A4-49A607F68F1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F2E2E65-885F-D20B-706D-7A65C605B6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51777FB-F314-E0E4-A81F-87C994A4CC5B}"/>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pic>
        <p:nvPicPr>
          <p:cNvPr id="6" name="Marcador de contenido 5">
            <a:extLst>
              <a:ext uri="{FF2B5EF4-FFF2-40B4-BE49-F238E27FC236}">
                <a16:creationId xmlns:a16="http://schemas.microsoft.com/office/drawing/2014/main" id="{2167A2C7-1EF3-949D-B103-EB710F523162}"/>
              </a:ext>
            </a:extLst>
          </p:cNvPr>
          <p:cNvPicPr>
            <a:picLocks noGrp="1" noChangeAspect="1"/>
          </p:cNvPicPr>
          <p:nvPr>
            <p:ph idx="1"/>
          </p:nvPr>
        </p:nvPicPr>
        <p:blipFill>
          <a:blip r:embed="rId2"/>
          <a:stretch>
            <a:fillRect/>
          </a:stretch>
        </p:blipFill>
        <p:spPr>
          <a:xfrm>
            <a:off x="852488" y="3225800"/>
            <a:ext cx="9877425" cy="1876425"/>
          </a:xfrm>
          <a:prstGeom prst="rect">
            <a:avLst/>
          </a:prstGeom>
        </p:spPr>
      </p:pic>
      <p:sp>
        <p:nvSpPr>
          <p:cNvPr id="4" name="CuadroTexto 3">
            <a:extLst>
              <a:ext uri="{FF2B5EF4-FFF2-40B4-BE49-F238E27FC236}">
                <a16:creationId xmlns:a16="http://schemas.microsoft.com/office/drawing/2014/main" id="{6029CC09-F93D-BB5C-EAB1-E3388EE89DA2}"/>
              </a:ext>
            </a:extLst>
          </p:cNvPr>
          <p:cNvSpPr txBox="1"/>
          <p:nvPr/>
        </p:nvSpPr>
        <p:spPr>
          <a:xfrm>
            <a:off x="700391" y="2081719"/>
            <a:ext cx="4621552" cy="369332"/>
          </a:xfrm>
          <a:prstGeom prst="rect">
            <a:avLst/>
          </a:prstGeom>
          <a:noFill/>
        </p:spPr>
        <p:txBody>
          <a:bodyPr wrap="square" rtlCol="0">
            <a:spAutoFit/>
          </a:bodyPr>
          <a:lstStyle/>
          <a:p>
            <a:r>
              <a:rPr lang="es-ES" dirty="0"/>
              <a:t>C) Consultas y respuestas</a:t>
            </a:r>
          </a:p>
        </p:txBody>
      </p:sp>
    </p:spTree>
    <p:extLst>
      <p:ext uri="{BB962C8B-B14F-4D97-AF65-F5344CB8AC3E}">
        <p14:creationId xmlns:p14="http://schemas.microsoft.com/office/powerpoint/2010/main" val="33339811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BD9442-CCDF-C20D-ACF1-CCE87B50838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A418C31-81C2-720B-D8C7-A809CE52E6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4675A5C-213B-87BF-ED1E-09078CB812A3}"/>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77A668DC-118D-447C-B63E-87A98671F4A1}"/>
              </a:ext>
            </a:extLst>
          </p:cNvPr>
          <p:cNvSpPr txBox="1"/>
          <p:nvPr/>
        </p:nvSpPr>
        <p:spPr>
          <a:xfrm>
            <a:off x="700391" y="2081719"/>
            <a:ext cx="4621552" cy="369332"/>
          </a:xfrm>
          <a:prstGeom prst="rect">
            <a:avLst/>
          </a:prstGeom>
          <a:noFill/>
        </p:spPr>
        <p:txBody>
          <a:bodyPr wrap="square" rtlCol="0">
            <a:spAutoFit/>
          </a:bodyPr>
          <a:lstStyle/>
          <a:p>
            <a:r>
              <a:rPr lang="es-ES" dirty="0"/>
              <a:t>D) Tipos de servidor</a:t>
            </a:r>
          </a:p>
        </p:txBody>
      </p:sp>
      <p:sp>
        <p:nvSpPr>
          <p:cNvPr id="5" name="Marcador de contenido 4">
            <a:extLst>
              <a:ext uri="{FF2B5EF4-FFF2-40B4-BE49-F238E27FC236}">
                <a16:creationId xmlns:a16="http://schemas.microsoft.com/office/drawing/2014/main" id="{D2F19818-7F28-A9AD-E639-89F2EA79859D}"/>
              </a:ext>
            </a:extLst>
          </p:cNvPr>
          <p:cNvSpPr>
            <a:spLocks noGrp="1"/>
          </p:cNvSpPr>
          <p:nvPr>
            <p:ph idx="1"/>
          </p:nvPr>
        </p:nvSpPr>
        <p:spPr>
          <a:xfrm>
            <a:off x="612647" y="2584058"/>
            <a:ext cx="10653579" cy="3725302"/>
          </a:xfrm>
        </p:spPr>
        <p:txBody>
          <a:bodyPr/>
          <a:lstStyle/>
          <a:p>
            <a:pPr marL="0" indent="0">
              <a:buNone/>
            </a:pPr>
            <a:r>
              <a:rPr lang="es-ES" dirty="0"/>
              <a:t>Dada la posibilidad de que un servidor DNS pueda estar inoperativo durante un periodo determinado, es conveniente que exista más de un servidor DNS que contenga una réplica de la información de las zonas. De esta manera es posible ofrecer tolerancia ante posibles caídas de alguno de los servidores, así como balanceo de carga entre ellos en condiciones de funcionamiento normales.</a:t>
            </a:r>
          </a:p>
          <a:p>
            <a:pPr marL="0" indent="0">
              <a:buNone/>
            </a:pPr>
            <a:r>
              <a:rPr lang="es-ES" dirty="0"/>
              <a:t>Sea cual sea la razón que justifique la existencia de más de un servidor DNS, es importante distinguir entre los diferentes roles que estos pueden jugar, los cuales dependerán del origen de la información manejada.</a:t>
            </a:r>
          </a:p>
        </p:txBody>
      </p:sp>
    </p:spTree>
    <p:extLst>
      <p:ext uri="{BB962C8B-B14F-4D97-AF65-F5344CB8AC3E}">
        <p14:creationId xmlns:p14="http://schemas.microsoft.com/office/powerpoint/2010/main" val="23956951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88FFD8-CF6B-940C-B554-A5C1B8C1642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13D773C-47EF-F548-8ECA-D666356E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2D424D3-B478-B05A-C412-D3DC1BD49117}"/>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1F539FB1-08F6-44DF-BF53-ABF6FDEBD750}"/>
              </a:ext>
            </a:extLst>
          </p:cNvPr>
          <p:cNvSpPr txBox="1"/>
          <p:nvPr/>
        </p:nvSpPr>
        <p:spPr>
          <a:xfrm>
            <a:off x="700391" y="2081719"/>
            <a:ext cx="4621552" cy="369332"/>
          </a:xfrm>
          <a:prstGeom prst="rect">
            <a:avLst/>
          </a:prstGeom>
          <a:noFill/>
        </p:spPr>
        <p:txBody>
          <a:bodyPr wrap="square" rtlCol="0">
            <a:spAutoFit/>
          </a:bodyPr>
          <a:lstStyle/>
          <a:p>
            <a:r>
              <a:rPr lang="es-ES" dirty="0"/>
              <a:t>D) Tipos de servidor</a:t>
            </a:r>
          </a:p>
        </p:txBody>
      </p:sp>
      <p:sp>
        <p:nvSpPr>
          <p:cNvPr id="5" name="Marcador de contenido 4">
            <a:extLst>
              <a:ext uri="{FF2B5EF4-FFF2-40B4-BE49-F238E27FC236}">
                <a16:creationId xmlns:a16="http://schemas.microsoft.com/office/drawing/2014/main" id="{A4F127BE-FD6E-B062-8C35-BD99834AA378}"/>
              </a:ext>
            </a:extLst>
          </p:cNvPr>
          <p:cNvSpPr>
            <a:spLocks noGrp="1"/>
          </p:cNvSpPr>
          <p:nvPr>
            <p:ph idx="1"/>
          </p:nvPr>
        </p:nvSpPr>
        <p:spPr>
          <a:xfrm>
            <a:off x="612647" y="2584058"/>
            <a:ext cx="10653579" cy="3725302"/>
          </a:xfrm>
        </p:spPr>
        <p:txBody>
          <a:bodyPr/>
          <a:lstStyle/>
          <a:p>
            <a:r>
              <a:rPr lang="es-ES" dirty="0"/>
              <a:t>Servidor primario o maestro: Los registros contenidos en la zona que maneja se gestionan directamente en él.</a:t>
            </a:r>
          </a:p>
          <a:p>
            <a:r>
              <a:rPr lang="es-ES" dirty="0"/>
              <a:t>Servidor secundario o esclavo: Los registros contenidos en la zona que maneja se obtienen a través de una sincronización con el servidor primario para dicha zona (el cual los gestiona directamente).</a:t>
            </a:r>
          </a:p>
          <a:p>
            <a:r>
              <a:rPr lang="es-ES" dirty="0"/>
              <a:t>Servidor caché: Si la información que este conoce lo es por haber tenido que preguntar previamente a otro servidor para resolver una consulta que desconocía y tras ese paso la almacenó en su caché durante un tiempo determinado.</a:t>
            </a:r>
          </a:p>
        </p:txBody>
      </p:sp>
    </p:spTree>
    <p:extLst>
      <p:ext uri="{BB962C8B-B14F-4D97-AF65-F5344CB8AC3E}">
        <p14:creationId xmlns:p14="http://schemas.microsoft.com/office/powerpoint/2010/main" val="14019829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3C65C5-0A9A-12F2-D648-84D4A9E1A4B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8DC303F-39DB-32C1-1543-FE4F6B3DA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68A6493-24F9-F90F-6FEF-F6E828CD312A}"/>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2C978394-7230-5004-919A-8A248660040B}"/>
              </a:ext>
            </a:extLst>
          </p:cNvPr>
          <p:cNvSpPr txBox="1"/>
          <p:nvPr/>
        </p:nvSpPr>
        <p:spPr>
          <a:xfrm>
            <a:off x="700391" y="2081719"/>
            <a:ext cx="4621552" cy="369332"/>
          </a:xfrm>
          <a:prstGeom prst="rect">
            <a:avLst/>
          </a:prstGeom>
          <a:noFill/>
        </p:spPr>
        <p:txBody>
          <a:bodyPr wrap="square" rtlCol="0">
            <a:spAutoFit/>
          </a:bodyPr>
          <a:lstStyle/>
          <a:p>
            <a:r>
              <a:rPr lang="es-ES" dirty="0"/>
              <a:t>D) Tipos de servidor</a:t>
            </a:r>
          </a:p>
        </p:txBody>
      </p:sp>
      <p:pic>
        <p:nvPicPr>
          <p:cNvPr id="6" name="Marcador de contenido 5">
            <a:extLst>
              <a:ext uri="{FF2B5EF4-FFF2-40B4-BE49-F238E27FC236}">
                <a16:creationId xmlns:a16="http://schemas.microsoft.com/office/drawing/2014/main" id="{F2FE6943-7CF6-F7EF-EB19-8524FAF97821}"/>
              </a:ext>
            </a:extLst>
          </p:cNvPr>
          <p:cNvPicPr>
            <a:picLocks noGrp="1" noChangeAspect="1"/>
          </p:cNvPicPr>
          <p:nvPr>
            <p:ph idx="1"/>
          </p:nvPr>
        </p:nvPicPr>
        <p:blipFill>
          <a:blip r:embed="rId2"/>
          <a:stretch>
            <a:fillRect/>
          </a:stretch>
        </p:blipFill>
        <p:spPr>
          <a:xfrm>
            <a:off x="1135317" y="2584450"/>
            <a:ext cx="9608629" cy="3724275"/>
          </a:xfrm>
          <a:prstGeom prst="rect">
            <a:avLst/>
          </a:prstGeom>
        </p:spPr>
      </p:pic>
    </p:spTree>
    <p:extLst>
      <p:ext uri="{BB962C8B-B14F-4D97-AF65-F5344CB8AC3E}">
        <p14:creationId xmlns:p14="http://schemas.microsoft.com/office/powerpoint/2010/main" val="15229091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3B7451-B322-D91A-379C-E77C3703BF2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A4FCCFD-C520-F3BB-79F0-FF901F656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CDDD367-75DD-A73F-19C4-3CA74934CFB3}"/>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F6A166B9-ACA8-B1BD-70BD-4FBA89650151}"/>
              </a:ext>
            </a:extLst>
          </p:cNvPr>
          <p:cNvSpPr txBox="1"/>
          <p:nvPr/>
        </p:nvSpPr>
        <p:spPr>
          <a:xfrm>
            <a:off x="700391" y="2081719"/>
            <a:ext cx="4621552" cy="369332"/>
          </a:xfrm>
          <a:prstGeom prst="rect">
            <a:avLst/>
          </a:prstGeom>
          <a:noFill/>
        </p:spPr>
        <p:txBody>
          <a:bodyPr wrap="square" rtlCol="0">
            <a:spAutoFit/>
          </a:bodyPr>
          <a:lstStyle/>
          <a:p>
            <a:r>
              <a:rPr lang="es-ES" dirty="0"/>
              <a:t>D) Tipos de servidor</a:t>
            </a:r>
          </a:p>
        </p:txBody>
      </p:sp>
      <p:pic>
        <p:nvPicPr>
          <p:cNvPr id="11" name="Marcador de contenido 10">
            <a:extLst>
              <a:ext uri="{FF2B5EF4-FFF2-40B4-BE49-F238E27FC236}">
                <a16:creationId xmlns:a16="http://schemas.microsoft.com/office/drawing/2014/main" id="{7956C338-3249-3FFF-7FA0-04275A2A5B11}"/>
              </a:ext>
            </a:extLst>
          </p:cNvPr>
          <p:cNvPicPr>
            <a:picLocks noGrp="1" noChangeAspect="1"/>
          </p:cNvPicPr>
          <p:nvPr>
            <p:ph idx="1"/>
          </p:nvPr>
        </p:nvPicPr>
        <p:blipFill>
          <a:blip r:embed="rId2"/>
          <a:stretch>
            <a:fillRect/>
          </a:stretch>
        </p:blipFill>
        <p:spPr>
          <a:xfrm>
            <a:off x="834231" y="3198019"/>
            <a:ext cx="10210800" cy="1628775"/>
          </a:xfrm>
          <a:prstGeom prst="rect">
            <a:avLst/>
          </a:prstGeom>
        </p:spPr>
      </p:pic>
    </p:spTree>
    <p:extLst>
      <p:ext uri="{BB962C8B-B14F-4D97-AF65-F5344CB8AC3E}">
        <p14:creationId xmlns:p14="http://schemas.microsoft.com/office/powerpoint/2010/main" val="17124134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FAB46D-2B72-E07D-CA86-5F174042BF2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A571DE9-2B3B-5303-1662-622A73158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302069C-2454-568A-B7FE-7588517CE9A7}"/>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EA8ADF02-388F-D91B-0EBB-4EC3C02E6E9D}"/>
              </a:ext>
            </a:extLst>
          </p:cNvPr>
          <p:cNvSpPr txBox="1"/>
          <p:nvPr/>
        </p:nvSpPr>
        <p:spPr>
          <a:xfrm>
            <a:off x="700391" y="2081719"/>
            <a:ext cx="4621552" cy="369332"/>
          </a:xfrm>
          <a:prstGeom prst="rect">
            <a:avLst/>
          </a:prstGeom>
          <a:noFill/>
        </p:spPr>
        <p:txBody>
          <a:bodyPr wrap="square" rtlCol="0">
            <a:spAutoFit/>
          </a:bodyPr>
          <a:lstStyle/>
          <a:p>
            <a:r>
              <a:rPr lang="es-ES" dirty="0"/>
              <a:t>E) Transferencia de zona</a:t>
            </a:r>
          </a:p>
        </p:txBody>
      </p:sp>
      <p:sp>
        <p:nvSpPr>
          <p:cNvPr id="5" name="Marcador de contenido 4">
            <a:extLst>
              <a:ext uri="{FF2B5EF4-FFF2-40B4-BE49-F238E27FC236}">
                <a16:creationId xmlns:a16="http://schemas.microsoft.com/office/drawing/2014/main" id="{ECA7795B-6C68-F3C6-A11C-4FD4B4A25AA1}"/>
              </a:ext>
            </a:extLst>
          </p:cNvPr>
          <p:cNvSpPr>
            <a:spLocks noGrp="1"/>
          </p:cNvSpPr>
          <p:nvPr>
            <p:ph idx="1"/>
          </p:nvPr>
        </p:nvSpPr>
        <p:spPr>
          <a:xfrm>
            <a:off x="612647" y="2665378"/>
            <a:ext cx="10653579" cy="3643981"/>
          </a:xfrm>
        </p:spPr>
        <p:txBody>
          <a:bodyPr/>
          <a:lstStyle/>
          <a:p>
            <a:pPr marL="0" indent="0">
              <a:buNone/>
            </a:pPr>
            <a:r>
              <a:rPr lang="es-ES" dirty="0"/>
              <a:t>Como se ha mencionado anteriormente DNS es un servicio que trabaja de forma distribuida y que permite que sean varios los servidores que ofrecen la misma información con la intención de proporcionar balanceo de carga y tolerancia ante posibles fallos. Para que esto funcione los servidores encargados de ofrecer información de una zona deben estar correctamente sincronizados entre si. A este proceso en el cual los servidores de una zona se sincronizan se le denomina </a:t>
            </a:r>
            <a:r>
              <a:rPr lang="es-ES" b="1" dirty="0"/>
              <a:t>transferencia de zona</a:t>
            </a:r>
            <a:r>
              <a:rPr lang="es-ES" dirty="0"/>
              <a:t>.</a:t>
            </a:r>
          </a:p>
        </p:txBody>
      </p:sp>
    </p:spTree>
    <p:extLst>
      <p:ext uri="{BB962C8B-B14F-4D97-AF65-F5344CB8AC3E}">
        <p14:creationId xmlns:p14="http://schemas.microsoft.com/office/powerpoint/2010/main" val="5077464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A40718-D40A-A402-A2AF-D70F147DDDC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F6879C0-E46B-7AC1-C4A8-D37EE24E7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B6A4168-9F1B-6FA5-35A5-73B3B075579D}"/>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E4DF3F77-17AD-E9E5-D0D0-77D64456C0BA}"/>
              </a:ext>
            </a:extLst>
          </p:cNvPr>
          <p:cNvSpPr txBox="1"/>
          <p:nvPr/>
        </p:nvSpPr>
        <p:spPr>
          <a:xfrm>
            <a:off x="700391" y="2081719"/>
            <a:ext cx="4621552" cy="369332"/>
          </a:xfrm>
          <a:prstGeom prst="rect">
            <a:avLst/>
          </a:prstGeom>
          <a:noFill/>
        </p:spPr>
        <p:txBody>
          <a:bodyPr wrap="square" rtlCol="0">
            <a:spAutoFit/>
          </a:bodyPr>
          <a:lstStyle/>
          <a:p>
            <a:r>
              <a:rPr lang="es-ES" dirty="0"/>
              <a:t>E) Transferencia de zona</a:t>
            </a:r>
          </a:p>
        </p:txBody>
      </p:sp>
      <p:sp>
        <p:nvSpPr>
          <p:cNvPr id="5" name="Marcador de contenido 4">
            <a:extLst>
              <a:ext uri="{FF2B5EF4-FFF2-40B4-BE49-F238E27FC236}">
                <a16:creationId xmlns:a16="http://schemas.microsoft.com/office/drawing/2014/main" id="{66305621-171E-364D-5634-646618A06F72}"/>
              </a:ext>
            </a:extLst>
          </p:cNvPr>
          <p:cNvSpPr>
            <a:spLocks noGrp="1"/>
          </p:cNvSpPr>
          <p:nvPr>
            <p:ph idx="1"/>
          </p:nvPr>
        </p:nvSpPr>
        <p:spPr>
          <a:xfrm>
            <a:off x="612647" y="2665378"/>
            <a:ext cx="10653579" cy="3643981"/>
          </a:xfrm>
        </p:spPr>
        <p:txBody>
          <a:bodyPr/>
          <a:lstStyle/>
          <a:p>
            <a:pPr marL="0" indent="0">
              <a:buNone/>
            </a:pPr>
            <a:r>
              <a:rPr lang="es-ES" dirty="0"/>
              <a:t>Este proceso se lleva a cabo mediante el establecimiento de una conexión TCP desde el servidor secundario/esclavo, que actúa como un cliente, y el servidor primario/maestro.</a:t>
            </a:r>
          </a:p>
          <a:p>
            <a:pPr marL="0" indent="0">
              <a:buNone/>
            </a:pPr>
            <a:r>
              <a:rPr lang="es-ES" dirty="0"/>
              <a:t>Las transferencias de zona se realizarán con periodicidad declarada en el campo Intervalo de actualización del registro SOA, aunque se puede configurar el servicio para que el servidor primario notifique cada cambio producido en la zona haciendo uso de los mensajes NOTIFY.</a:t>
            </a:r>
          </a:p>
        </p:txBody>
      </p:sp>
    </p:spTree>
    <p:extLst>
      <p:ext uri="{BB962C8B-B14F-4D97-AF65-F5344CB8AC3E}">
        <p14:creationId xmlns:p14="http://schemas.microsoft.com/office/powerpoint/2010/main" val="23626351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FE2C37-5A93-9B18-ABC1-A2CD5002058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4DC514F-161A-82C8-322D-97179709A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408E4DE-6641-13BD-67CD-88DFABC59A85}"/>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BABDB702-CFB6-56B4-3BA0-596214D1D4B5}"/>
              </a:ext>
            </a:extLst>
          </p:cNvPr>
          <p:cNvSpPr txBox="1"/>
          <p:nvPr/>
        </p:nvSpPr>
        <p:spPr>
          <a:xfrm>
            <a:off x="700391" y="2081719"/>
            <a:ext cx="4621552" cy="369332"/>
          </a:xfrm>
          <a:prstGeom prst="rect">
            <a:avLst/>
          </a:prstGeom>
          <a:noFill/>
        </p:spPr>
        <p:txBody>
          <a:bodyPr wrap="square" rtlCol="0">
            <a:spAutoFit/>
          </a:bodyPr>
          <a:lstStyle/>
          <a:p>
            <a:r>
              <a:rPr lang="es-ES" dirty="0"/>
              <a:t>F) Zonas de resolución directa e inversa</a:t>
            </a:r>
          </a:p>
        </p:txBody>
      </p:sp>
      <p:sp>
        <p:nvSpPr>
          <p:cNvPr id="5" name="Marcador de contenido 4">
            <a:extLst>
              <a:ext uri="{FF2B5EF4-FFF2-40B4-BE49-F238E27FC236}">
                <a16:creationId xmlns:a16="http://schemas.microsoft.com/office/drawing/2014/main" id="{8E1CBD7D-AA68-D214-A3F6-94497F631CDB}"/>
              </a:ext>
            </a:extLst>
          </p:cNvPr>
          <p:cNvSpPr>
            <a:spLocks noGrp="1"/>
          </p:cNvSpPr>
          <p:nvPr>
            <p:ph idx="1"/>
          </p:nvPr>
        </p:nvSpPr>
        <p:spPr>
          <a:xfrm>
            <a:off x="612646" y="2665378"/>
            <a:ext cx="6794333" cy="3643981"/>
          </a:xfrm>
        </p:spPr>
        <p:txBody>
          <a:bodyPr>
            <a:normAutofit fontScale="85000" lnSpcReduction="10000"/>
          </a:bodyPr>
          <a:lstStyle/>
          <a:p>
            <a:pPr marL="0" indent="0">
              <a:buNone/>
            </a:pPr>
            <a:r>
              <a:rPr lang="es-ES" dirty="0"/>
              <a:t>Una zona de resolución directa permite la traducción de nombres DNS en direcciones IP, así como obtener información sobre los servicios de red disponibles. </a:t>
            </a:r>
          </a:p>
          <a:p>
            <a:pPr marL="0" indent="0">
              <a:buNone/>
            </a:pPr>
            <a:r>
              <a:rPr lang="es-ES" dirty="0"/>
              <a:t>De la misma manera que los servidores DNS ofrecen la posibilidad de realizar resoluciones en las que se realiza la traducción de nombre a dirección IP, también se ofrece la posibilidad de realizar resoluciones inversas en las que se traduce de dirección IP a nombre. Para que este tipo de resoluciones pueda llevarse a cabo, es necesario que se creen zonas de resolución inversa adicionales a las ya creadas. Para IPv4 se utiliza el dominio </a:t>
            </a:r>
            <a:r>
              <a:rPr lang="es-ES" dirty="0" err="1"/>
              <a:t>in-addr.arpa</a:t>
            </a:r>
            <a:r>
              <a:rPr lang="es-ES" dirty="0"/>
              <a:t> y para IPv6 se utiliza el dominio ip6.arpa.</a:t>
            </a:r>
          </a:p>
        </p:txBody>
      </p:sp>
      <p:pic>
        <p:nvPicPr>
          <p:cNvPr id="6" name="Imagen 5">
            <a:extLst>
              <a:ext uri="{FF2B5EF4-FFF2-40B4-BE49-F238E27FC236}">
                <a16:creationId xmlns:a16="http://schemas.microsoft.com/office/drawing/2014/main" id="{967BA56D-5BFD-E34D-58CB-38EBFE47D5BA}"/>
              </a:ext>
            </a:extLst>
          </p:cNvPr>
          <p:cNvPicPr>
            <a:picLocks noChangeAspect="1"/>
          </p:cNvPicPr>
          <p:nvPr/>
        </p:nvPicPr>
        <p:blipFill>
          <a:blip r:embed="rId2"/>
          <a:stretch>
            <a:fillRect/>
          </a:stretch>
        </p:blipFill>
        <p:spPr>
          <a:xfrm>
            <a:off x="7406980" y="1880234"/>
            <a:ext cx="3924300" cy="4429125"/>
          </a:xfrm>
          <a:prstGeom prst="rect">
            <a:avLst/>
          </a:prstGeom>
        </p:spPr>
      </p:pic>
    </p:spTree>
    <p:extLst>
      <p:ext uri="{BB962C8B-B14F-4D97-AF65-F5344CB8AC3E}">
        <p14:creationId xmlns:p14="http://schemas.microsoft.com/office/powerpoint/2010/main" val="12345177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44BAFD-C694-1BD1-ADD6-AD8A61AFF6C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F6EE5AA-7B0B-359D-7546-3A5AAFC78F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B27B098-D3F5-8ED1-B64A-3F49F1E45C94}"/>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629B4644-9E35-826F-81C1-B0E357C74133}"/>
              </a:ext>
            </a:extLst>
          </p:cNvPr>
          <p:cNvSpPr txBox="1"/>
          <p:nvPr/>
        </p:nvSpPr>
        <p:spPr>
          <a:xfrm>
            <a:off x="700391" y="2081719"/>
            <a:ext cx="4621552" cy="369332"/>
          </a:xfrm>
          <a:prstGeom prst="rect">
            <a:avLst/>
          </a:prstGeom>
          <a:noFill/>
        </p:spPr>
        <p:txBody>
          <a:bodyPr wrap="square" rtlCol="0">
            <a:spAutoFit/>
          </a:bodyPr>
          <a:lstStyle/>
          <a:p>
            <a:r>
              <a:rPr lang="es-ES" dirty="0"/>
              <a:t>F) Zonas de resolución directa e inversa</a:t>
            </a:r>
          </a:p>
        </p:txBody>
      </p:sp>
      <p:sp>
        <p:nvSpPr>
          <p:cNvPr id="5" name="Marcador de contenido 4">
            <a:extLst>
              <a:ext uri="{FF2B5EF4-FFF2-40B4-BE49-F238E27FC236}">
                <a16:creationId xmlns:a16="http://schemas.microsoft.com/office/drawing/2014/main" id="{F526EB2A-DFDF-BB9E-2850-51D6ABFBB715}"/>
              </a:ext>
            </a:extLst>
          </p:cNvPr>
          <p:cNvSpPr>
            <a:spLocks noGrp="1"/>
          </p:cNvSpPr>
          <p:nvPr>
            <p:ph idx="1"/>
          </p:nvPr>
        </p:nvSpPr>
        <p:spPr>
          <a:xfrm>
            <a:off x="612647" y="2665378"/>
            <a:ext cx="7199858" cy="3643981"/>
          </a:xfrm>
        </p:spPr>
        <p:txBody>
          <a:bodyPr>
            <a:normAutofit fontScale="85000" lnSpcReduction="10000"/>
          </a:bodyPr>
          <a:lstStyle/>
          <a:p>
            <a:pPr marL="0" indent="0">
              <a:buNone/>
            </a:pPr>
            <a:r>
              <a:rPr lang="es-ES" dirty="0"/>
              <a:t>En una búsqueda inversa IPv4, cada dirección se representa como la secuencia de números decimales correspondiente a la dirección IP en orden inverso y separados por caracteres punto (.), más el sufijo .</a:t>
            </a:r>
            <a:r>
              <a:rPr lang="es-ES" dirty="0" err="1"/>
              <a:t>in-addr.arpa</a:t>
            </a:r>
            <a:r>
              <a:rPr lang="es-ES" dirty="0"/>
              <a:t>. Por ejemplo, la dirección IPv4 13.95.0.245 se corresponderá</a:t>
            </a:r>
            <a:r>
              <a:rPr lang="it-IT" dirty="0"/>
              <a:t>con el registro PTR 245.0.95.13.in-addr. </a:t>
            </a:r>
            <a:r>
              <a:rPr lang="es-ES" dirty="0"/>
              <a:t>arpa. </a:t>
            </a:r>
          </a:p>
          <a:p>
            <a:pPr marL="0" indent="0">
              <a:buNone/>
            </a:pPr>
            <a:r>
              <a:rPr lang="es-ES" dirty="0"/>
              <a:t>En una búsqueda inversa IPv6, cada dirección se representa como la secuencia de números que representa la dirección IP en orden inverso y separados por caracteres punto (.), más el sufijo «ip6.arpa. Por ejemplo, la dirección IPv6 2001:0db8:3c4d:0015:0000:0000: 1a 2f:1a2b se corresponderá con el registro PTR b.2.a.1.f.2.a.1.0.0.0.0.0.0.0.0.5.1.0.0.d.4.c.3.8.b.d.0.1.0.0.2.ip6.arpa.</a:t>
            </a:r>
          </a:p>
          <a:p>
            <a:pPr marL="0" indent="0">
              <a:buNone/>
            </a:pPr>
            <a:endParaRPr lang="es-ES" dirty="0"/>
          </a:p>
        </p:txBody>
      </p:sp>
      <p:pic>
        <p:nvPicPr>
          <p:cNvPr id="6" name="Imagen 5">
            <a:extLst>
              <a:ext uri="{FF2B5EF4-FFF2-40B4-BE49-F238E27FC236}">
                <a16:creationId xmlns:a16="http://schemas.microsoft.com/office/drawing/2014/main" id="{05076A87-63F8-5799-8D9E-2CFA5DFE28E7}"/>
              </a:ext>
            </a:extLst>
          </p:cNvPr>
          <p:cNvPicPr>
            <a:picLocks noChangeAspect="1"/>
          </p:cNvPicPr>
          <p:nvPr/>
        </p:nvPicPr>
        <p:blipFill>
          <a:blip r:embed="rId2"/>
          <a:stretch>
            <a:fillRect/>
          </a:stretch>
        </p:blipFill>
        <p:spPr>
          <a:xfrm>
            <a:off x="7812505" y="1972393"/>
            <a:ext cx="3924300" cy="4429125"/>
          </a:xfrm>
          <a:prstGeom prst="rect">
            <a:avLst/>
          </a:prstGeom>
        </p:spPr>
      </p:pic>
    </p:spTree>
    <p:extLst>
      <p:ext uri="{BB962C8B-B14F-4D97-AF65-F5344CB8AC3E}">
        <p14:creationId xmlns:p14="http://schemas.microsoft.com/office/powerpoint/2010/main" val="29007104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988951-49B9-1FBF-9183-1C492F084DC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B5D8698-EF7E-8E92-91F1-763B1880FE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02B118A-38E0-7A30-49A7-3A294DF83CD6}"/>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FE47D47F-623C-0A17-9202-1DE195B42FC2}"/>
              </a:ext>
            </a:extLst>
          </p:cNvPr>
          <p:cNvSpPr txBox="1"/>
          <p:nvPr/>
        </p:nvSpPr>
        <p:spPr>
          <a:xfrm>
            <a:off x="700391" y="2081719"/>
            <a:ext cx="4621552" cy="369332"/>
          </a:xfrm>
          <a:prstGeom prst="rect">
            <a:avLst/>
          </a:prstGeom>
          <a:noFill/>
        </p:spPr>
        <p:txBody>
          <a:bodyPr wrap="square" rtlCol="0">
            <a:spAutoFit/>
          </a:bodyPr>
          <a:lstStyle/>
          <a:p>
            <a:r>
              <a:rPr lang="es-ES" dirty="0"/>
              <a:t>F) Zonas de resolución directa e inversa</a:t>
            </a:r>
          </a:p>
        </p:txBody>
      </p:sp>
      <p:sp>
        <p:nvSpPr>
          <p:cNvPr id="5" name="Marcador de contenido 4">
            <a:extLst>
              <a:ext uri="{FF2B5EF4-FFF2-40B4-BE49-F238E27FC236}">
                <a16:creationId xmlns:a16="http://schemas.microsoft.com/office/drawing/2014/main" id="{6C00E6EA-B45F-F866-B2CF-8453C22FB5C4}"/>
              </a:ext>
            </a:extLst>
          </p:cNvPr>
          <p:cNvSpPr>
            <a:spLocks noGrp="1"/>
          </p:cNvSpPr>
          <p:nvPr>
            <p:ph idx="1"/>
          </p:nvPr>
        </p:nvSpPr>
        <p:spPr>
          <a:xfrm>
            <a:off x="612647" y="2665378"/>
            <a:ext cx="11146216" cy="3643981"/>
          </a:xfrm>
        </p:spPr>
        <p:txBody>
          <a:bodyPr>
            <a:normAutofit/>
          </a:bodyPr>
          <a:lstStyle/>
          <a:p>
            <a:pPr marL="0" indent="0">
              <a:buNone/>
            </a:pPr>
            <a:r>
              <a:rPr lang="es-ES" dirty="0"/>
              <a:t>En la figura siguiente se muestra un ejemplo de intercambio de mensajes entre un cliente y un servidor DNS en los que se realiza una resolución directa y una resolución inversa:</a:t>
            </a:r>
          </a:p>
        </p:txBody>
      </p:sp>
      <p:pic>
        <p:nvPicPr>
          <p:cNvPr id="7" name="Imagen 6">
            <a:extLst>
              <a:ext uri="{FF2B5EF4-FFF2-40B4-BE49-F238E27FC236}">
                <a16:creationId xmlns:a16="http://schemas.microsoft.com/office/drawing/2014/main" id="{009B5C9E-1A42-651A-F328-2A68BAD2D33F}"/>
              </a:ext>
            </a:extLst>
          </p:cNvPr>
          <p:cNvPicPr>
            <a:picLocks noChangeAspect="1"/>
          </p:cNvPicPr>
          <p:nvPr/>
        </p:nvPicPr>
        <p:blipFill>
          <a:blip r:embed="rId2"/>
          <a:stretch>
            <a:fillRect/>
          </a:stretch>
        </p:blipFill>
        <p:spPr>
          <a:xfrm>
            <a:off x="1706228" y="3622680"/>
            <a:ext cx="7951119" cy="2686679"/>
          </a:xfrm>
          <a:prstGeom prst="rect">
            <a:avLst/>
          </a:prstGeom>
        </p:spPr>
      </p:pic>
    </p:spTree>
    <p:extLst>
      <p:ext uri="{BB962C8B-B14F-4D97-AF65-F5344CB8AC3E}">
        <p14:creationId xmlns:p14="http://schemas.microsoft.com/office/powerpoint/2010/main" val="4505872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0138DA-D9E3-5246-36D0-5FB7D5EC4D4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A74DE85-0737-0E9A-0C68-4F919E42E7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F37ADC5-51F8-8EEE-EE9A-A93DFE6400B2}"/>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98C0349F-53D5-E769-D9BC-BFF7127B4E3B}"/>
              </a:ext>
            </a:extLst>
          </p:cNvPr>
          <p:cNvSpPr txBox="1"/>
          <p:nvPr/>
        </p:nvSpPr>
        <p:spPr>
          <a:xfrm>
            <a:off x="700391" y="2081719"/>
            <a:ext cx="4621552" cy="369332"/>
          </a:xfrm>
          <a:prstGeom prst="rect">
            <a:avLst/>
          </a:prstGeom>
          <a:noFill/>
        </p:spPr>
        <p:txBody>
          <a:bodyPr wrap="square" rtlCol="0">
            <a:spAutoFit/>
          </a:bodyPr>
          <a:lstStyle/>
          <a:p>
            <a:r>
              <a:rPr lang="es-ES" dirty="0"/>
              <a:t>F) Zonas de resolución directa e inversa</a:t>
            </a:r>
          </a:p>
        </p:txBody>
      </p:sp>
      <p:pic>
        <p:nvPicPr>
          <p:cNvPr id="6" name="Marcador de contenido 5">
            <a:extLst>
              <a:ext uri="{FF2B5EF4-FFF2-40B4-BE49-F238E27FC236}">
                <a16:creationId xmlns:a16="http://schemas.microsoft.com/office/drawing/2014/main" id="{302EB049-7210-036C-E445-F47BE5571044}"/>
              </a:ext>
            </a:extLst>
          </p:cNvPr>
          <p:cNvPicPr>
            <a:picLocks noGrp="1" noChangeAspect="1"/>
          </p:cNvPicPr>
          <p:nvPr>
            <p:ph idx="1"/>
          </p:nvPr>
        </p:nvPicPr>
        <p:blipFill>
          <a:blip r:embed="rId2"/>
          <a:stretch>
            <a:fillRect/>
          </a:stretch>
        </p:blipFill>
        <p:spPr>
          <a:xfrm>
            <a:off x="1163882" y="2961637"/>
            <a:ext cx="9482520" cy="1786731"/>
          </a:xfrm>
          <a:prstGeom prst="rect">
            <a:avLst/>
          </a:prstGeom>
        </p:spPr>
      </p:pic>
    </p:spTree>
    <p:extLst>
      <p:ext uri="{BB962C8B-B14F-4D97-AF65-F5344CB8AC3E}">
        <p14:creationId xmlns:p14="http://schemas.microsoft.com/office/powerpoint/2010/main" val="5241799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184AF0-9C17-C860-37B7-2FE7C4E7818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EF3C6C0-DCCC-AD5E-94F3-13E5EAC7B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3AE7AED-E717-9DE9-A689-B14CB87886CC}"/>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BFB23C27-BB82-0840-7367-460B4FFCF1A0}"/>
              </a:ext>
            </a:extLst>
          </p:cNvPr>
          <p:cNvSpPr txBox="1"/>
          <p:nvPr/>
        </p:nvSpPr>
        <p:spPr>
          <a:xfrm>
            <a:off x="700391" y="2081719"/>
            <a:ext cx="6406262" cy="369332"/>
          </a:xfrm>
          <a:prstGeom prst="rect">
            <a:avLst/>
          </a:prstGeom>
          <a:noFill/>
        </p:spPr>
        <p:txBody>
          <a:bodyPr wrap="square" rtlCol="0">
            <a:spAutoFit/>
          </a:bodyPr>
          <a:lstStyle/>
          <a:p>
            <a:r>
              <a:rPr lang="es-ES" dirty="0"/>
              <a:t>G) Delegaciones, reenvíos y sugerencias de raíz DNS</a:t>
            </a:r>
          </a:p>
        </p:txBody>
      </p:sp>
      <p:sp>
        <p:nvSpPr>
          <p:cNvPr id="5" name="Marcador de contenido 4">
            <a:extLst>
              <a:ext uri="{FF2B5EF4-FFF2-40B4-BE49-F238E27FC236}">
                <a16:creationId xmlns:a16="http://schemas.microsoft.com/office/drawing/2014/main" id="{D1F7FA17-FB57-81F1-526A-422228873A97}"/>
              </a:ext>
            </a:extLst>
          </p:cNvPr>
          <p:cNvSpPr>
            <a:spLocks noGrp="1"/>
          </p:cNvSpPr>
          <p:nvPr>
            <p:ph idx="1"/>
          </p:nvPr>
        </p:nvSpPr>
        <p:spPr>
          <a:xfrm>
            <a:off x="612647" y="2775284"/>
            <a:ext cx="10653579" cy="3534076"/>
          </a:xfrm>
        </p:spPr>
        <p:txBody>
          <a:bodyPr>
            <a:normAutofit/>
          </a:bodyPr>
          <a:lstStyle/>
          <a:p>
            <a:pPr marL="0" indent="0">
              <a:buNone/>
            </a:pPr>
            <a:r>
              <a:rPr lang="es-ES" dirty="0"/>
              <a:t>Según en el apartado “B. Espacio de nombres y administración”, todo el espacio de nombres se distribuye en diferentes niveles y diferentes zonas dentro de cada nivel. Así, cuando un servidor DNS recibe una consulta, intenta resolverla utilizando la información existente en sus zonas primarias, sus zonas secundarias y su caché (siempre en este orden). Si la respuesta puede darse basándose en la información contenida en sus zonas (primarias o secundarias), esta será una respuesta autoritativa; si la información reside en su caché, será no autoritativa. </a:t>
            </a:r>
          </a:p>
        </p:txBody>
      </p:sp>
    </p:spTree>
    <p:extLst>
      <p:ext uri="{BB962C8B-B14F-4D97-AF65-F5344CB8AC3E}">
        <p14:creationId xmlns:p14="http://schemas.microsoft.com/office/powerpoint/2010/main" val="21625283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CDA08C-231B-A80C-EAD1-6621156953B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BB7AFF-AFCA-BA4A-B189-FF21006DF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BA97C08-9B90-00CD-2F2F-A29FE9187F8A}"/>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C1C7EF19-56AB-72C9-54C6-E3D6A60BAB8A}"/>
              </a:ext>
            </a:extLst>
          </p:cNvPr>
          <p:cNvSpPr txBox="1"/>
          <p:nvPr/>
        </p:nvSpPr>
        <p:spPr>
          <a:xfrm>
            <a:off x="700391" y="2081719"/>
            <a:ext cx="6406262" cy="369332"/>
          </a:xfrm>
          <a:prstGeom prst="rect">
            <a:avLst/>
          </a:prstGeom>
          <a:noFill/>
        </p:spPr>
        <p:txBody>
          <a:bodyPr wrap="square" rtlCol="0">
            <a:spAutoFit/>
          </a:bodyPr>
          <a:lstStyle/>
          <a:p>
            <a:r>
              <a:rPr lang="es-ES" dirty="0"/>
              <a:t>G) Delegaciones, reenvíos y sugerencias de raíz DNS</a:t>
            </a:r>
          </a:p>
        </p:txBody>
      </p:sp>
      <p:sp>
        <p:nvSpPr>
          <p:cNvPr id="5" name="Marcador de contenido 4">
            <a:extLst>
              <a:ext uri="{FF2B5EF4-FFF2-40B4-BE49-F238E27FC236}">
                <a16:creationId xmlns:a16="http://schemas.microsoft.com/office/drawing/2014/main" id="{C4D86B91-83EB-95B2-A875-BA64EFE66827}"/>
              </a:ext>
            </a:extLst>
          </p:cNvPr>
          <p:cNvSpPr>
            <a:spLocks noGrp="1"/>
          </p:cNvSpPr>
          <p:nvPr>
            <p:ph idx="1"/>
          </p:nvPr>
        </p:nvSpPr>
        <p:spPr>
          <a:xfrm>
            <a:off x="612647" y="2775284"/>
            <a:ext cx="10653579" cy="3534076"/>
          </a:xfrm>
        </p:spPr>
        <p:txBody>
          <a:bodyPr>
            <a:normAutofit fontScale="92500" lnSpcReduction="10000"/>
          </a:bodyPr>
          <a:lstStyle/>
          <a:p>
            <a:pPr marL="0" indent="0">
              <a:buNone/>
            </a:pPr>
            <a:r>
              <a:rPr lang="es-ES" dirty="0"/>
              <a:t>Sin embargo, es posible que la consulta sea sobre un recurso desconocido que no se encuentra en sus zonas ni en su caché:</a:t>
            </a:r>
          </a:p>
          <a:p>
            <a:pPr marL="0" indent="0">
              <a:buNone/>
            </a:pPr>
            <a:r>
              <a:rPr lang="es-ES" dirty="0"/>
              <a:t>En el caso de que el </a:t>
            </a:r>
            <a:r>
              <a:rPr lang="es-ES" b="1" dirty="0"/>
              <a:t>recurso</a:t>
            </a:r>
            <a:r>
              <a:rPr lang="es-ES" dirty="0"/>
              <a:t> esté contenido en alguna </a:t>
            </a:r>
            <a:r>
              <a:rPr lang="es-ES" b="1" dirty="0"/>
              <a:t>zona de nivel inferior </a:t>
            </a:r>
            <a:r>
              <a:rPr lang="es-ES" dirty="0"/>
              <a:t>a la zona gestionada directamente por el servidor, se deberá delegar la responsabilidad de responder sobre el servidor DNS autorizado para dicha zona (estas delegaciones se irán produciendo en orden descendente y siempre son configuraciones que se llevan a cabo sobre la zona padre, no sobre el servidor). En la figura 3.7 se puede ver este escenario ejemplo cuando el servidor DNS encargado de resolver el dominio </a:t>
            </a:r>
            <a:r>
              <a:rPr lang="es-ES" b="1" dirty="0" err="1"/>
              <a:t>ejemplo.local</a:t>
            </a:r>
            <a:r>
              <a:rPr lang="es-ES" b="1" dirty="0"/>
              <a:t> </a:t>
            </a:r>
            <a:r>
              <a:rPr lang="es-ES" dirty="0"/>
              <a:t>recibe una consulta para resolver </a:t>
            </a:r>
            <a:r>
              <a:rPr lang="es-ES" b="1" dirty="0"/>
              <a:t>pc1.subdominio.ejemplo.local</a:t>
            </a:r>
            <a:r>
              <a:rPr lang="es-ES" dirty="0"/>
              <a:t>; en este caso, se delega la responsabilidad de resolver la consulta sobre el servidor autorizado del subdominio </a:t>
            </a:r>
            <a:r>
              <a:rPr lang="es-ES" dirty="0" err="1"/>
              <a:t>subdominio.ejemplo.local</a:t>
            </a:r>
            <a:r>
              <a:rPr lang="es-ES" dirty="0"/>
              <a:t>.</a:t>
            </a:r>
          </a:p>
        </p:txBody>
      </p:sp>
    </p:spTree>
    <p:extLst>
      <p:ext uri="{BB962C8B-B14F-4D97-AF65-F5344CB8AC3E}">
        <p14:creationId xmlns:p14="http://schemas.microsoft.com/office/powerpoint/2010/main" val="62023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4ABE32-952A-2200-02D1-5A303D0A921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ED2A479-931C-4C0F-FF24-98A57ABAC4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AFF8205-0DCC-C619-B20E-A67664D080DC}"/>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1A365B5F-54F0-2758-AAFD-1EE16327E174}"/>
              </a:ext>
            </a:extLst>
          </p:cNvPr>
          <p:cNvSpPr txBox="1"/>
          <p:nvPr/>
        </p:nvSpPr>
        <p:spPr>
          <a:xfrm>
            <a:off x="700391" y="2081719"/>
            <a:ext cx="6406262" cy="369332"/>
          </a:xfrm>
          <a:prstGeom prst="rect">
            <a:avLst/>
          </a:prstGeom>
          <a:noFill/>
        </p:spPr>
        <p:txBody>
          <a:bodyPr wrap="square" rtlCol="0">
            <a:spAutoFit/>
          </a:bodyPr>
          <a:lstStyle/>
          <a:p>
            <a:r>
              <a:rPr lang="es-ES" dirty="0"/>
              <a:t>G) Delegaciones, reenvíos y sugerencias de raíz DNS</a:t>
            </a:r>
          </a:p>
        </p:txBody>
      </p:sp>
      <p:sp>
        <p:nvSpPr>
          <p:cNvPr id="5" name="Marcador de contenido 4">
            <a:extLst>
              <a:ext uri="{FF2B5EF4-FFF2-40B4-BE49-F238E27FC236}">
                <a16:creationId xmlns:a16="http://schemas.microsoft.com/office/drawing/2014/main" id="{1D3909C5-E657-8229-1169-F7BD5C812EBB}"/>
              </a:ext>
            </a:extLst>
          </p:cNvPr>
          <p:cNvSpPr>
            <a:spLocks noGrp="1"/>
          </p:cNvSpPr>
          <p:nvPr>
            <p:ph idx="1"/>
          </p:nvPr>
        </p:nvSpPr>
        <p:spPr>
          <a:xfrm>
            <a:off x="612647" y="2775284"/>
            <a:ext cx="10653579" cy="3534076"/>
          </a:xfrm>
        </p:spPr>
        <p:txBody>
          <a:bodyPr>
            <a:normAutofit/>
          </a:bodyPr>
          <a:lstStyle/>
          <a:p>
            <a:pPr marL="0" indent="0">
              <a:buNone/>
            </a:pPr>
            <a:r>
              <a:rPr lang="es-ES" dirty="0"/>
              <a:t>En el caso de que el recurso esté totalmente fuera de la zona gestionada de forma directa, y por ende también de cualquier zona de nivel inferior, deberá ser otro servidor el encargado de hacer la resolución. Es en estos casos en los que entran en juego reenvíos y las sugerencias de raíz DNS:</a:t>
            </a:r>
          </a:p>
          <a:p>
            <a:pPr marL="0" indent="0">
              <a:buNone/>
            </a:pPr>
            <a:r>
              <a:rPr lang="es-ES" dirty="0"/>
              <a:t>Si se han declarado reenviadores, será a estos a quienes se les envíe una consulta recursiva quedando a la espera de respuesta. </a:t>
            </a:r>
          </a:p>
        </p:txBody>
      </p:sp>
    </p:spTree>
    <p:extLst>
      <p:ext uri="{BB962C8B-B14F-4D97-AF65-F5344CB8AC3E}">
        <p14:creationId xmlns:p14="http://schemas.microsoft.com/office/powerpoint/2010/main" val="2221588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645F8F-A629-F59F-7BCB-6602BD80837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05B082-F260-0AD9-2694-0D1430CA6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B1D9DB4-B693-964F-94AD-70574011BBD5}"/>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04958642-D303-5C54-7445-0A3AECA95945}"/>
              </a:ext>
            </a:extLst>
          </p:cNvPr>
          <p:cNvSpPr txBox="1"/>
          <p:nvPr/>
        </p:nvSpPr>
        <p:spPr>
          <a:xfrm>
            <a:off x="700391" y="2081719"/>
            <a:ext cx="6406262" cy="369332"/>
          </a:xfrm>
          <a:prstGeom prst="rect">
            <a:avLst/>
          </a:prstGeom>
          <a:noFill/>
        </p:spPr>
        <p:txBody>
          <a:bodyPr wrap="square" rtlCol="0">
            <a:spAutoFit/>
          </a:bodyPr>
          <a:lstStyle/>
          <a:p>
            <a:r>
              <a:rPr lang="es-ES" dirty="0"/>
              <a:t>G) Delegaciones, reenvíos y sugerencias de raíz DNS</a:t>
            </a:r>
          </a:p>
        </p:txBody>
      </p:sp>
      <p:sp>
        <p:nvSpPr>
          <p:cNvPr id="5" name="Marcador de contenido 4">
            <a:extLst>
              <a:ext uri="{FF2B5EF4-FFF2-40B4-BE49-F238E27FC236}">
                <a16:creationId xmlns:a16="http://schemas.microsoft.com/office/drawing/2014/main" id="{3C96592D-B227-8E86-333C-34A8B6F4044A}"/>
              </a:ext>
            </a:extLst>
          </p:cNvPr>
          <p:cNvSpPr>
            <a:spLocks noGrp="1"/>
          </p:cNvSpPr>
          <p:nvPr>
            <p:ph idx="1"/>
          </p:nvPr>
        </p:nvSpPr>
        <p:spPr>
          <a:xfrm>
            <a:off x="612647" y="2775284"/>
            <a:ext cx="10653579" cy="3534076"/>
          </a:xfrm>
        </p:spPr>
        <p:txBody>
          <a:bodyPr>
            <a:normAutofit/>
          </a:bodyPr>
          <a:lstStyle/>
          <a:p>
            <a:pPr marL="0" indent="0">
              <a:buNone/>
            </a:pPr>
            <a:r>
              <a:rPr lang="es-ES" dirty="0"/>
              <a:t>Estos pueden ser:</a:t>
            </a:r>
          </a:p>
          <a:p>
            <a:r>
              <a:rPr lang="es-ES" dirty="0"/>
              <a:t>Absolutos: Si las consultas se reenvían directamente sin tener en cuenta el sufijo DNS del nombre de dominio buscado.</a:t>
            </a:r>
          </a:p>
          <a:p>
            <a:r>
              <a:rPr lang="es-ES" dirty="0"/>
              <a:t>Condicionales: Si las consultas se reenvían a un servidor concreto basándose en el sufijo DNS del nombre de dominio buscado.</a:t>
            </a:r>
          </a:p>
        </p:txBody>
      </p:sp>
    </p:spTree>
    <p:extLst>
      <p:ext uri="{BB962C8B-B14F-4D97-AF65-F5344CB8AC3E}">
        <p14:creationId xmlns:p14="http://schemas.microsoft.com/office/powerpoint/2010/main" val="22002427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8054B6-9372-94A5-3488-7EC6042ACB2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F615819-5E06-0383-ED1B-C1A912B5E3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D41F7BB-E635-B3B5-14D1-C4DAF95E30F1}"/>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5E1004A9-76BE-4950-1691-4E31A6D7A20B}"/>
              </a:ext>
            </a:extLst>
          </p:cNvPr>
          <p:cNvSpPr txBox="1"/>
          <p:nvPr/>
        </p:nvSpPr>
        <p:spPr>
          <a:xfrm>
            <a:off x="700391" y="2081719"/>
            <a:ext cx="6406262" cy="369332"/>
          </a:xfrm>
          <a:prstGeom prst="rect">
            <a:avLst/>
          </a:prstGeom>
          <a:noFill/>
        </p:spPr>
        <p:txBody>
          <a:bodyPr wrap="square" rtlCol="0">
            <a:spAutoFit/>
          </a:bodyPr>
          <a:lstStyle/>
          <a:p>
            <a:r>
              <a:rPr lang="es-ES" dirty="0"/>
              <a:t>G) Delegaciones, reenvíos y sugerencias de raíz DNS</a:t>
            </a:r>
          </a:p>
        </p:txBody>
      </p:sp>
      <p:sp>
        <p:nvSpPr>
          <p:cNvPr id="5" name="Marcador de contenido 4">
            <a:extLst>
              <a:ext uri="{FF2B5EF4-FFF2-40B4-BE49-F238E27FC236}">
                <a16:creationId xmlns:a16="http://schemas.microsoft.com/office/drawing/2014/main" id="{803FC11F-BEC3-726F-BECC-5649C7BF4104}"/>
              </a:ext>
            </a:extLst>
          </p:cNvPr>
          <p:cNvSpPr>
            <a:spLocks noGrp="1"/>
          </p:cNvSpPr>
          <p:nvPr>
            <p:ph idx="1"/>
          </p:nvPr>
        </p:nvSpPr>
        <p:spPr>
          <a:xfrm>
            <a:off x="612647" y="2775284"/>
            <a:ext cx="10653579" cy="3534076"/>
          </a:xfrm>
        </p:spPr>
        <p:txBody>
          <a:bodyPr>
            <a:normAutofit/>
          </a:bodyPr>
          <a:lstStyle/>
          <a:p>
            <a:pPr marL="0" indent="0">
              <a:buNone/>
            </a:pPr>
            <a:r>
              <a:rPr lang="es-ES" dirty="0"/>
              <a:t>Si no se han declarado reenviadores o si no se ha podido contactar con ellos en un periodo de tiempo determinado, se enviará una consulta iterativa a uno de los servidores DNS especificados en las sugerencias de raíz DNS. Generalmente, los servidores DNS vienen preinstalados con el método automático de consulta sugerencias de raíz DNS, aunque si se declaran reenviadores, estos tendrán prioridad sobre las sugerencias de raíz.</a:t>
            </a:r>
          </a:p>
        </p:txBody>
      </p:sp>
    </p:spTree>
    <p:extLst>
      <p:ext uri="{BB962C8B-B14F-4D97-AF65-F5344CB8AC3E}">
        <p14:creationId xmlns:p14="http://schemas.microsoft.com/office/powerpoint/2010/main" val="33282186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0B20EF-AE0C-9FE8-7345-95E41FF4FAF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BC1666A-7477-09FD-672F-07B4854F4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4BE3B35-157E-1310-05BE-3CD406B5289C}"/>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283927D8-A5E0-97CB-CC99-7275FDDE9A9F}"/>
              </a:ext>
            </a:extLst>
          </p:cNvPr>
          <p:cNvSpPr txBox="1"/>
          <p:nvPr/>
        </p:nvSpPr>
        <p:spPr>
          <a:xfrm>
            <a:off x="700391" y="2081719"/>
            <a:ext cx="6406262" cy="369332"/>
          </a:xfrm>
          <a:prstGeom prst="rect">
            <a:avLst/>
          </a:prstGeom>
          <a:noFill/>
        </p:spPr>
        <p:txBody>
          <a:bodyPr wrap="square" rtlCol="0">
            <a:spAutoFit/>
          </a:bodyPr>
          <a:lstStyle/>
          <a:p>
            <a:r>
              <a:rPr lang="es-ES" dirty="0"/>
              <a:t>G) Delegaciones, reenvíos y sugerencias de raíz DNS</a:t>
            </a:r>
          </a:p>
        </p:txBody>
      </p:sp>
      <p:sp>
        <p:nvSpPr>
          <p:cNvPr id="5" name="Marcador de contenido 4">
            <a:extLst>
              <a:ext uri="{FF2B5EF4-FFF2-40B4-BE49-F238E27FC236}">
                <a16:creationId xmlns:a16="http://schemas.microsoft.com/office/drawing/2014/main" id="{1295E266-10C5-AB94-CE9A-F4948233CE24}"/>
              </a:ext>
            </a:extLst>
          </p:cNvPr>
          <p:cNvSpPr>
            <a:spLocks noGrp="1"/>
          </p:cNvSpPr>
          <p:nvPr>
            <p:ph idx="1"/>
          </p:nvPr>
        </p:nvSpPr>
        <p:spPr>
          <a:xfrm>
            <a:off x="612647" y="2775284"/>
            <a:ext cx="5483353" cy="3534076"/>
          </a:xfrm>
        </p:spPr>
        <p:txBody>
          <a:bodyPr>
            <a:normAutofit fontScale="92500" lnSpcReduction="20000"/>
          </a:bodyPr>
          <a:lstStyle/>
          <a:p>
            <a:pPr marL="0" indent="0">
              <a:buNone/>
            </a:pPr>
            <a:r>
              <a:rPr lang="es-ES" dirty="0"/>
              <a:t>En la figura 3.7 se puede ver un escenario ejemplo con reenviadores absolutos y condicionales configurados sobre los servidores de dominio de </a:t>
            </a:r>
            <a:r>
              <a:rPr lang="es-ES" dirty="0" err="1"/>
              <a:t>ejemplo.local</a:t>
            </a:r>
            <a:r>
              <a:rPr lang="es-ES" dirty="0"/>
              <a:t> </a:t>
            </a:r>
            <a:r>
              <a:rPr lang="es-ES" dirty="0" err="1"/>
              <a:t>subdominio.ejemplo.local</a:t>
            </a:r>
            <a:r>
              <a:rPr lang="es-ES" dirty="0"/>
              <a:t>, de manera que las consultas recibidas sobre recursos por ellos desconocidos se reenvían al servidor 8.8.8.8 a excepción de aquellas que estén contenidas dentro del dominio externo.com, que se reenvían al servidor autorizado de dicho dominio (83.44.227.152).</a:t>
            </a:r>
          </a:p>
        </p:txBody>
      </p:sp>
      <p:pic>
        <p:nvPicPr>
          <p:cNvPr id="6" name="Imagen 5">
            <a:extLst>
              <a:ext uri="{FF2B5EF4-FFF2-40B4-BE49-F238E27FC236}">
                <a16:creationId xmlns:a16="http://schemas.microsoft.com/office/drawing/2014/main" id="{30ADED29-A4BC-A57F-351B-EDC22BC1474C}"/>
              </a:ext>
            </a:extLst>
          </p:cNvPr>
          <p:cNvPicPr>
            <a:picLocks noChangeAspect="1"/>
          </p:cNvPicPr>
          <p:nvPr/>
        </p:nvPicPr>
        <p:blipFill>
          <a:blip r:embed="rId2"/>
          <a:stretch>
            <a:fillRect/>
          </a:stretch>
        </p:blipFill>
        <p:spPr>
          <a:xfrm>
            <a:off x="6708647" y="2081719"/>
            <a:ext cx="5324225" cy="4390017"/>
          </a:xfrm>
          <a:prstGeom prst="rect">
            <a:avLst/>
          </a:prstGeom>
        </p:spPr>
      </p:pic>
    </p:spTree>
    <p:extLst>
      <p:ext uri="{BB962C8B-B14F-4D97-AF65-F5344CB8AC3E}">
        <p14:creationId xmlns:p14="http://schemas.microsoft.com/office/powerpoint/2010/main" val="31690404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D86E3B-6CB2-A64B-C465-AF15DC5E3D5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3324334-D2E0-1411-2D3D-9F2D0CFCBF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8330ED3-D2D0-854B-0E3E-EDBDB8CD509B}"/>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2E77C4F7-FC9B-F9BE-2EED-91285FFDCD30}"/>
              </a:ext>
            </a:extLst>
          </p:cNvPr>
          <p:cNvSpPr txBox="1"/>
          <p:nvPr/>
        </p:nvSpPr>
        <p:spPr>
          <a:xfrm>
            <a:off x="700391" y="2081719"/>
            <a:ext cx="6406262" cy="369332"/>
          </a:xfrm>
          <a:prstGeom prst="rect">
            <a:avLst/>
          </a:prstGeom>
          <a:noFill/>
        </p:spPr>
        <p:txBody>
          <a:bodyPr wrap="square" rtlCol="0">
            <a:spAutoFit/>
          </a:bodyPr>
          <a:lstStyle/>
          <a:p>
            <a:r>
              <a:rPr lang="es-ES" dirty="0"/>
              <a:t>G) Delegaciones, reenvíos y sugerencias de raíz DNS</a:t>
            </a:r>
          </a:p>
        </p:txBody>
      </p:sp>
      <p:pic>
        <p:nvPicPr>
          <p:cNvPr id="8" name="Marcador de contenido 7">
            <a:extLst>
              <a:ext uri="{FF2B5EF4-FFF2-40B4-BE49-F238E27FC236}">
                <a16:creationId xmlns:a16="http://schemas.microsoft.com/office/drawing/2014/main" id="{8F9C2881-B8D0-7475-1154-2F1316218C81}"/>
              </a:ext>
            </a:extLst>
          </p:cNvPr>
          <p:cNvPicPr>
            <a:picLocks noGrp="1" noChangeAspect="1"/>
          </p:cNvPicPr>
          <p:nvPr>
            <p:ph idx="1"/>
          </p:nvPr>
        </p:nvPicPr>
        <p:blipFill>
          <a:blip r:embed="rId2"/>
          <a:stretch>
            <a:fillRect/>
          </a:stretch>
        </p:blipFill>
        <p:spPr>
          <a:xfrm>
            <a:off x="612648" y="3487579"/>
            <a:ext cx="11032454" cy="1838742"/>
          </a:xfrm>
          <a:prstGeom prst="rect">
            <a:avLst/>
          </a:prstGeom>
        </p:spPr>
      </p:pic>
    </p:spTree>
    <p:extLst>
      <p:ext uri="{BB962C8B-B14F-4D97-AF65-F5344CB8AC3E}">
        <p14:creationId xmlns:p14="http://schemas.microsoft.com/office/powerpoint/2010/main" val="9464419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B0B11C-43D0-31D3-32D2-CB6F28F3474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5358443-02CE-A015-9BEF-BF0E4508D6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ED767F5-B907-0308-4EFD-FF53081F35DE}"/>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923B0787-6356-0EE7-F6D9-8659454D90EB}"/>
              </a:ext>
            </a:extLst>
          </p:cNvPr>
          <p:cNvSpPr txBox="1"/>
          <p:nvPr/>
        </p:nvSpPr>
        <p:spPr>
          <a:xfrm>
            <a:off x="700391" y="2081719"/>
            <a:ext cx="6406262" cy="369332"/>
          </a:xfrm>
          <a:prstGeom prst="rect">
            <a:avLst/>
          </a:prstGeom>
          <a:noFill/>
        </p:spPr>
        <p:txBody>
          <a:bodyPr wrap="square" rtlCol="0">
            <a:spAutoFit/>
          </a:bodyPr>
          <a:lstStyle/>
          <a:p>
            <a:r>
              <a:rPr lang="es-ES" dirty="0"/>
              <a:t>H) Tipos de registros</a:t>
            </a:r>
          </a:p>
        </p:txBody>
      </p:sp>
      <p:sp>
        <p:nvSpPr>
          <p:cNvPr id="5" name="Marcador de contenido 4">
            <a:extLst>
              <a:ext uri="{FF2B5EF4-FFF2-40B4-BE49-F238E27FC236}">
                <a16:creationId xmlns:a16="http://schemas.microsoft.com/office/drawing/2014/main" id="{B9915887-6473-A19D-6C38-0A5984EFE07B}"/>
              </a:ext>
            </a:extLst>
          </p:cNvPr>
          <p:cNvSpPr>
            <a:spLocks noGrp="1"/>
          </p:cNvSpPr>
          <p:nvPr>
            <p:ph idx="1"/>
          </p:nvPr>
        </p:nvSpPr>
        <p:spPr>
          <a:xfrm>
            <a:off x="612648" y="2451051"/>
            <a:ext cx="11242469" cy="3725302"/>
          </a:xfrm>
        </p:spPr>
        <p:txBody>
          <a:bodyPr/>
          <a:lstStyle/>
          <a:p>
            <a:pPr marL="0" indent="0">
              <a:buNone/>
            </a:pPr>
            <a:r>
              <a:rPr lang="es-ES" dirty="0"/>
              <a:t>Dentro de las zonas de resolución directa o inversa se pueden encontrar diferentes registros destinados a contener la información que el servidor deberá resolver. Cada Registro tiene una serie de campos en los que se almacena su información y que son los siguientes:</a:t>
            </a:r>
          </a:p>
        </p:txBody>
      </p:sp>
      <p:pic>
        <p:nvPicPr>
          <p:cNvPr id="7" name="Imagen 6">
            <a:extLst>
              <a:ext uri="{FF2B5EF4-FFF2-40B4-BE49-F238E27FC236}">
                <a16:creationId xmlns:a16="http://schemas.microsoft.com/office/drawing/2014/main" id="{249843B0-2DCF-01DA-688E-57EDC09697BA}"/>
              </a:ext>
            </a:extLst>
          </p:cNvPr>
          <p:cNvPicPr>
            <a:picLocks noChangeAspect="1"/>
          </p:cNvPicPr>
          <p:nvPr/>
        </p:nvPicPr>
        <p:blipFill>
          <a:blip r:embed="rId2"/>
          <a:stretch>
            <a:fillRect/>
          </a:stretch>
        </p:blipFill>
        <p:spPr>
          <a:xfrm>
            <a:off x="2923424" y="3631101"/>
            <a:ext cx="7429500" cy="2886075"/>
          </a:xfrm>
          <a:prstGeom prst="rect">
            <a:avLst/>
          </a:prstGeom>
        </p:spPr>
      </p:pic>
    </p:spTree>
    <p:extLst>
      <p:ext uri="{BB962C8B-B14F-4D97-AF65-F5344CB8AC3E}">
        <p14:creationId xmlns:p14="http://schemas.microsoft.com/office/powerpoint/2010/main" val="10362252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C12D19-35D6-FC93-D679-0CA4FDA880F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A6B5721-1BEB-1771-F680-566E3DAC24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73CA28A-05E9-4EB6-A8E0-819CF5BB6D0E}"/>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5BF9E699-01DB-EB1D-2CC8-2057C3BEDEDC}"/>
              </a:ext>
            </a:extLst>
          </p:cNvPr>
          <p:cNvSpPr txBox="1"/>
          <p:nvPr/>
        </p:nvSpPr>
        <p:spPr>
          <a:xfrm>
            <a:off x="700391" y="2081719"/>
            <a:ext cx="6406262" cy="369332"/>
          </a:xfrm>
          <a:prstGeom prst="rect">
            <a:avLst/>
          </a:prstGeom>
          <a:noFill/>
        </p:spPr>
        <p:txBody>
          <a:bodyPr wrap="square" rtlCol="0">
            <a:spAutoFit/>
          </a:bodyPr>
          <a:lstStyle/>
          <a:p>
            <a:r>
              <a:rPr lang="es-ES" dirty="0"/>
              <a:t>H) Tipos de registros</a:t>
            </a:r>
          </a:p>
        </p:txBody>
      </p:sp>
      <p:pic>
        <p:nvPicPr>
          <p:cNvPr id="6" name="Marcador de contenido 5">
            <a:extLst>
              <a:ext uri="{FF2B5EF4-FFF2-40B4-BE49-F238E27FC236}">
                <a16:creationId xmlns:a16="http://schemas.microsoft.com/office/drawing/2014/main" id="{76CA88B6-AA58-409F-C86C-F3BFC0B8798E}"/>
              </a:ext>
            </a:extLst>
          </p:cNvPr>
          <p:cNvPicPr>
            <a:picLocks noGrp="1" noChangeAspect="1"/>
          </p:cNvPicPr>
          <p:nvPr>
            <p:ph idx="1"/>
          </p:nvPr>
        </p:nvPicPr>
        <p:blipFill>
          <a:blip r:embed="rId2"/>
          <a:stretch>
            <a:fillRect/>
          </a:stretch>
        </p:blipFill>
        <p:spPr>
          <a:xfrm>
            <a:off x="1459956" y="2732115"/>
            <a:ext cx="9272087" cy="3349669"/>
          </a:xfrm>
          <a:prstGeom prst="rect">
            <a:avLst/>
          </a:prstGeom>
        </p:spPr>
      </p:pic>
    </p:spTree>
    <p:extLst>
      <p:ext uri="{BB962C8B-B14F-4D97-AF65-F5344CB8AC3E}">
        <p14:creationId xmlns:p14="http://schemas.microsoft.com/office/powerpoint/2010/main" val="20677553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B17099-38DA-BA06-4CC7-75AB12DF2D5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E6FFDA3-81EF-905E-C2FE-8DF260E04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6A8803E-3A59-746B-4AF3-C01C599ED6E5}"/>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D197F663-2A90-06E0-FC34-15ED01A5372F}"/>
              </a:ext>
            </a:extLst>
          </p:cNvPr>
          <p:cNvSpPr txBox="1"/>
          <p:nvPr/>
        </p:nvSpPr>
        <p:spPr>
          <a:xfrm>
            <a:off x="700391" y="2081719"/>
            <a:ext cx="6406262" cy="369332"/>
          </a:xfrm>
          <a:prstGeom prst="rect">
            <a:avLst/>
          </a:prstGeom>
          <a:noFill/>
        </p:spPr>
        <p:txBody>
          <a:bodyPr wrap="square" rtlCol="0">
            <a:spAutoFit/>
          </a:bodyPr>
          <a:lstStyle/>
          <a:p>
            <a:r>
              <a:rPr lang="es-ES" dirty="0"/>
              <a:t>H) Tipos de registros</a:t>
            </a:r>
          </a:p>
        </p:txBody>
      </p:sp>
      <p:sp>
        <p:nvSpPr>
          <p:cNvPr id="5" name="Marcador de contenido 4">
            <a:extLst>
              <a:ext uri="{FF2B5EF4-FFF2-40B4-BE49-F238E27FC236}">
                <a16:creationId xmlns:a16="http://schemas.microsoft.com/office/drawing/2014/main" id="{79F76FAA-1B08-4A6B-70C7-D4552A0A35B7}"/>
              </a:ext>
            </a:extLst>
          </p:cNvPr>
          <p:cNvSpPr>
            <a:spLocks noGrp="1"/>
          </p:cNvSpPr>
          <p:nvPr>
            <p:ph idx="1"/>
          </p:nvPr>
        </p:nvSpPr>
        <p:spPr>
          <a:xfrm>
            <a:off x="612649" y="2741669"/>
            <a:ext cx="3767188" cy="3582202"/>
          </a:xfrm>
        </p:spPr>
        <p:txBody>
          <a:bodyPr/>
          <a:lstStyle/>
          <a:p>
            <a:pPr marL="0" indent="0">
              <a:buNone/>
            </a:pPr>
            <a:r>
              <a:rPr lang="es-ES" dirty="0"/>
              <a:t>Los diferentes tipos de registro que pueden darse de alta en una zona son los mostrados en el siguiente cuadro:</a:t>
            </a:r>
          </a:p>
        </p:txBody>
      </p:sp>
      <p:pic>
        <p:nvPicPr>
          <p:cNvPr id="8" name="Imagen 7">
            <a:extLst>
              <a:ext uri="{FF2B5EF4-FFF2-40B4-BE49-F238E27FC236}">
                <a16:creationId xmlns:a16="http://schemas.microsoft.com/office/drawing/2014/main" id="{36478ED3-3FB3-7223-72AC-F726D5A33BB4}"/>
              </a:ext>
            </a:extLst>
          </p:cNvPr>
          <p:cNvPicPr>
            <a:picLocks noChangeAspect="1"/>
          </p:cNvPicPr>
          <p:nvPr/>
        </p:nvPicPr>
        <p:blipFill>
          <a:blip r:embed="rId2"/>
          <a:stretch>
            <a:fillRect/>
          </a:stretch>
        </p:blipFill>
        <p:spPr>
          <a:xfrm>
            <a:off x="5080228" y="184796"/>
            <a:ext cx="6798645" cy="6488407"/>
          </a:xfrm>
          <a:prstGeom prst="rect">
            <a:avLst/>
          </a:prstGeom>
        </p:spPr>
      </p:pic>
    </p:spTree>
    <p:extLst>
      <p:ext uri="{BB962C8B-B14F-4D97-AF65-F5344CB8AC3E}">
        <p14:creationId xmlns:p14="http://schemas.microsoft.com/office/powerpoint/2010/main" val="8125083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39DD13-D182-DC1A-8A11-247B5A82402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0A8D94-EF2B-E9C6-1257-7C81259CA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49D7FE8-7B75-A190-7585-1C928F77DEE2}"/>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E96CC9DE-38B6-57CA-7053-2A73336287CA}"/>
              </a:ext>
            </a:extLst>
          </p:cNvPr>
          <p:cNvSpPr txBox="1"/>
          <p:nvPr/>
        </p:nvSpPr>
        <p:spPr>
          <a:xfrm>
            <a:off x="700391" y="2081719"/>
            <a:ext cx="6406262" cy="369332"/>
          </a:xfrm>
          <a:prstGeom prst="rect">
            <a:avLst/>
          </a:prstGeom>
          <a:noFill/>
        </p:spPr>
        <p:txBody>
          <a:bodyPr wrap="square" rtlCol="0">
            <a:spAutoFit/>
          </a:bodyPr>
          <a:lstStyle/>
          <a:p>
            <a:r>
              <a:rPr lang="es-ES" dirty="0"/>
              <a:t>H) Tipos de registros</a:t>
            </a:r>
          </a:p>
        </p:txBody>
      </p:sp>
      <p:sp>
        <p:nvSpPr>
          <p:cNvPr id="5" name="Marcador de contenido 4">
            <a:extLst>
              <a:ext uri="{FF2B5EF4-FFF2-40B4-BE49-F238E27FC236}">
                <a16:creationId xmlns:a16="http://schemas.microsoft.com/office/drawing/2014/main" id="{28711A80-459A-C255-248F-1633E604631B}"/>
              </a:ext>
            </a:extLst>
          </p:cNvPr>
          <p:cNvSpPr>
            <a:spLocks noGrp="1"/>
          </p:cNvSpPr>
          <p:nvPr>
            <p:ph idx="1"/>
          </p:nvPr>
        </p:nvSpPr>
        <p:spPr>
          <a:xfrm>
            <a:off x="612649" y="2741669"/>
            <a:ext cx="3767188" cy="3582202"/>
          </a:xfrm>
        </p:spPr>
        <p:txBody>
          <a:bodyPr/>
          <a:lstStyle/>
          <a:p>
            <a:pPr marL="0" indent="0">
              <a:buNone/>
            </a:pPr>
            <a:r>
              <a:rPr lang="es-ES" dirty="0"/>
              <a:t>Los diferentes tipos de registro que pueden darse de alta en una zona son los mostrados en el siguiente cuadro:</a:t>
            </a:r>
          </a:p>
        </p:txBody>
      </p:sp>
      <p:pic>
        <p:nvPicPr>
          <p:cNvPr id="6" name="Imagen 5">
            <a:extLst>
              <a:ext uri="{FF2B5EF4-FFF2-40B4-BE49-F238E27FC236}">
                <a16:creationId xmlns:a16="http://schemas.microsoft.com/office/drawing/2014/main" id="{080BF0EE-7854-17F8-36A5-15C9ECB49CCD}"/>
              </a:ext>
            </a:extLst>
          </p:cNvPr>
          <p:cNvPicPr>
            <a:picLocks noChangeAspect="1"/>
          </p:cNvPicPr>
          <p:nvPr/>
        </p:nvPicPr>
        <p:blipFill>
          <a:blip r:embed="rId2"/>
          <a:stretch>
            <a:fillRect/>
          </a:stretch>
        </p:blipFill>
        <p:spPr>
          <a:xfrm>
            <a:off x="4642606" y="611665"/>
            <a:ext cx="7286625" cy="5838825"/>
          </a:xfrm>
          <a:prstGeom prst="rect">
            <a:avLst/>
          </a:prstGeom>
        </p:spPr>
      </p:pic>
    </p:spTree>
    <p:extLst>
      <p:ext uri="{BB962C8B-B14F-4D97-AF65-F5344CB8AC3E}">
        <p14:creationId xmlns:p14="http://schemas.microsoft.com/office/powerpoint/2010/main" val="33040433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8AF253-384F-DCE7-6CA6-03D4280FFBE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2D6BB36-D306-A9F0-E687-C93DA7537D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978B39A-DAAD-64C4-1B06-F79C4C9AFBF9}"/>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6B9BFAC3-D0EB-66EF-B0AD-69A52BFCC544}"/>
              </a:ext>
            </a:extLst>
          </p:cNvPr>
          <p:cNvSpPr txBox="1"/>
          <p:nvPr/>
        </p:nvSpPr>
        <p:spPr>
          <a:xfrm>
            <a:off x="700391" y="2081719"/>
            <a:ext cx="6406262" cy="369332"/>
          </a:xfrm>
          <a:prstGeom prst="rect">
            <a:avLst/>
          </a:prstGeom>
          <a:noFill/>
        </p:spPr>
        <p:txBody>
          <a:bodyPr wrap="square" rtlCol="0">
            <a:spAutoFit/>
          </a:bodyPr>
          <a:lstStyle/>
          <a:p>
            <a:r>
              <a:rPr lang="es-ES" dirty="0"/>
              <a:t>H) Tipos de registros</a:t>
            </a:r>
          </a:p>
        </p:txBody>
      </p:sp>
      <p:pic>
        <p:nvPicPr>
          <p:cNvPr id="7" name="Marcador de contenido 6">
            <a:extLst>
              <a:ext uri="{FF2B5EF4-FFF2-40B4-BE49-F238E27FC236}">
                <a16:creationId xmlns:a16="http://schemas.microsoft.com/office/drawing/2014/main" id="{F8A50350-40B4-1E2B-0CBE-8AAE00C0E7A3}"/>
              </a:ext>
            </a:extLst>
          </p:cNvPr>
          <p:cNvPicPr>
            <a:picLocks noGrp="1" noChangeAspect="1"/>
          </p:cNvPicPr>
          <p:nvPr>
            <p:ph idx="1"/>
          </p:nvPr>
        </p:nvPicPr>
        <p:blipFill>
          <a:blip r:embed="rId2"/>
          <a:stretch>
            <a:fillRect/>
          </a:stretch>
        </p:blipFill>
        <p:spPr>
          <a:xfrm>
            <a:off x="1557768" y="2939619"/>
            <a:ext cx="9410730" cy="2934662"/>
          </a:xfrm>
          <a:prstGeom prst="rect">
            <a:avLst/>
          </a:prstGeom>
        </p:spPr>
      </p:pic>
    </p:spTree>
    <p:extLst>
      <p:ext uri="{BB962C8B-B14F-4D97-AF65-F5344CB8AC3E}">
        <p14:creationId xmlns:p14="http://schemas.microsoft.com/office/powerpoint/2010/main" val="4502659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421B1B-D7B8-5CED-39FC-30CEABB74D5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A25FE36-2825-7856-2543-5276BEB8E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4CDE0F1-6572-8C28-3E1E-2814BDFE93AC}"/>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F842641B-14B5-AB51-BF2E-58C175882AF4}"/>
              </a:ext>
            </a:extLst>
          </p:cNvPr>
          <p:cNvSpPr txBox="1"/>
          <p:nvPr/>
        </p:nvSpPr>
        <p:spPr>
          <a:xfrm>
            <a:off x="700391" y="2081719"/>
            <a:ext cx="6406262" cy="369332"/>
          </a:xfrm>
          <a:prstGeom prst="rect">
            <a:avLst/>
          </a:prstGeom>
          <a:noFill/>
        </p:spPr>
        <p:txBody>
          <a:bodyPr wrap="square" rtlCol="0">
            <a:spAutoFit/>
          </a:bodyPr>
          <a:lstStyle/>
          <a:p>
            <a:r>
              <a:rPr lang="es-ES" dirty="0"/>
              <a:t>I) Actualizaciones dinámicas (DDNS)</a:t>
            </a:r>
          </a:p>
        </p:txBody>
      </p:sp>
      <p:sp>
        <p:nvSpPr>
          <p:cNvPr id="5" name="Marcador de contenido 4">
            <a:extLst>
              <a:ext uri="{FF2B5EF4-FFF2-40B4-BE49-F238E27FC236}">
                <a16:creationId xmlns:a16="http://schemas.microsoft.com/office/drawing/2014/main" id="{19F8FE9D-225E-63A0-5AE7-C811460CB7A4}"/>
              </a:ext>
            </a:extLst>
          </p:cNvPr>
          <p:cNvSpPr>
            <a:spLocks noGrp="1"/>
          </p:cNvSpPr>
          <p:nvPr>
            <p:ph idx="1"/>
          </p:nvPr>
        </p:nvSpPr>
        <p:spPr>
          <a:xfrm>
            <a:off x="612647" y="2584058"/>
            <a:ext cx="10653579" cy="3725302"/>
          </a:xfrm>
        </p:spPr>
        <p:txBody>
          <a:bodyPr>
            <a:normAutofit/>
          </a:bodyPr>
          <a:lstStyle/>
          <a:p>
            <a:pPr marL="0" indent="0">
              <a:buNone/>
            </a:pPr>
            <a:r>
              <a:rPr lang="es-ES" dirty="0"/>
              <a:t>Normalmente se asume que un servidor tiene:</a:t>
            </a:r>
          </a:p>
          <a:p>
            <a:r>
              <a:rPr lang="es-ES" dirty="0"/>
              <a:t>Una </a:t>
            </a:r>
            <a:r>
              <a:rPr lang="es-ES" b="1" dirty="0"/>
              <a:t>dirección IP fija</a:t>
            </a:r>
            <a:r>
              <a:rPr lang="es-ES" dirty="0"/>
              <a:t>, que no cambia.</a:t>
            </a:r>
          </a:p>
          <a:p>
            <a:r>
              <a:rPr lang="es-ES" dirty="0"/>
              <a:t>Un </a:t>
            </a:r>
            <a:r>
              <a:rPr lang="es-ES" b="1" dirty="0"/>
              <a:t>nombre de dominio</a:t>
            </a:r>
            <a:r>
              <a:rPr lang="es-ES" dirty="0"/>
              <a:t> que apunta siempre a esa IP.</a:t>
            </a:r>
          </a:p>
          <a:p>
            <a:pPr marL="0" indent="0">
              <a:buNone/>
            </a:pPr>
            <a:r>
              <a:rPr lang="es-ES" dirty="0"/>
              <a:t>Pero </a:t>
            </a:r>
            <a:r>
              <a:rPr lang="es-ES" b="1" dirty="0"/>
              <a:t>esto no siempre es así</a:t>
            </a:r>
            <a:r>
              <a:rPr lang="es-ES" dirty="0"/>
              <a:t>: a veces la IP del servidor cambia. Cuando eso ocurre, el nombre de dominio quedaría apuntando a una IP antigua y el servidor sería inaccesible.</a:t>
            </a:r>
          </a:p>
          <a:p>
            <a:pPr marL="0" indent="0">
              <a:buNone/>
            </a:pPr>
            <a:endParaRPr lang="es-ES" dirty="0"/>
          </a:p>
        </p:txBody>
      </p:sp>
    </p:spTree>
    <p:extLst>
      <p:ext uri="{BB962C8B-B14F-4D97-AF65-F5344CB8AC3E}">
        <p14:creationId xmlns:p14="http://schemas.microsoft.com/office/powerpoint/2010/main" val="30358210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E06F09-04A3-921B-F60D-53DD80DF902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D957316-A852-313F-CDEA-25AE0B09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78B458B-6663-0325-EC20-C4183E9E4101}"/>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5BFE5C2E-DB47-DB1B-AAFC-B090D5F4B358}"/>
              </a:ext>
            </a:extLst>
          </p:cNvPr>
          <p:cNvSpPr txBox="1"/>
          <p:nvPr/>
        </p:nvSpPr>
        <p:spPr>
          <a:xfrm>
            <a:off x="700391" y="2081719"/>
            <a:ext cx="6406262" cy="369332"/>
          </a:xfrm>
          <a:prstGeom prst="rect">
            <a:avLst/>
          </a:prstGeom>
          <a:noFill/>
        </p:spPr>
        <p:txBody>
          <a:bodyPr wrap="square" rtlCol="0">
            <a:spAutoFit/>
          </a:bodyPr>
          <a:lstStyle/>
          <a:p>
            <a:r>
              <a:rPr lang="es-ES" dirty="0"/>
              <a:t>I) Actualizaciones dinámicas (DDNS)</a:t>
            </a:r>
          </a:p>
        </p:txBody>
      </p:sp>
      <p:sp>
        <p:nvSpPr>
          <p:cNvPr id="5" name="Marcador de contenido 4">
            <a:extLst>
              <a:ext uri="{FF2B5EF4-FFF2-40B4-BE49-F238E27FC236}">
                <a16:creationId xmlns:a16="http://schemas.microsoft.com/office/drawing/2014/main" id="{C22B68AF-5551-48D3-190A-B60CCB9EACE7}"/>
              </a:ext>
            </a:extLst>
          </p:cNvPr>
          <p:cNvSpPr>
            <a:spLocks noGrp="1"/>
          </p:cNvSpPr>
          <p:nvPr>
            <p:ph idx="1"/>
          </p:nvPr>
        </p:nvSpPr>
        <p:spPr>
          <a:xfrm>
            <a:off x="612647" y="2584058"/>
            <a:ext cx="10653579" cy="3725302"/>
          </a:xfrm>
        </p:spPr>
        <p:txBody>
          <a:bodyPr>
            <a:normAutofit/>
          </a:bodyPr>
          <a:lstStyle/>
          <a:p>
            <a:pPr marL="0" indent="0">
              <a:buNone/>
            </a:pPr>
            <a:r>
              <a:rPr lang="es-ES" b="1" dirty="0"/>
              <a:t>DDNS (Dynamic DNS)</a:t>
            </a:r>
            <a:r>
              <a:rPr lang="es-ES" dirty="0"/>
              <a:t> es un mecanismo dentro del sistema DNS que permite </a:t>
            </a:r>
            <a:r>
              <a:rPr lang="es-ES" b="1" dirty="0"/>
              <a:t>actualizar automáticamente</a:t>
            </a:r>
            <a:r>
              <a:rPr lang="es-ES" dirty="0"/>
              <a:t> la relación entre un nombre de dominio y su dirección IP cuando esta cambia.</a:t>
            </a:r>
          </a:p>
          <a:p>
            <a:pPr marL="0" indent="0">
              <a:buNone/>
            </a:pPr>
            <a:r>
              <a:rPr lang="es-ES" dirty="0"/>
              <a:t>En otras palabras:</a:t>
            </a:r>
          </a:p>
          <a:p>
            <a:pPr marL="0" indent="0">
              <a:buNone/>
            </a:pPr>
            <a:r>
              <a:rPr lang="es-ES" i="1" dirty="0"/>
              <a:t>Si la IP cambia, DDNS actualiza el DNS para que el dominio siga apuntando a la IP correcta.</a:t>
            </a:r>
            <a:endParaRPr lang="es-ES" dirty="0"/>
          </a:p>
          <a:p>
            <a:pPr marL="0" indent="0">
              <a:buNone/>
            </a:pPr>
            <a:endParaRPr lang="es-ES" dirty="0"/>
          </a:p>
        </p:txBody>
      </p:sp>
    </p:spTree>
    <p:extLst>
      <p:ext uri="{BB962C8B-B14F-4D97-AF65-F5344CB8AC3E}">
        <p14:creationId xmlns:p14="http://schemas.microsoft.com/office/powerpoint/2010/main" val="37809432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7A8C03-DB61-6872-F533-B89286D7F8B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FA61AE6-A7F9-6923-5441-AA7ADA43E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611E663-DF5A-0214-2784-B73C28A730F3}"/>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3AF12AC0-55FD-3D0F-B659-2AC8FC25C724}"/>
              </a:ext>
            </a:extLst>
          </p:cNvPr>
          <p:cNvSpPr txBox="1"/>
          <p:nvPr/>
        </p:nvSpPr>
        <p:spPr>
          <a:xfrm>
            <a:off x="700391" y="2081719"/>
            <a:ext cx="6406262" cy="369332"/>
          </a:xfrm>
          <a:prstGeom prst="rect">
            <a:avLst/>
          </a:prstGeom>
          <a:noFill/>
        </p:spPr>
        <p:txBody>
          <a:bodyPr wrap="square" rtlCol="0">
            <a:spAutoFit/>
          </a:bodyPr>
          <a:lstStyle/>
          <a:p>
            <a:r>
              <a:rPr lang="es-ES" dirty="0"/>
              <a:t>I) Actualizaciones dinámicas (DDNS)</a:t>
            </a:r>
          </a:p>
        </p:txBody>
      </p:sp>
      <p:sp>
        <p:nvSpPr>
          <p:cNvPr id="5" name="Marcador de contenido 4">
            <a:extLst>
              <a:ext uri="{FF2B5EF4-FFF2-40B4-BE49-F238E27FC236}">
                <a16:creationId xmlns:a16="http://schemas.microsoft.com/office/drawing/2014/main" id="{1BF01608-E136-27C0-3B16-1AFBB82E2010}"/>
              </a:ext>
            </a:extLst>
          </p:cNvPr>
          <p:cNvSpPr>
            <a:spLocks noGrp="1"/>
          </p:cNvSpPr>
          <p:nvPr>
            <p:ph idx="1"/>
          </p:nvPr>
        </p:nvSpPr>
        <p:spPr>
          <a:xfrm>
            <a:off x="612647" y="2584058"/>
            <a:ext cx="10653579" cy="3725302"/>
          </a:xfrm>
        </p:spPr>
        <p:txBody>
          <a:bodyPr>
            <a:normAutofit fontScale="62500" lnSpcReduction="20000"/>
          </a:bodyPr>
          <a:lstStyle/>
          <a:p>
            <a:pPr marL="0" indent="0">
              <a:buNone/>
            </a:pPr>
            <a:r>
              <a:rPr lang="es-ES" dirty="0"/>
              <a:t>Ejemplo 1: Equipos dentro de una empresa</a:t>
            </a:r>
          </a:p>
          <a:p>
            <a:pPr marL="0" indent="0">
              <a:buNone/>
            </a:pPr>
            <a:r>
              <a:rPr lang="es-ES" dirty="0"/>
              <a:t>En muchas organizaciones:</a:t>
            </a:r>
          </a:p>
          <a:p>
            <a:r>
              <a:rPr lang="es-ES" dirty="0"/>
              <a:t>Los equipos obtienen su IP de forma </a:t>
            </a:r>
            <a:r>
              <a:rPr lang="es-ES" b="1" dirty="0"/>
              <a:t>dinámica</a:t>
            </a:r>
            <a:r>
              <a:rPr lang="es-ES" dirty="0"/>
              <a:t> mediante </a:t>
            </a:r>
            <a:r>
              <a:rPr lang="es-ES" b="1" dirty="0"/>
              <a:t>DHCP</a:t>
            </a:r>
            <a:r>
              <a:rPr lang="es-ES" dirty="0"/>
              <a:t>.</a:t>
            </a:r>
          </a:p>
          <a:p>
            <a:r>
              <a:rPr lang="es-ES" dirty="0"/>
              <a:t>Cada equipo podría tener también un </a:t>
            </a:r>
            <a:r>
              <a:rPr lang="es-ES" b="1" dirty="0"/>
              <a:t>nombre de dominio interno</a:t>
            </a:r>
            <a:r>
              <a:rPr lang="es-ES" dirty="0"/>
              <a:t>.</a:t>
            </a:r>
          </a:p>
          <a:p>
            <a:pPr marL="0" indent="0">
              <a:buNone/>
            </a:pPr>
            <a:r>
              <a:rPr lang="es-ES" dirty="0"/>
              <a:t>Como la IP cambia, hay que informar al DNS para que sepa la nueva dirección de cada equipo.</a:t>
            </a:r>
          </a:p>
          <a:p>
            <a:pPr marL="0" indent="0">
              <a:buNone/>
            </a:pPr>
            <a:r>
              <a:rPr lang="es-ES" dirty="0"/>
              <a:t>Esto se puede hacer:</a:t>
            </a:r>
          </a:p>
          <a:p>
            <a:r>
              <a:rPr lang="es-ES" b="1" dirty="0"/>
              <a:t>Manualmente</a:t>
            </a:r>
            <a:endParaRPr lang="es-ES" dirty="0"/>
          </a:p>
          <a:p>
            <a:pPr lvl="1"/>
            <a:r>
              <a:rPr lang="es-ES" dirty="0"/>
              <a:t>Windows: </a:t>
            </a:r>
            <a:r>
              <a:rPr lang="es-ES" dirty="0" err="1"/>
              <a:t>ipconfig</a:t>
            </a:r>
            <a:r>
              <a:rPr lang="es-ES" dirty="0"/>
              <a:t> /</a:t>
            </a:r>
            <a:r>
              <a:rPr lang="es-ES" dirty="0" err="1"/>
              <a:t>registerdns</a:t>
            </a:r>
            <a:endParaRPr lang="es-ES" dirty="0"/>
          </a:p>
          <a:p>
            <a:pPr lvl="1"/>
            <a:r>
              <a:rPr lang="es-ES" dirty="0"/>
              <a:t>Linux: </a:t>
            </a:r>
            <a:r>
              <a:rPr lang="es-ES" dirty="0" err="1"/>
              <a:t>nsupdate</a:t>
            </a:r>
            <a:endParaRPr lang="es-ES" dirty="0"/>
          </a:p>
          <a:p>
            <a:r>
              <a:rPr lang="es-ES" b="1" dirty="0"/>
              <a:t>Automáticamente desde el servidor DHCP</a:t>
            </a:r>
            <a:r>
              <a:rPr lang="es-ES" dirty="0"/>
              <a:t>, que es lo más práctico.</a:t>
            </a:r>
          </a:p>
          <a:p>
            <a:pPr marL="0" indent="0">
              <a:buNone/>
            </a:pPr>
            <a:r>
              <a:rPr lang="es-ES" dirty="0"/>
              <a:t>La forma en que DHCP actualiza el DNS está definida en la </a:t>
            </a:r>
            <a:r>
              <a:rPr lang="es-ES" b="1" dirty="0"/>
              <a:t>RFC 2136</a:t>
            </a:r>
            <a:r>
              <a:rPr lang="es-ES" dirty="0"/>
              <a:t>, que describe el protocolo de actualización dinámica de DNS.</a:t>
            </a:r>
          </a:p>
          <a:p>
            <a:pPr marL="0" indent="0">
              <a:buNone/>
            </a:pPr>
            <a:endParaRPr lang="es-ES" dirty="0"/>
          </a:p>
          <a:p>
            <a:pPr marL="0" indent="0">
              <a:buNone/>
            </a:pPr>
            <a:endParaRPr lang="es-ES" dirty="0"/>
          </a:p>
        </p:txBody>
      </p:sp>
    </p:spTree>
    <p:extLst>
      <p:ext uri="{BB962C8B-B14F-4D97-AF65-F5344CB8AC3E}">
        <p14:creationId xmlns:p14="http://schemas.microsoft.com/office/powerpoint/2010/main" val="13045490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045471-1531-9161-DACC-66192267258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9A60F1-269B-B1FB-5FE4-E02C668F6A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6E9AAA7-C5F7-7698-5594-065373F7EDF1}"/>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3DB6EC01-0D87-31CD-E4FB-C037FF1D787E}"/>
              </a:ext>
            </a:extLst>
          </p:cNvPr>
          <p:cNvSpPr txBox="1"/>
          <p:nvPr/>
        </p:nvSpPr>
        <p:spPr>
          <a:xfrm>
            <a:off x="700391" y="2081719"/>
            <a:ext cx="6406262" cy="369332"/>
          </a:xfrm>
          <a:prstGeom prst="rect">
            <a:avLst/>
          </a:prstGeom>
          <a:noFill/>
        </p:spPr>
        <p:txBody>
          <a:bodyPr wrap="square" rtlCol="0">
            <a:spAutoFit/>
          </a:bodyPr>
          <a:lstStyle/>
          <a:p>
            <a:r>
              <a:rPr lang="es-ES" dirty="0"/>
              <a:t>I) Actualizaciones dinámicas (DDNS)</a:t>
            </a:r>
          </a:p>
        </p:txBody>
      </p:sp>
      <p:sp>
        <p:nvSpPr>
          <p:cNvPr id="5" name="Marcador de contenido 4">
            <a:extLst>
              <a:ext uri="{FF2B5EF4-FFF2-40B4-BE49-F238E27FC236}">
                <a16:creationId xmlns:a16="http://schemas.microsoft.com/office/drawing/2014/main" id="{19C98F2D-B59D-6D9E-D7A9-2DDD564C8720}"/>
              </a:ext>
            </a:extLst>
          </p:cNvPr>
          <p:cNvSpPr>
            <a:spLocks noGrp="1"/>
          </p:cNvSpPr>
          <p:nvPr>
            <p:ph idx="1"/>
          </p:nvPr>
        </p:nvSpPr>
        <p:spPr>
          <a:xfrm>
            <a:off x="612647" y="2584058"/>
            <a:ext cx="10653579" cy="3725302"/>
          </a:xfrm>
        </p:spPr>
        <p:txBody>
          <a:bodyPr>
            <a:normAutofit fontScale="70000" lnSpcReduction="20000"/>
          </a:bodyPr>
          <a:lstStyle/>
          <a:p>
            <a:pPr marL="0" indent="0">
              <a:buNone/>
            </a:pPr>
            <a:r>
              <a:rPr lang="es-ES" dirty="0"/>
              <a:t>Ejemplo 2: Servidor en una casa usando una IP publica dinámica </a:t>
            </a:r>
          </a:p>
          <a:p>
            <a:pPr marL="0" indent="0">
              <a:buNone/>
            </a:pPr>
            <a:r>
              <a:rPr lang="es-ES" dirty="0"/>
              <a:t>En los hogares:</a:t>
            </a:r>
          </a:p>
          <a:p>
            <a:r>
              <a:rPr lang="es-ES" dirty="0"/>
              <a:t>El </a:t>
            </a:r>
            <a:r>
              <a:rPr lang="es-ES" dirty="0" err="1"/>
              <a:t>router</a:t>
            </a:r>
            <a:r>
              <a:rPr lang="es-ES" dirty="0"/>
              <a:t> suele tener una </a:t>
            </a:r>
            <a:r>
              <a:rPr lang="es-ES" b="1" dirty="0"/>
              <a:t>IP pública dinámica</a:t>
            </a:r>
            <a:r>
              <a:rPr lang="es-ES" dirty="0"/>
              <a:t> (el ISP la cambia cada cierto tiempo).</a:t>
            </a:r>
          </a:p>
          <a:p>
            <a:r>
              <a:rPr lang="es-ES" dirty="0"/>
              <a:t>Si quieres montar un servidor accesible desde Internet (web, FTP, etc.), el gran problema es que </a:t>
            </a:r>
            <a:r>
              <a:rPr lang="es-ES" b="1" dirty="0"/>
              <a:t>la IP cambia</a:t>
            </a:r>
            <a:r>
              <a:rPr lang="es-ES" dirty="0"/>
              <a:t>.</a:t>
            </a:r>
          </a:p>
          <a:p>
            <a:pPr marL="0" indent="0">
              <a:buNone/>
            </a:pPr>
            <a:r>
              <a:rPr lang="es-ES" dirty="0"/>
              <a:t>Solución:</a:t>
            </a:r>
          </a:p>
          <a:p>
            <a:r>
              <a:rPr lang="es-ES" b="1" dirty="0"/>
              <a:t>Usar DDNS</a:t>
            </a:r>
            <a:r>
              <a:rPr lang="es-ES" dirty="0"/>
              <a:t>, que actualiza automáticamente un dominio (por ejemplo, tu-servidor.ddns.net) para que siempre apunte a la IP pública actual del </a:t>
            </a:r>
            <a:r>
              <a:rPr lang="es-ES" dirty="0" err="1"/>
              <a:t>router</a:t>
            </a:r>
            <a:r>
              <a:rPr lang="es-ES" dirty="0"/>
              <a:t>.</a:t>
            </a:r>
          </a:p>
          <a:p>
            <a:pPr marL="0" indent="0">
              <a:buNone/>
            </a:pPr>
            <a:r>
              <a:rPr lang="es-ES" dirty="0"/>
              <a:t>Esto permite:</a:t>
            </a:r>
          </a:p>
          <a:p>
            <a:r>
              <a:rPr lang="es-ES" dirty="0"/>
              <a:t>Acceder al servidor sin importar que la IP haya cambiado.</a:t>
            </a:r>
          </a:p>
          <a:p>
            <a:r>
              <a:rPr lang="es-ES" dirty="0"/>
              <a:t>Evitar tener que comprobar o actualizar la IP manualmente.</a:t>
            </a:r>
          </a:p>
          <a:p>
            <a:pPr marL="0" indent="0">
              <a:buNone/>
            </a:pPr>
            <a:endParaRPr lang="es-ES" dirty="0"/>
          </a:p>
          <a:p>
            <a:pPr marL="0" indent="0">
              <a:buNone/>
            </a:pPr>
            <a:endParaRPr lang="es-ES" dirty="0"/>
          </a:p>
        </p:txBody>
      </p:sp>
    </p:spTree>
    <p:extLst>
      <p:ext uri="{BB962C8B-B14F-4D97-AF65-F5344CB8AC3E}">
        <p14:creationId xmlns:p14="http://schemas.microsoft.com/office/powerpoint/2010/main" val="6428283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520587-FBFA-8B56-18F2-FB699DDDB11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D75A42D-798A-5A8E-672F-FDB0489AA7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98AECAB-1958-F694-561C-97B69FF10473}"/>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973F70BA-87D0-09A0-337A-BB023F16EB4F}"/>
              </a:ext>
            </a:extLst>
          </p:cNvPr>
          <p:cNvSpPr txBox="1"/>
          <p:nvPr/>
        </p:nvSpPr>
        <p:spPr>
          <a:xfrm>
            <a:off x="700391" y="2081719"/>
            <a:ext cx="6406262" cy="369332"/>
          </a:xfrm>
          <a:prstGeom prst="rect">
            <a:avLst/>
          </a:prstGeom>
          <a:noFill/>
        </p:spPr>
        <p:txBody>
          <a:bodyPr wrap="square" rtlCol="0">
            <a:spAutoFit/>
          </a:bodyPr>
          <a:lstStyle/>
          <a:p>
            <a:r>
              <a:rPr lang="es-ES" dirty="0"/>
              <a:t>I) Actualizaciones dinámicas (DDNS)</a:t>
            </a:r>
          </a:p>
        </p:txBody>
      </p:sp>
      <p:sp>
        <p:nvSpPr>
          <p:cNvPr id="5" name="Marcador de contenido 4">
            <a:extLst>
              <a:ext uri="{FF2B5EF4-FFF2-40B4-BE49-F238E27FC236}">
                <a16:creationId xmlns:a16="http://schemas.microsoft.com/office/drawing/2014/main" id="{ADE1AFF7-39C4-24B8-654C-E8F0CE6CCE15}"/>
              </a:ext>
            </a:extLst>
          </p:cNvPr>
          <p:cNvSpPr>
            <a:spLocks noGrp="1"/>
          </p:cNvSpPr>
          <p:nvPr>
            <p:ph idx="1"/>
          </p:nvPr>
        </p:nvSpPr>
        <p:spPr>
          <a:xfrm>
            <a:off x="612647" y="2584058"/>
            <a:ext cx="10653579" cy="3725302"/>
          </a:xfrm>
        </p:spPr>
        <p:txBody>
          <a:bodyPr>
            <a:normAutofit/>
          </a:bodyPr>
          <a:lstStyle/>
          <a:p>
            <a:pPr marL="0" indent="0">
              <a:buNone/>
            </a:pPr>
            <a:r>
              <a:rPr lang="es-ES" dirty="0"/>
              <a:t>En resumen</a:t>
            </a:r>
          </a:p>
          <a:p>
            <a:r>
              <a:rPr lang="es-ES" dirty="0"/>
              <a:t>Las </a:t>
            </a:r>
            <a:r>
              <a:rPr lang="es-ES" dirty="0" err="1"/>
              <a:t>IPs</a:t>
            </a:r>
            <a:r>
              <a:rPr lang="es-ES" dirty="0"/>
              <a:t> no siempre son fijas.</a:t>
            </a:r>
          </a:p>
          <a:p>
            <a:r>
              <a:rPr lang="es-ES" dirty="0"/>
              <a:t>Cuando una IP cambia, el nombre de dominio debe actualizarse.</a:t>
            </a:r>
          </a:p>
          <a:p>
            <a:r>
              <a:rPr lang="es-ES" dirty="0"/>
              <a:t>DDNS permite que esta actualización sea automática.</a:t>
            </a:r>
          </a:p>
          <a:p>
            <a:r>
              <a:rPr lang="es-ES" dirty="0"/>
              <a:t>Se usa tanto en redes internas (con DHCP) como en entornos domésticos para servidores accesibles desde Internet.</a:t>
            </a:r>
          </a:p>
        </p:txBody>
      </p:sp>
    </p:spTree>
    <p:extLst>
      <p:ext uri="{BB962C8B-B14F-4D97-AF65-F5344CB8AC3E}">
        <p14:creationId xmlns:p14="http://schemas.microsoft.com/office/powerpoint/2010/main" val="12635433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26031D-452D-A130-A6FE-793C50E95F0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42CF9EF-FC3A-DBC0-0AEC-63742A75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50452D2-970B-C9A8-A5B8-4CA45F145B87}"/>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DF9AA05E-091E-977D-2580-D6F6959E4395}"/>
              </a:ext>
            </a:extLst>
          </p:cNvPr>
          <p:cNvSpPr txBox="1"/>
          <p:nvPr/>
        </p:nvSpPr>
        <p:spPr>
          <a:xfrm>
            <a:off x="700391" y="2081719"/>
            <a:ext cx="6406262" cy="369332"/>
          </a:xfrm>
          <a:prstGeom prst="rect">
            <a:avLst/>
          </a:prstGeom>
          <a:noFill/>
        </p:spPr>
        <p:txBody>
          <a:bodyPr wrap="square" rtlCol="0">
            <a:spAutoFit/>
          </a:bodyPr>
          <a:lstStyle/>
          <a:p>
            <a:r>
              <a:rPr lang="es-ES" dirty="0"/>
              <a:t>J) DNS Seguro (DNSSEC)</a:t>
            </a:r>
          </a:p>
        </p:txBody>
      </p:sp>
      <p:sp>
        <p:nvSpPr>
          <p:cNvPr id="5" name="Marcador de contenido 4">
            <a:extLst>
              <a:ext uri="{FF2B5EF4-FFF2-40B4-BE49-F238E27FC236}">
                <a16:creationId xmlns:a16="http://schemas.microsoft.com/office/drawing/2014/main" id="{7BDBED57-0600-23CD-E87F-BDFABF5FC5C7}"/>
              </a:ext>
            </a:extLst>
          </p:cNvPr>
          <p:cNvSpPr>
            <a:spLocks noGrp="1"/>
          </p:cNvSpPr>
          <p:nvPr>
            <p:ph idx="1"/>
          </p:nvPr>
        </p:nvSpPr>
        <p:spPr>
          <a:xfrm>
            <a:off x="612647" y="2584058"/>
            <a:ext cx="10653579" cy="3725302"/>
          </a:xfrm>
        </p:spPr>
        <p:txBody>
          <a:bodyPr>
            <a:normAutofit fontScale="85000" lnSpcReduction="20000"/>
          </a:bodyPr>
          <a:lstStyle/>
          <a:p>
            <a:pPr marL="0" indent="0">
              <a:buNone/>
            </a:pPr>
            <a:r>
              <a:rPr lang="es-ES" b="1" dirty="0"/>
              <a:t>¿Qué es DNSSEC?</a:t>
            </a:r>
          </a:p>
          <a:p>
            <a:pPr marL="0" indent="0">
              <a:buNone/>
            </a:pPr>
            <a:r>
              <a:rPr lang="es-ES" b="1" dirty="0"/>
              <a:t>DNSSEC</a:t>
            </a:r>
            <a:r>
              <a:rPr lang="es-ES" dirty="0"/>
              <a:t> (</a:t>
            </a:r>
            <a:r>
              <a:rPr lang="es-ES" dirty="0" err="1"/>
              <a:t>Domain</a:t>
            </a:r>
            <a:r>
              <a:rPr lang="es-ES" dirty="0"/>
              <a:t> </a:t>
            </a:r>
            <a:r>
              <a:rPr lang="es-ES" dirty="0" err="1"/>
              <a:t>Name</a:t>
            </a:r>
            <a:r>
              <a:rPr lang="es-ES" dirty="0"/>
              <a:t> </a:t>
            </a:r>
            <a:r>
              <a:rPr lang="es-ES" dirty="0" err="1"/>
              <a:t>System</a:t>
            </a:r>
            <a:r>
              <a:rPr lang="es-ES" dirty="0"/>
              <a:t> Security </a:t>
            </a:r>
            <a:r>
              <a:rPr lang="es-ES" dirty="0" err="1"/>
              <a:t>Extensions</a:t>
            </a:r>
            <a:r>
              <a:rPr lang="es-ES" dirty="0"/>
              <a:t>) es una extensión de seguridad para </a:t>
            </a:r>
            <a:r>
              <a:rPr lang="es-ES" dirty="0" err="1"/>
              <a:t>DNS.Su</a:t>
            </a:r>
            <a:r>
              <a:rPr lang="es-ES" dirty="0"/>
              <a:t> objetivo principal es evitar que un atacante manipule o falsifique la información DNS.</a:t>
            </a:r>
          </a:p>
          <a:p>
            <a:pPr marL="0" indent="0">
              <a:buNone/>
            </a:pPr>
            <a:r>
              <a:rPr lang="es-ES" b="1" dirty="0"/>
              <a:t>¿Qué tipo de ataque evita?</a:t>
            </a:r>
          </a:p>
          <a:p>
            <a:pPr marL="0" indent="0">
              <a:buNone/>
            </a:pPr>
            <a:r>
              <a:rPr lang="es-ES" dirty="0"/>
              <a:t>Evita ataques como el </a:t>
            </a:r>
            <a:r>
              <a:rPr lang="es-ES" b="1" dirty="0"/>
              <a:t>envenenamiento de caché DNS (DNS cache </a:t>
            </a:r>
            <a:r>
              <a:rPr lang="es-ES" b="1" dirty="0" err="1"/>
              <a:t>poisoning</a:t>
            </a:r>
            <a:r>
              <a:rPr lang="es-ES" b="1" dirty="0"/>
              <a:t>)</a:t>
            </a:r>
            <a:r>
              <a:rPr lang="es-ES" dirty="0"/>
              <a:t>.</a:t>
            </a:r>
          </a:p>
          <a:p>
            <a:pPr marL="0" indent="0">
              <a:buNone/>
            </a:pPr>
            <a:r>
              <a:rPr lang="es-ES" dirty="0"/>
              <a:t>En este ataque:</a:t>
            </a:r>
          </a:p>
          <a:p>
            <a:pPr marL="457200" indent="-457200">
              <a:buFont typeface="+mj-lt"/>
              <a:buAutoNum type="arabicPeriod"/>
            </a:pPr>
            <a:r>
              <a:rPr lang="es-ES" dirty="0"/>
              <a:t>Un atacante envía información falsa a un servidor DNS.</a:t>
            </a:r>
          </a:p>
          <a:p>
            <a:pPr marL="457200" indent="-457200">
              <a:buFont typeface="+mj-lt"/>
              <a:buAutoNum type="arabicPeriod"/>
            </a:pPr>
            <a:r>
              <a:rPr lang="es-ES" dirty="0"/>
              <a:t>El DNS guarda temporalmente esos datos en su caché.</a:t>
            </a:r>
          </a:p>
          <a:p>
            <a:pPr marL="457200" indent="-457200">
              <a:buFont typeface="+mj-lt"/>
              <a:buAutoNum type="arabicPeriod"/>
            </a:pPr>
            <a:r>
              <a:rPr lang="es-ES" dirty="0"/>
              <a:t>Los usuarios son redirigidos a sitios falsos (por ejemplo, webs falsas que imitan bancos).</a:t>
            </a:r>
          </a:p>
          <a:p>
            <a:pPr marL="0" indent="0">
              <a:buNone/>
            </a:pPr>
            <a:r>
              <a:rPr lang="es-ES" dirty="0"/>
              <a:t>Con DNSSEC, esto es prácticamente imposible.</a:t>
            </a:r>
          </a:p>
          <a:p>
            <a:pPr marL="0" indent="0">
              <a:buNone/>
            </a:pPr>
            <a:endParaRPr lang="es-ES" dirty="0"/>
          </a:p>
        </p:txBody>
      </p:sp>
    </p:spTree>
    <p:extLst>
      <p:ext uri="{BB962C8B-B14F-4D97-AF65-F5344CB8AC3E}">
        <p14:creationId xmlns:p14="http://schemas.microsoft.com/office/powerpoint/2010/main" val="22557692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9D5936-2629-F390-0F09-3C7311BC480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D1685E4-98A2-F78C-EEE2-8C6019996C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255CFB7-652D-E194-A290-78C8818700CD}"/>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C3DE93CB-796A-331B-6DE2-D97123AABD0F}"/>
              </a:ext>
            </a:extLst>
          </p:cNvPr>
          <p:cNvSpPr txBox="1"/>
          <p:nvPr/>
        </p:nvSpPr>
        <p:spPr>
          <a:xfrm>
            <a:off x="700391" y="2081719"/>
            <a:ext cx="6406262" cy="369332"/>
          </a:xfrm>
          <a:prstGeom prst="rect">
            <a:avLst/>
          </a:prstGeom>
          <a:noFill/>
        </p:spPr>
        <p:txBody>
          <a:bodyPr wrap="square" rtlCol="0">
            <a:spAutoFit/>
          </a:bodyPr>
          <a:lstStyle/>
          <a:p>
            <a:r>
              <a:rPr lang="es-ES" dirty="0"/>
              <a:t>J) DNS Seguro (DNSSEC)</a:t>
            </a:r>
          </a:p>
        </p:txBody>
      </p:sp>
      <p:sp>
        <p:nvSpPr>
          <p:cNvPr id="5" name="Marcador de contenido 4">
            <a:extLst>
              <a:ext uri="{FF2B5EF4-FFF2-40B4-BE49-F238E27FC236}">
                <a16:creationId xmlns:a16="http://schemas.microsoft.com/office/drawing/2014/main" id="{95A0DBFD-A870-9DD8-7F96-2DC07D779D6B}"/>
              </a:ext>
            </a:extLst>
          </p:cNvPr>
          <p:cNvSpPr>
            <a:spLocks noGrp="1"/>
          </p:cNvSpPr>
          <p:nvPr>
            <p:ph idx="1"/>
          </p:nvPr>
        </p:nvSpPr>
        <p:spPr>
          <a:xfrm>
            <a:off x="612647" y="2584058"/>
            <a:ext cx="10653579" cy="3725302"/>
          </a:xfrm>
        </p:spPr>
        <p:txBody>
          <a:bodyPr>
            <a:normAutofit fontScale="70000" lnSpcReduction="20000"/>
          </a:bodyPr>
          <a:lstStyle/>
          <a:p>
            <a:pPr marL="0" indent="0">
              <a:buNone/>
            </a:pPr>
            <a:r>
              <a:rPr lang="es-ES" b="1" dirty="0"/>
              <a:t>¿Cómo protege DNSSEC?</a:t>
            </a:r>
          </a:p>
          <a:p>
            <a:pPr marL="0" indent="0">
              <a:buNone/>
            </a:pPr>
            <a:r>
              <a:rPr lang="es-ES" dirty="0"/>
              <a:t>DNSSEC asegura que los datos DNS que recibe un cliente son:</a:t>
            </a:r>
          </a:p>
          <a:p>
            <a:r>
              <a:rPr lang="es-ES" b="1" dirty="0"/>
              <a:t>Auténticos</a:t>
            </a:r>
            <a:r>
              <a:rPr lang="es-ES" dirty="0"/>
              <a:t> (provienen del servidor que dicen provenir).</a:t>
            </a:r>
          </a:p>
          <a:p>
            <a:r>
              <a:rPr lang="es-ES" b="1" dirty="0"/>
              <a:t>Íntegros</a:t>
            </a:r>
            <a:r>
              <a:rPr lang="es-ES" dirty="0"/>
              <a:t> (no han sido modificados durante el camino).</a:t>
            </a:r>
          </a:p>
          <a:p>
            <a:pPr marL="0" indent="0">
              <a:buNone/>
            </a:pPr>
            <a:r>
              <a:rPr lang="es-ES" dirty="0"/>
              <a:t>Lo hace utilizando:</a:t>
            </a:r>
            <a:br>
              <a:rPr lang="es-ES" dirty="0"/>
            </a:br>
            <a:r>
              <a:rPr lang="es-ES" dirty="0"/>
              <a:t>✔ </a:t>
            </a:r>
            <a:r>
              <a:rPr lang="es-ES" b="1" dirty="0"/>
              <a:t>Cifrado asimétrico de clave pública</a:t>
            </a:r>
            <a:br>
              <a:rPr lang="es-ES" dirty="0"/>
            </a:br>
            <a:r>
              <a:rPr lang="es-ES" dirty="0"/>
              <a:t>Esto significa que:</a:t>
            </a:r>
          </a:p>
          <a:p>
            <a:r>
              <a:rPr lang="es-ES" dirty="0"/>
              <a:t>El servidor DNS firma digitalmente sus respuestas con una </a:t>
            </a:r>
            <a:r>
              <a:rPr lang="es-ES" b="1" dirty="0"/>
              <a:t>clave privada</a:t>
            </a:r>
            <a:r>
              <a:rPr lang="es-ES" dirty="0"/>
              <a:t>.</a:t>
            </a:r>
          </a:p>
          <a:p>
            <a:r>
              <a:rPr lang="es-ES" dirty="0"/>
              <a:t>Los clientes pueden verificar esa firma con la </a:t>
            </a:r>
            <a:r>
              <a:rPr lang="es-ES" b="1" dirty="0"/>
              <a:t>clave pública</a:t>
            </a:r>
            <a:r>
              <a:rPr lang="es-ES" dirty="0"/>
              <a:t>.</a:t>
            </a:r>
          </a:p>
          <a:p>
            <a:pPr marL="0" indent="0">
              <a:buNone/>
            </a:pPr>
            <a:r>
              <a:rPr lang="es-ES" dirty="0"/>
              <a:t>Si alguien intenta modificar los datos:</a:t>
            </a:r>
            <a:br>
              <a:rPr lang="es-ES" dirty="0"/>
            </a:br>
            <a:r>
              <a:rPr lang="es-ES" dirty="0"/>
              <a:t>➡️ La verificación falla</a:t>
            </a:r>
            <a:br>
              <a:rPr lang="es-ES" dirty="0"/>
            </a:br>
            <a:r>
              <a:rPr lang="es-ES" dirty="0"/>
              <a:t>➡️ El cliente sabe que la información no es fiable.</a:t>
            </a:r>
          </a:p>
          <a:p>
            <a:pPr marL="0" indent="0">
              <a:buNone/>
            </a:pPr>
            <a:endParaRPr lang="es-ES" dirty="0"/>
          </a:p>
        </p:txBody>
      </p:sp>
    </p:spTree>
    <p:extLst>
      <p:ext uri="{BB962C8B-B14F-4D97-AF65-F5344CB8AC3E}">
        <p14:creationId xmlns:p14="http://schemas.microsoft.com/office/powerpoint/2010/main" val="42269863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3C012B-11BD-F59E-B56C-ABBB94A860B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632781-24FA-0BDA-C36B-98FD48EDF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AFAEA88-5769-94B0-E8EA-86B5D0ABD2D4}"/>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437C7266-F94D-0CF8-0C76-C2255750BACF}"/>
              </a:ext>
            </a:extLst>
          </p:cNvPr>
          <p:cNvSpPr txBox="1"/>
          <p:nvPr/>
        </p:nvSpPr>
        <p:spPr>
          <a:xfrm>
            <a:off x="700391" y="2081719"/>
            <a:ext cx="6406262" cy="369332"/>
          </a:xfrm>
          <a:prstGeom prst="rect">
            <a:avLst/>
          </a:prstGeom>
          <a:noFill/>
        </p:spPr>
        <p:txBody>
          <a:bodyPr wrap="square" rtlCol="0">
            <a:spAutoFit/>
          </a:bodyPr>
          <a:lstStyle/>
          <a:p>
            <a:r>
              <a:rPr lang="es-ES" dirty="0"/>
              <a:t>J) DNS Seguro (DNSSEC)</a:t>
            </a:r>
          </a:p>
        </p:txBody>
      </p:sp>
      <p:sp>
        <p:nvSpPr>
          <p:cNvPr id="5" name="Marcador de contenido 4">
            <a:extLst>
              <a:ext uri="{FF2B5EF4-FFF2-40B4-BE49-F238E27FC236}">
                <a16:creationId xmlns:a16="http://schemas.microsoft.com/office/drawing/2014/main" id="{B09F7791-2164-7B6B-7F86-AABD793116E9}"/>
              </a:ext>
            </a:extLst>
          </p:cNvPr>
          <p:cNvSpPr>
            <a:spLocks noGrp="1"/>
          </p:cNvSpPr>
          <p:nvPr>
            <p:ph idx="1"/>
          </p:nvPr>
        </p:nvSpPr>
        <p:spPr>
          <a:xfrm>
            <a:off x="612647" y="2584058"/>
            <a:ext cx="10653579" cy="3725302"/>
          </a:xfrm>
        </p:spPr>
        <p:txBody>
          <a:bodyPr>
            <a:normAutofit/>
          </a:bodyPr>
          <a:lstStyle/>
          <a:p>
            <a:pPr marL="0" indent="0">
              <a:buNone/>
            </a:pPr>
            <a:r>
              <a:rPr lang="es-ES" b="1" dirty="0"/>
              <a:t>¿Qué necesitan los servidores para usar DNSSEC?</a:t>
            </a:r>
          </a:p>
          <a:p>
            <a:pPr marL="0" indent="0">
              <a:buNone/>
            </a:pPr>
            <a:r>
              <a:rPr lang="es-ES" dirty="0"/>
              <a:t>Los </a:t>
            </a:r>
            <a:r>
              <a:rPr lang="es-ES" b="1" dirty="0"/>
              <a:t>servidores DNS autoritativos</a:t>
            </a:r>
            <a:r>
              <a:rPr lang="es-ES" dirty="0"/>
              <a:t> (los que contienen los datos oficiales de un dominio) deben almacenar y servir una </a:t>
            </a:r>
            <a:r>
              <a:rPr lang="es-ES" b="1" dirty="0"/>
              <a:t>versión firmada criptográficamente del dominio</a:t>
            </a:r>
            <a:r>
              <a:rPr lang="es-ES" dirty="0"/>
              <a:t>.</a:t>
            </a:r>
          </a:p>
          <a:p>
            <a:pPr marL="0" indent="0">
              <a:buNone/>
            </a:pPr>
            <a:r>
              <a:rPr lang="es-ES" dirty="0"/>
              <a:t>Esto incluye:</a:t>
            </a:r>
          </a:p>
          <a:p>
            <a:r>
              <a:rPr lang="es-ES" dirty="0"/>
              <a:t>Firmas digitales</a:t>
            </a:r>
          </a:p>
          <a:p>
            <a:r>
              <a:rPr lang="es-ES" dirty="0"/>
              <a:t>Claves públicas</a:t>
            </a:r>
          </a:p>
          <a:p>
            <a:r>
              <a:rPr lang="es-ES" dirty="0"/>
              <a:t>Registros especiales (como DNSKEY, RRSIG, DS, etc.)</a:t>
            </a:r>
          </a:p>
          <a:p>
            <a:pPr marL="0" indent="0">
              <a:buNone/>
            </a:pPr>
            <a:endParaRPr lang="es-ES" dirty="0"/>
          </a:p>
        </p:txBody>
      </p:sp>
    </p:spTree>
    <p:extLst>
      <p:ext uri="{BB962C8B-B14F-4D97-AF65-F5344CB8AC3E}">
        <p14:creationId xmlns:p14="http://schemas.microsoft.com/office/powerpoint/2010/main" val="20172195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BDB9B1-0D85-7849-B625-905B5E84557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55AE7DF-8279-35DE-C9FF-EF6F3E7D10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7369F02-88DE-3F4E-108B-B2C6DC67021E}"/>
              </a:ext>
            </a:extLst>
          </p:cNvPr>
          <p:cNvSpPr>
            <a:spLocks noGrp="1"/>
          </p:cNvSpPr>
          <p:nvPr>
            <p:ph type="title"/>
          </p:nvPr>
        </p:nvSpPr>
        <p:spPr>
          <a:xfrm>
            <a:off x="612648" y="611665"/>
            <a:ext cx="4621553" cy="1360728"/>
          </a:xfrm>
        </p:spPr>
        <p:txBody>
          <a:bodyPr anchor="b">
            <a:normAutofit/>
          </a:bodyPr>
          <a:lstStyle/>
          <a:p>
            <a:r>
              <a:rPr lang="es-ES" dirty="0"/>
              <a:t>3.3.1. Protocolo DNS</a:t>
            </a:r>
          </a:p>
        </p:txBody>
      </p:sp>
      <p:sp>
        <p:nvSpPr>
          <p:cNvPr id="4" name="CuadroTexto 3">
            <a:extLst>
              <a:ext uri="{FF2B5EF4-FFF2-40B4-BE49-F238E27FC236}">
                <a16:creationId xmlns:a16="http://schemas.microsoft.com/office/drawing/2014/main" id="{A0DF8F16-B0ED-0726-33DB-3BFE1CEE6685}"/>
              </a:ext>
            </a:extLst>
          </p:cNvPr>
          <p:cNvSpPr txBox="1"/>
          <p:nvPr/>
        </p:nvSpPr>
        <p:spPr>
          <a:xfrm>
            <a:off x="700391" y="2081719"/>
            <a:ext cx="6406262" cy="369332"/>
          </a:xfrm>
          <a:prstGeom prst="rect">
            <a:avLst/>
          </a:prstGeom>
          <a:noFill/>
        </p:spPr>
        <p:txBody>
          <a:bodyPr wrap="square" rtlCol="0">
            <a:spAutoFit/>
          </a:bodyPr>
          <a:lstStyle/>
          <a:p>
            <a:r>
              <a:rPr lang="es-ES" dirty="0"/>
              <a:t>J) DNS Seguro (DNSSEC)</a:t>
            </a:r>
          </a:p>
        </p:txBody>
      </p:sp>
      <p:sp>
        <p:nvSpPr>
          <p:cNvPr id="5" name="Marcador de contenido 4">
            <a:extLst>
              <a:ext uri="{FF2B5EF4-FFF2-40B4-BE49-F238E27FC236}">
                <a16:creationId xmlns:a16="http://schemas.microsoft.com/office/drawing/2014/main" id="{5C5DBCBE-D36D-CD9B-1AA0-E7EC366EAD95}"/>
              </a:ext>
            </a:extLst>
          </p:cNvPr>
          <p:cNvSpPr>
            <a:spLocks noGrp="1"/>
          </p:cNvSpPr>
          <p:nvPr>
            <p:ph idx="1"/>
          </p:nvPr>
        </p:nvSpPr>
        <p:spPr>
          <a:xfrm>
            <a:off x="612647" y="2584058"/>
            <a:ext cx="10653579" cy="3725302"/>
          </a:xfrm>
        </p:spPr>
        <p:txBody>
          <a:bodyPr>
            <a:normAutofit/>
          </a:bodyPr>
          <a:lstStyle/>
          <a:p>
            <a:pPr marL="0" indent="0">
              <a:buNone/>
            </a:pPr>
            <a:r>
              <a:rPr lang="es-ES" b="1" dirty="0"/>
              <a:t>¿Todos los DNS soportan DNSSEC?</a:t>
            </a:r>
          </a:p>
          <a:p>
            <a:pPr marL="0" indent="0">
              <a:buNone/>
            </a:pPr>
            <a:r>
              <a:rPr lang="es-ES" dirty="0"/>
              <a:t>No.</a:t>
            </a:r>
            <a:br>
              <a:rPr lang="es-ES" dirty="0"/>
            </a:br>
            <a:r>
              <a:rPr lang="es-ES" dirty="0"/>
              <a:t>DNSSEC requiere capacidades adicionales, así que </a:t>
            </a:r>
            <a:r>
              <a:rPr lang="es-ES" b="1" dirty="0"/>
              <a:t>no todos los servidores ni proveedores de DNS lo soportan</a:t>
            </a:r>
            <a:r>
              <a:rPr lang="es-ES" dirty="0"/>
              <a:t>.</a:t>
            </a:r>
          </a:p>
          <a:p>
            <a:pPr marL="0" indent="0">
              <a:buNone/>
            </a:pPr>
            <a:r>
              <a:rPr lang="es-ES" dirty="0"/>
              <a:t>Por eso, para usarlo necesitas:</a:t>
            </a:r>
          </a:p>
          <a:p>
            <a:r>
              <a:rPr lang="es-ES" dirty="0"/>
              <a:t>Un proveedor DNS compatible con DNSSEC</a:t>
            </a:r>
          </a:p>
          <a:p>
            <a:r>
              <a:rPr lang="es-ES" dirty="0"/>
              <a:t>O tener un servidor DNS propio configurado para ello (como BIND, </a:t>
            </a:r>
            <a:r>
              <a:rPr lang="es-ES" dirty="0" err="1"/>
              <a:t>Knot</a:t>
            </a:r>
            <a:r>
              <a:rPr lang="es-ES" dirty="0"/>
              <a:t>, </a:t>
            </a:r>
            <a:r>
              <a:rPr lang="es-ES" dirty="0" err="1"/>
              <a:t>PowerDNS</a:t>
            </a:r>
            <a:r>
              <a:rPr lang="es-ES" dirty="0"/>
              <a:t>, etc.)</a:t>
            </a:r>
          </a:p>
          <a:p>
            <a:pPr marL="0" indent="0">
              <a:buNone/>
            </a:pPr>
            <a:endParaRPr lang="es-ES" dirty="0"/>
          </a:p>
        </p:txBody>
      </p:sp>
    </p:spTree>
    <p:extLst>
      <p:ext uri="{BB962C8B-B14F-4D97-AF65-F5344CB8AC3E}">
        <p14:creationId xmlns:p14="http://schemas.microsoft.com/office/powerpoint/2010/main" val="40681193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E7BC73-2B75-A85B-DC70-95DA24FC5795}"/>
              </a:ext>
            </a:extLst>
          </p:cNvPr>
          <p:cNvSpPr>
            <a:spLocks noGrp="1"/>
          </p:cNvSpPr>
          <p:nvPr>
            <p:ph type="title"/>
          </p:nvPr>
        </p:nvSpPr>
        <p:spPr/>
        <p:txBody>
          <a:bodyPr/>
          <a:lstStyle/>
          <a:p>
            <a:r>
              <a:rPr lang="es-ES" dirty="0"/>
              <a:t>3.4. Servidor DNS</a:t>
            </a:r>
          </a:p>
        </p:txBody>
      </p:sp>
      <p:sp>
        <p:nvSpPr>
          <p:cNvPr id="3" name="Marcador de contenido 2">
            <a:extLst>
              <a:ext uri="{FF2B5EF4-FFF2-40B4-BE49-F238E27FC236}">
                <a16:creationId xmlns:a16="http://schemas.microsoft.com/office/drawing/2014/main" id="{EE8FD8AB-07FA-F6E8-7EFD-AC1F37078D05}"/>
              </a:ext>
            </a:extLst>
          </p:cNvPr>
          <p:cNvSpPr>
            <a:spLocks noGrp="1"/>
          </p:cNvSpPr>
          <p:nvPr>
            <p:ph idx="1"/>
          </p:nvPr>
        </p:nvSpPr>
        <p:spPr>
          <a:xfrm>
            <a:off x="612648" y="1715532"/>
            <a:ext cx="5258764" cy="4593828"/>
          </a:xfrm>
        </p:spPr>
        <p:txBody>
          <a:bodyPr/>
          <a:lstStyle/>
          <a:p>
            <a:pPr marL="0" indent="0">
              <a:buNone/>
            </a:pPr>
            <a:r>
              <a:rPr lang="es-ES" dirty="0"/>
              <a:t>Tal como se ha descrito en apartados previos, el servidor DNS podrá desempeñar varios roles dependiendo del origen de la información manejad, así como de su tipo. El escenario propuesto para la instalación y configuración de los servidores DNS sobre sistemas operativos Microsoft Windows y Ubuntu Linux está recogido en los cuadros siguientes y en la figura 3.7.</a:t>
            </a:r>
          </a:p>
        </p:txBody>
      </p:sp>
      <p:pic>
        <p:nvPicPr>
          <p:cNvPr id="4" name="Imagen 3">
            <a:extLst>
              <a:ext uri="{FF2B5EF4-FFF2-40B4-BE49-F238E27FC236}">
                <a16:creationId xmlns:a16="http://schemas.microsoft.com/office/drawing/2014/main" id="{06B7DB51-4D5B-B8F5-25D8-2321C34FD822}"/>
              </a:ext>
            </a:extLst>
          </p:cNvPr>
          <p:cNvPicPr>
            <a:picLocks noChangeAspect="1"/>
          </p:cNvPicPr>
          <p:nvPr/>
        </p:nvPicPr>
        <p:blipFill>
          <a:blip r:embed="rId2"/>
          <a:stretch>
            <a:fillRect/>
          </a:stretch>
        </p:blipFill>
        <p:spPr>
          <a:xfrm>
            <a:off x="6320590" y="1520245"/>
            <a:ext cx="5324225" cy="4390017"/>
          </a:xfrm>
          <a:prstGeom prst="rect">
            <a:avLst/>
          </a:prstGeom>
        </p:spPr>
      </p:pic>
    </p:spTree>
    <p:extLst>
      <p:ext uri="{BB962C8B-B14F-4D97-AF65-F5344CB8AC3E}">
        <p14:creationId xmlns:p14="http://schemas.microsoft.com/office/powerpoint/2010/main" val="1860203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96C24-C6C1-81A1-D1E7-F9C81C16436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A258BC1-14FA-1351-11A7-B610FA535AB6}"/>
              </a:ext>
            </a:extLst>
          </p:cNvPr>
          <p:cNvSpPr>
            <a:spLocks noGrp="1"/>
          </p:cNvSpPr>
          <p:nvPr>
            <p:ph type="title"/>
          </p:nvPr>
        </p:nvSpPr>
        <p:spPr/>
        <p:txBody>
          <a:bodyPr/>
          <a:lstStyle/>
          <a:p>
            <a:r>
              <a:rPr lang="es-ES" dirty="0"/>
              <a:t>3.4. Servidor DNS</a:t>
            </a:r>
          </a:p>
        </p:txBody>
      </p:sp>
      <p:pic>
        <p:nvPicPr>
          <p:cNvPr id="4" name="Imagen 3">
            <a:extLst>
              <a:ext uri="{FF2B5EF4-FFF2-40B4-BE49-F238E27FC236}">
                <a16:creationId xmlns:a16="http://schemas.microsoft.com/office/drawing/2014/main" id="{926B31A1-6893-D539-5808-DE54413D2A2F}"/>
              </a:ext>
            </a:extLst>
          </p:cNvPr>
          <p:cNvPicPr>
            <a:picLocks noChangeAspect="1"/>
          </p:cNvPicPr>
          <p:nvPr/>
        </p:nvPicPr>
        <p:blipFill>
          <a:blip r:embed="rId2"/>
          <a:stretch>
            <a:fillRect/>
          </a:stretch>
        </p:blipFill>
        <p:spPr>
          <a:xfrm>
            <a:off x="534310" y="1680898"/>
            <a:ext cx="5324225" cy="4390017"/>
          </a:xfrm>
          <a:prstGeom prst="rect">
            <a:avLst/>
          </a:prstGeom>
        </p:spPr>
      </p:pic>
      <p:pic>
        <p:nvPicPr>
          <p:cNvPr id="8" name="Imagen 7">
            <a:extLst>
              <a:ext uri="{FF2B5EF4-FFF2-40B4-BE49-F238E27FC236}">
                <a16:creationId xmlns:a16="http://schemas.microsoft.com/office/drawing/2014/main" id="{8EC744C5-1DD0-F98B-00C4-6E50FF2C3C2A}"/>
              </a:ext>
            </a:extLst>
          </p:cNvPr>
          <p:cNvPicPr>
            <a:picLocks noChangeAspect="1"/>
          </p:cNvPicPr>
          <p:nvPr/>
        </p:nvPicPr>
        <p:blipFill>
          <a:blip r:embed="rId3"/>
          <a:stretch>
            <a:fillRect/>
          </a:stretch>
        </p:blipFill>
        <p:spPr>
          <a:xfrm>
            <a:off x="6333466" y="55631"/>
            <a:ext cx="5455021" cy="6746738"/>
          </a:xfrm>
          <a:prstGeom prst="rect">
            <a:avLst/>
          </a:prstGeom>
        </p:spPr>
      </p:pic>
    </p:spTree>
    <p:extLst>
      <p:ext uri="{BB962C8B-B14F-4D97-AF65-F5344CB8AC3E}">
        <p14:creationId xmlns:p14="http://schemas.microsoft.com/office/powerpoint/2010/main" val="3080833756"/>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1642</TotalTime>
  <Words>4277</Words>
  <Application>Microsoft Office PowerPoint</Application>
  <PresentationFormat>Panorámica</PresentationFormat>
  <Paragraphs>251</Paragraphs>
  <Slides>57</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57</vt:i4>
      </vt:variant>
    </vt:vector>
  </HeadingPairs>
  <TitlesOfParts>
    <vt:vector size="60" baseType="lpstr">
      <vt:lpstr>Arial</vt:lpstr>
      <vt:lpstr>Neue Haas Grotesk Text Pro</vt:lpstr>
      <vt:lpstr>VanillaVTI</vt:lpstr>
      <vt:lpstr>Servicios de resolución de nombres</vt:lpstr>
      <vt:lpstr>3.1. Introducción</vt:lpstr>
      <vt:lpstr>3.2. Sistema de nombres planos</vt:lpstr>
      <vt:lpstr>3.3. Sistema de nombres jerárquicos </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3.3.1. Protocolo DNS</vt:lpstr>
      <vt:lpstr>3.4. Servidor DNS</vt:lpstr>
      <vt:lpstr>3.4. Servidor DNS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IRLES RIZO, MARTIN</dc:creator>
  <cp:lastModifiedBy>IRLES RIZO, MARTIN</cp:lastModifiedBy>
  <cp:revision>10</cp:revision>
  <dcterms:created xsi:type="dcterms:W3CDTF">2025-11-12T14:41:14Z</dcterms:created>
  <dcterms:modified xsi:type="dcterms:W3CDTF">2025-11-25T10:32:04Z</dcterms:modified>
</cp:coreProperties>
</file>