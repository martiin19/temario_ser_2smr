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52"/>
  </p:notesMasterIdLst>
  <p:sldIdLst>
    <p:sldId id="256" r:id="rId2"/>
    <p:sldId id="257" r:id="rId3"/>
    <p:sldId id="258" r:id="rId4"/>
    <p:sldId id="259" r:id="rId5"/>
    <p:sldId id="270" r:id="rId6"/>
    <p:sldId id="271" r:id="rId7"/>
    <p:sldId id="260" r:id="rId8"/>
    <p:sldId id="272" r:id="rId9"/>
    <p:sldId id="261" r:id="rId10"/>
    <p:sldId id="273" r:id="rId11"/>
    <p:sldId id="274" r:id="rId12"/>
    <p:sldId id="276" r:id="rId13"/>
    <p:sldId id="275" r:id="rId14"/>
    <p:sldId id="262" r:id="rId15"/>
    <p:sldId id="263" r:id="rId16"/>
    <p:sldId id="277" r:id="rId17"/>
    <p:sldId id="264" r:id="rId18"/>
    <p:sldId id="278" r:id="rId19"/>
    <p:sldId id="279" r:id="rId20"/>
    <p:sldId id="280" r:id="rId21"/>
    <p:sldId id="265" r:id="rId22"/>
    <p:sldId id="281" r:id="rId23"/>
    <p:sldId id="282" r:id="rId24"/>
    <p:sldId id="283" r:id="rId25"/>
    <p:sldId id="266" r:id="rId26"/>
    <p:sldId id="284" r:id="rId27"/>
    <p:sldId id="285" r:id="rId28"/>
    <p:sldId id="267" r:id="rId29"/>
    <p:sldId id="287" r:id="rId30"/>
    <p:sldId id="288" r:id="rId31"/>
    <p:sldId id="289" r:id="rId32"/>
    <p:sldId id="294" r:id="rId33"/>
    <p:sldId id="290" r:id="rId34"/>
    <p:sldId id="291" r:id="rId35"/>
    <p:sldId id="293" r:id="rId36"/>
    <p:sldId id="292" r:id="rId37"/>
    <p:sldId id="295" r:id="rId38"/>
    <p:sldId id="268" r:id="rId39"/>
    <p:sldId id="296" r:id="rId40"/>
    <p:sldId id="269" r:id="rId41"/>
    <p:sldId id="297" r:id="rId42"/>
    <p:sldId id="299" r:id="rId43"/>
    <p:sldId id="300" r:id="rId44"/>
    <p:sldId id="301" r:id="rId45"/>
    <p:sldId id="302" r:id="rId46"/>
    <p:sldId id="303" r:id="rId47"/>
    <p:sldId id="304" r:id="rId48"/>
    <p:sldId id="305" r:id="rId49"/>
    <p:sldId id="306" r:id="rId50"/>
    <p:sldId id="307" r:id="rId5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57D6E-7DD6-450A-BE93-CACDCC724509}" type="datetimeFigureOut">
              <a:rPr lang="es-ES" smtClean="0"/>
              <a:t>15/10/2025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4DBC2-EEC5-4063-A598-C9921137BD2C}" type="slidenum">
              <a:rPr lang="es-ES" smtClean="0"/>
              <a:t>‹Nº›</a:t>
            </a:fld>
            <a:endParaRPr lang="es-ES"/>
          </a:p>
        </p:txBody>
      </p:sp>
    </p:spTree>
    <p:extLst>
      <p:ext uri="{BB962C8B-B14F-4D97-AF65-F5344CB8AC3E}">
        <p14:creationId xmlns:p14="http://schemas.microsoft.com/office/powerpoint/2010/main" val="77437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134DBC2-EEC5-4063-A598-C9921137BD2C}" type="slidenum">
              <a:rPr lang="es-ES" smtClean="0"/>
              <a:t>20</a:t>
            </a:fld>
            <a:endParaRPr lang="es-ES"/>
          </a:p>
        </p:txBody>
      </p:sp>
    </p:spTree>
    <p:extLst>
      <p:ext uri="{BB962C8B-B14F-4D97-AF65-F5344CB8AC3E}">
        <p14:creationId xmlns:p14="http://schemas.microsoft.com/office/powerpoint/2010/main" val="1103665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134DBC2-EEC5-4063-A598-C9921137BD2C}" type="slidenum">
              <a:rPr lang="es-ES" smtClean="0"/>
              <a:t>50</a:t>
            </a:fld>
            <a:endParaRPr lang="es-ES"/>
          </a:p>
        </p:txBody>
      </p:sp>
    </p:spTree>
    <p:extLst>
      <p:ext uri="{BB962C8B-B14F-4D97-AF65-F5344CB8AC3E}">
        <p14:creationId xmlns:p14="http://schemas.microsoft.com/office/powerpoint/2010/main" val="1619356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10/15/2025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87402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10/15/2025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643977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10/15/2025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‹Nº›</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731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10/15/2025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488576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10/15/2025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919806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10/15/2025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436644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10/15/2025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48405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10/15/2025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661562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10/15/2025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92471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10/15/2025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81542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10/15/2025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‹Nº›</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3498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10/15/2025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‹Nº›</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1402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agrama&#10;&#10;El contenido generado por IA puede ser incorrecto.">
            <a:extLst>
              <a:ext uri="{FF2B5EF4-FFF2-40B4-BE49-F238E27FC236}">
                <a16:creationId xmlns:a16="http://schemas.microsoft.com/office/drawing/2014/main" id="{108A6F03-A18F-9209-F545-728763846059}"/>
              </a:ext>
            </a:extLst>
          </p:cNvPr>
          <p:cNvPicPr>
            <a:picLocks noChangeAspect="1"/>
          </p:cNvPicPr>
          <p:nvPr/>
        </p:nvPicPr>
        <p:blipFill>
          <a:blip r:embed="rId2"/>
          <a:srcRect t="29688"/>
          <a:stretch>
            <a:fillRect/>
          </a:stretch>
        </p:blipFill>
        <p:spPr>
          <a:xfrm>
            <a:off x="1" y="10"/>
            <a:ext cx="12192000" cy="6857990"/>
          </a:xfrm>
          <a:prstGeom prst="rect">
            <a:avLst/>
          </a:prstGeom>
        </p:spPr>
      </p:pic>
      <p:sp useBgFill="1">
        <p:nvSpPr>
          <p:cNvPr id="11" name="Rectangle 10">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91AF11-9A42-8DF7-F70D-9DD1F19F0EA5}"/>
              </a:ext>
            </a:extLst>
          </p:cNvPr>
          <p:cNvSpPr>
            <a:spLocks noGrp="1"/>
          </p:cNvSpPr>
          <p:nvPr>
            <p:ph type="ctrTitle"/>
          </p:nvPr>
        </p:nvSpPr>
        <p:spPr>
          <a:xfrm>
            <a:off x="898737" y="1562101"/>
            <a:ext cx="4359744" cy="2738530"/>
          </a:xfrm>
        </p:spPr>
        <p:txBody>
          <a:bodyPr anchor="t">
            <a:normAutofit/>
          </a:bodyPr>
          <a:lstStyle/>
          <a:p>
            <a:r>
              <a:rPr lang="es-ES" sz="5000" dirty="0"/>
              <a:t>1. Introducción a los servicios en red</a:t>
            </a:r>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732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B2C46F-7FDB-0982-0F03-7D7778C6D164}"/>
              </a:ext>
            </a:extLst>
          </p:cNvPr>
          <p:cNvSpPr>
            <a:spLocks noGrp="1"/>
          </p:cNvSpPr>
          <p:nvPr>
            <p:ph type="title"/>
          </p:nvPr>
        </p:nvSpPr>
        <p:spPr/>
        <p:txBody>
          <a:bodyPr/>
          <a:lstStyle/>
          <a:p>
            <a:r>
              <a:rPr lang="es-ES" dirty="0"/>
              <a:t>Objetivos</a:t>
            </a:r>
          </a:p>
        </p:txBody>
      </p:sp>
      <p:sp>
        <p:nvSpPr>
          <p:cNvPr id="3" name="Marcador de contenido 2">
            <a:extLst>
              <a:ext uri="{FF2B5EF4-FFF2-40B4-BE49-F238E27FC236}">
                <a16:creationId xmlns:a16="http://schemas.microsoft.com/office/drawing/2014/main" id="{B552D0BF-1081-A337-0FFA-7BEF209D9005}"/>
              </a:ext>
            </a:extLst>
          </p:cNvPr>
          <p:cNvSpPr>
            <a:spLocks noGrp="1"/>
          </p:cNvSpPr>
          <p:nvPr>
            <p:ph idx="1"/>
          </p:nvPr>
        </p:nvSpPr>
        <p:spPr/>
        <p:txBody>
          <a:bodyPr>
            <a:normAutofit fontScale="92500"/>
          </a:bodyPr>
          <a:lstStyle/>
          <a:p>
            <a:pPr>
              <a:buFont typeface="Wingdings" panose="05000000000000000000" pitchFamily="2" charset="2"/>
              <a:buChar char="ü"/>
            </a:pPr>
            <a:r>
              <a:rPr lang="es-ES" dirty="0"/>
              <a:t>Recordar los modelos  de red que guían los procesos de interconexión entre dispositivos.</a:t>
            </a:r>
          </a:p>
          <a:p>
            <a:pPr>
              <a:buFont typeface="Wingdings" panose="05000000000000000000" pitchFamily="2" charset="2"/>
              <a:buChar char="ü"/>
            </a:pPr>
            <a:r>
              <a:rPr lang="es-ES" dirty="0"/>
              <a:t>Conocer el concepto de servicio de red.</a:t>
            </a:r>
          </a:p>
          <a:p>
            <a:pPr>
              <a:buFont typeface="Wingdings" panose="05000000000000000000" pitchFamily="2" charset="2"/>
              <a:buChar char="ü"/>
            </a:pPr>
            <a:r>
              <a:rPr lang="es-ES" dirty="0"/>
              <a:t>Dominar los conceptos de direccionamiento sobre las dos versiones del protocolo IP para poder realizar posteriormente las configuraciones necesarias en los equipos servidor y cliente.</a:t>
            </a:r>
          </a:p>
          <a:p>
            <a:pPr>
              <a:buFont typeface="Wingdings" panose="05000000000000000000" pitchFamily="2" charset="2"/>
              <a:buChar char="ü"/>
            </a:pPr>
            <a:r>
              <a:rPr lang="es-ES" dirty="0"/>
              <a:t>Relacionar los servicios de red con los protocolos y puertos asociados.</a:t>
            </a:r>
          </a:p>
          <a:p>
            <a:pPr>
              <a:buFont typeface="Wingdings" panose="05000000000000000000" pitchFamily="2" charset="2"/>
              <a:buChar char="ü"/>
            </a:pPr>
            <a:r>
              <a:rPr lang="es-ES" dirty="0"/>
              <a:t>Adoptar una visión general de los principales servicios de red.</a:t>
            </a:r>
          </a:p>
          <a:p>
            <a:pPr>
              <a:buFont typeface="Wingdings" panose="05000000000000000000" pitchFamily="2" charset="2"/>
              <a:buChar char="ü"/>
            </a:pPr>
            <a:r>
              <a:rPr lang="es-ES" dirty="0"/>
              <a:t>Preparar los equipos con los que posteriormente se reproducirán los escenarios ejemplo de los capítulos siguientes.</a:t>
            </a:r>
          </a:p>
        </p:txBody>
      </p:sp>
    </p:spTree>
    <p:extLst>
      <p:ext uri="{BB962C8B-B14F-4D97-AF65-F5344CB8AC3E}">
        <p14:creationId xmlns:p14="http://schemas.microsoft.com/office/powerpoint/2010/main" val="209969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F39EF4-848A-A935-D6CA-60A884DBF6F2}"/>
              </a:ext>
            </a:extLst>
          </p:cNvPr>
          <p:cNvSpPr>
            <a:spLocks noGrp="1"/>
          </p:cNvSpPr>
          <p:nvPr>
            <p:ph type="title"/>
          </p:nvPr>
        </p:nvSpPr>
        <p:spPr/>
        <p:txBody>
          <a:bodyPr/>
          <a:lstStyle/>
          <a:p>
            <a:r>
              <a:rPr lang="es-ES" dirty="0"/>
              <a:t>1.1 Modelos de red</a:t>
            </a:r>
          </a:p>
        </p:txBody>
      </p:sp>
      <p:sp>
        <p:nvSpPr>
          <p:cNvPr id="3" name="Marcador de contenido 2">
            <a:extLst>
              <a:ext uri="{FF2B5EF4-FFF2-40B4-BE49-F238E27FC236}">
                <a16:creationId xmlns:a16="http://schemas.microsoft.com/office/drawing/2014/main" id="{9114A5F8-D6B6-F950-5D1F-6B8DD2E8C286}"/>
              </a:ext>
            </a:extLst>
          </p:cNvPr>
          <p:cNvSpPr>
            <a:spLocks noGrp="1"/>
          </p:cNvSpPr>
          <p:nvPr>
            <p:ph idx="1"/>
          </p:nvPr>
        </p:nvSpPr>
        <p:spPr/>
        <p:txBody>
          <a:bodyPr/>
          <a:lstStyle/>
          <a:p>
            <a:r>
              <a:rPr lang="es-ES" dirty="0"/>
              <a:t>En la década de los ochenta, las redes de comunicaciones comenzaron a crecer de forma descontrolada. Cada fabricante proponía sus protocolos de comunicación y la interoperabilidad entre dispositivos de diferente compañía era mínima, por lo que pronto comenzó a hacerse palpable la necesidad de regular este campo.</a:t>
            </a:r>
          </a:p>
          <a:p>
            <a:r>
              <a:rPr lang="es-ES" dirty="0"/>
              <a:t>La </a:t>
            </a:r>
            <a:r>
              <a:rPr lang="es-ES" b="1" i="1" dirty="0"/>
              <a:t>ISO (International Standard </a:t>
            </a:r>
            <a:r>
              <a:rPr lang="es-ES" b="1" i="1" dirty="0" err="1"/>
              <a:t>Organization</a:t>
            </a:r>
            <a:r>
              <a:rPr lang="es-ES" b="1" i="1" dirty="0"/>
              <a:t>)</a:t>
            </a:r>
            <a:r>
              <a:rPr lang="es-ES" dirty="0"/>
              <a:t> para paliar con este problema, creó el modelo </a:t>
            </a:r>
            <a:r>
              <a:rPr lang="es-ES" b="1" i="1" dirty="0"/>
              <a:t>OSI (Open </a:t>
            </a:r>
            <a:r>
              <a:rPr lang="es-ES" b="1" i="1" dirty="0" err="1"/>
              <a:t>System</a:t>
            </a:r>
            <a:r>
              <a:rPr lang="es-ES" b="1" i="1" dirty="0"/>
              <a:t> </a:t>
            </a:r>
            <a:r>
              <a:rPr lang="es-ES" b="1" i="1" dirty="0" err="1"/>
              <a:t>Interconnection</a:t>
            </a:r>
            <a:r>
              <a:rPr lang="es-ES" b="1" i="1" dirty="0"/>
              <a:t>). </a:t>
            </a:r>
            <a:r>
              <a:rPr lang="es-ES" dirty="0"/>
              <a:t>Sin embargo, fue el modelo TCP/IP, propuesto por </a:t>
            </a:r>
            <a:r>
              <a:rPr lang="es-ES" b="1" i="1" dirty="0"/>
              <a:t>la IETF (Internet </a:t>
            </a:r>
            <a:r>
              <a:rPr lang="es-ES" b="1" i="1" dirty="0" err="1"/>
              <a:t>Engineering</a:t>
            </a:r>
            <a:r>
              <a:rPr lang="es-ES" b="1" i="1" dirty="0"/>
              <a:t> </a:t>
            </a:r>
            <a:r>
              <a:rPr lang="es-ES" b="1" i="1" dirty="0" err="1"/>
              <a:t>Tank</a:t>
            </a:r>
            <a:r>
              <a:rPr lang="es-ES" b="1" i="1" dirty="0"/>
              <a:t> </a:t>
            </a:r>
            <a:r>
              <a:rPr lang="es-ES" b="1" i="1" dirty="0" err="1"/>
              <a:t>Force</a:t>
            </a:r>
            <a:r>
              <a:rPr lang="es-ES" b="1" i="1" dirty="0"/>
              <a:t>)</a:t>
            </a:r>
            <a:r>
              <a:rPr lang="es-ES" dirty="0"/>
              <a:t> antes que el modelo OSI, el que se viene utilizando tiempo atrás.</a:t>
            </a:r>
          </a:p>
        </p:txBody>
      </p:sp>
    </p:spTree>
    <p:extLst>
      <p:ext uri="{BB962C8B-B14F-4D97-AF65-F5344CB8AC3E}">
        <p14:creationId xmlns:p14="http://schemas.microsoft.com/office/powerpoint/2010/main" val="230120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8EEE5E-C6A2-2884-396D-414A83A920B7}"/>
              </a:ext>
            </a:extLst>
          </p:cNvPr>
          <p:cNvSpPr>
            <a:spLocks noGrp="1"/>
          </p:cNvSpPr>
          <p:nvPr>
            <p:ph type="title"/>
          </p:nvPr>
        </p:nvSpPr>
        <p:spPr/>
        <p:txBody>
          <a:bodyPr/>
          <a:lstStyle/>
          <a:p>
            <a:r>
              <a:rPr lang="es-ES" dirty="0"/>
              <a:t>1.1.1 Modelo OSI</a:t>
            </a:r>
          </a:p>
        </p:txBody>
      </p:sp>
      <p:pic>
        <p:nvPicPr>
          <p:cNvPr id="1028" name="Picture 4" descr="Modelo OSI | Genially">
            <a:extLst>
              <a:ext uri="{FF2B5EF4-FFF2-40B4-BE49-F238E27FC236}">
                <a16:creationId xmlns:a16="http://schemas.microsoft.com/office/drawing/2014/main" id="{726E0E27-9ECA-F81B-C2B1-B55710C5E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774858"/>
            <a:ext cx="3574966" cy="264359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2D42049B-7CDF-93BC-2120-B0F9DDA1D27F}"/>
              </a:ext>
            </a:extLst>
          </p:cNvPr>
          <p:cNvPicPr>
            <a:picLocks noChangeAspect="1"/>
          </p:cNvPicPr>
          <p:nvPr/>
        </p:nvPicPr>
        <p:blipFill>
          <a:blip r:embed="rId3"/>
          <a:stretch>
            <a:fillRect/>
          </a:stretch>
        </p:blipFill>
        <p:spPr>
          <a:xfrm>
            <a:off x="4059335" y="2468881"/>
            <a:ext cx="7996075" cy="3255545"/>
          </a:xfrm>
          <a:prstGeom prst="rect">
            <a:avLst/>
          </a:prstGeom>
        </p:spPr>
      </p:pic>
    </p:spTree>
    <p:extLst>
      <p:ext uri="{BB962C8B-B14F-4D97-AF65-F5344CB8AC3E}">
        <p14:creationId xmlns:p14="http://schemas.microsoft.com/office/powerpoint/2010/main" val="3825965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335E6-DD05-3CCD-069C-56482B1238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072561-49C5-73C0-BE55-F39CE7CDECE3}"/>
              </a:ext>
            </a:extLst>
          </p:cNvPr>
          <p:cNvSpPr>
            <a:spLocks noGrp="1"/>
          </p:cNvSpPr>
          <p:nvPr>
            <p:ph type="title"/>
          </p:nvPr>
        </p:nvSpPr>
        <p:spPr/>
        <p:txBody>
          <a:bodyPr/>
          <a:lstStyle/>
          <a:p>
            <a:r>
              <a:rPr lang="es-ES" dirty="0"/>
              <a:t>1.1.1 Modelo OSI</a:t>
            </a:r>
          </a:p>
        </p:txBody>
      </p:sp>
      <p:pic>
        <p:nvPicPr>
          <p:cNvPr id="4" name="Imagen 3">
            <a:extLst>
              <a:ext uri="{FF2B5EF4-FFF2-40B4-BE49-F238E27FC236}">
                <a16:creationId xmlns:a16="http://schemas.microsoft.com/office/drawing/2014/main" id="{BEF4529D-DC32-47CD-424C-752CEBFBE6BA}"/>
              </a:ext>
            </a:extLst>
          </p:cNvPr>
          <p:cNvPicPr>
            <a:picLocks noChangeAspect="1"/>
          </p:cNvPicPr>
          <p:nvPr/>
        </p:nvPicPr>
        <p:blipFill>
          <a:blip r:embed="rId2"/>
          <a:stretch>
            <a:fillRect/>
          </a:stretch>
        </p:blipFill>
        <p:spPr>
          <a:xfrm>
            <a:off x="660992" y="2468881"/>
            <a:ext cx="10325631" cy="3677402"/>
          </a:xfrm>
          <a:prstGeom prst="rect">
            <a:avLst/>
          </a:prstGeom>
        </p:spPr>
      </p:pic>
    </p:spTree>
    <p:extLst>
      <p:ext uri="{BB962C8B-B14F-4D97-AF65-F5344CB8AC3E}">
        <p14:creationId xmlns:p14="http://schemas.microsoft.com/office/powerpoint/2010/main" val="3505763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819D-BA90-84B2-A238-0E7F8F0BA9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DC2AC4-56AC-26C3-9F6A-2F317C357502}"/>
              </a:ext>
            </a:extLst>
          </p:cNvPr>
          <p:cNvSpPr>
            <a:spLocks noGrp="1"/>
          </p:cNvSpPr>
          <p:nvPr>
            <p:ph type="title"/>
          </p:nvPr>
        </p:nvSpPr>
        <p:spPr/>
        <p:txBody>
          <a:bodyPr/>
          <a:lstStyle/>
          <a:p>
            <a:r>
              <a:rPr lang="es-ES" dirty="0"/>
              <a:t>1.1.1 Modelo OSI</a:t>
            </a:r>
          </a:p>
        </p:txBody>
      </p:sp>
      <p:pic>
        <p:nvPicPr>
          <p:cNvPr id="5" name="Imagen 4">
            <a:extLst>
              <a:ext uri="{FF2B5EF4-FFF2-40B4-BE49-F238E27FC236}">
                <a16:creationId xmlns:a16="http://schemas.microsoft.com/office/drawing/2014/main" id="{1D4853CE-69FA-724E-3FE5-0FA161A03470}"/>
              </a:ext>
            </a:extLst>
          </p:cNvPr>
          <p:cNvPicPr>
            <a:picLocks noChangeAspect="1"/>
          </p:cNvPicPr>
          <p:nvPr/>
        </p:nvPicPr>
        <p:blipFill>
          <a:blip r:embed="rId2"/>
          <a:stretch>
            <a:fillRect/>
          </a:stretch>
        </p:blipFill>
        <p:spPr>
          <a:xfrm>
            <a:off x="2183061" y="2328111"/>
            <a:ext cx="7825878" cy="3607468"/>
          </a:xfrm>
          <a:prstGeom prst="rect">
            <a:avLst/>
          </a:prstGeom>
        </p:spPr>
      </p:pic>
    </p:spTree>
    <p:extLst>
      <p:ext uri="{BB962C8B-B14F-4D97-AF65-F5344CB8AC3E}">
        <p14:creationId xmlns:p14="http://schemas.microsoft.com/office/powerpoint/2010/main" val="342065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1F9582-2122-B516-D768-F7F7B283A95E}"/>
              </a:ext>
            </a:extLst>
          </p:cNvPr>
          <p:cNvSpPr>
            <a:spLocks noGrp="1"/>
          </p:cNvSpPr>
          <p:nvPr>
            <p:ph type="title"/>
          </p:nvPr>
        </p:nvSpPr>
        <p:spPr/>
        <p:txBody>
          <a:bodyPr/>
          <a:lstStyle/>
          <a:p>
            <a:r>
              <a:rPr lang="es-ES" dirty="0"/>
              <a:t>1.1.2 Modelo TCP/IP</a:t>
            </a:r>
          </a:p>
        </p:txBody>
      </p:sp>
      <p:pic>
        <p:nvPicPr>
          <p:cNvPr id="2050" name="Picture 2" descr="Qué es el TCP/IP?">
            <a:extLst>
              <a:ext uri="{FF2B5EF4-FFF2-40B4-BE49-F238E27FC236}">
                <a16:creationId xmlns:a16="http://schemas.microsoft.com/office/drawing/2014/main" id="{855F9705-8E30-BCE7-EF98-D357B7AF7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59" y="2495814"/>
            <a:ext cx="3435956" cy="311227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0376DD43-3A16-E57F-35F8-EBBC61087851}"/>
              </a:ext>
            </a:extLst>
          </p:cNvPr>
          <p:cNvPicPr>
            <a:picLocks noChangeAspect="1"/>
          </p:cNvPicPr>
          <p:nvPr/>
        </p:nvPicPr>
        <p:blipFill>
          <a:blip r:embed="rId3"/>
          <a:stretch>
            <a:fillRect/>
          </a:stretch>
        </p:blipFill>
        <p:spPr>
          <a:xfrm>
            <a:off x="3667219" y="3145755"/>
            <a:ext cx="8293518" cy="1661725"/>
          </a:xfrm>
          <a:prstGeom prst="rect">
            <a:avLst/>
          </a:prstGeom>
        </p:spPr>
      </p:pic>
    </p:spTree>
    <p:extLst>
      <p:ext uri="{BB962C8B-B14F-4D97-AF65-F5344CB8AC3E}">
        <p14:creationId xmlns:p14="http://schemas.microsoft.com/office/powerpoint/2010/main" val="917394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B9E3-2A7E-3A8E-DF00-618FA74717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3FC4E6-FB6C-3328-0CA9-BF2BE1B6E961}"/>
              </a:ext>
            </a:extLst>
          </p:cNvPr>
          <p:cNvSpPr>
            <a:spLocks noGrp="1"/>
          </p:cNvSpPr>
          <p:nvPr>
            <p:ph type="title"/>
          </p:nvPr>
        </p:nvSpPr>
        <p:spPr/>
        <p:txBody>
          <a:bodyPr/>
          <a:lstStyle/>
          <a:p>
            <a:r>
              <a:rPr lang="es-ES" dirty="0"/>
              <a:t>1.1.2 Modelo TCP/IP</a:t>
            </a:r>
          </a:p>
        </p:txBody>
      </p:sp>
      <p:pic>
        <p:nvPicPr>
          <p:cNvPr id="4" name="Imagen 3">
            <a:extLst>
              <a:ext uri="{FF2B5EF4-FFF2-40B4-BE49-F238E27FC236}">
                <a16:creationId xmlns:a16="http://schemas.microsoft.com/office/drawing/2014/main" id="{101C99F1-413C-312E-5258-7FD0B0FBCAF0}"/>
              </a:ext>
            </a:extLst>
          </p:cNvPr>
          <p:cNvPicPr>
            <a:picLocks noChangeAspect="1"/>
          </p:cNvPicPr>
          <p:nvPr/>
        </p:nvPicPr>
        <p:blipFill>
          <a:blip r:embed="rId2"/>
          <a:stretch>
            <a:fillRect/>
          </a:stretch>
        </p:blipFill>
        <p:spPr>
          <a:xfrm>
            <a:off x="1715451" y="2415139"/>
            <a:ext cx="8462228" cy="3947961"/>
          </a:xfrm>
          <a:prstGeom prst="rect">
            <a:avLst/>
          </a:prstGeom>
        </p:spPr>
      </p:pic>
    </p:spTree>
    <p:extLst>
      <p:ext uri="{BB962C8B-B14F-4D97-AF65-F5344CB8AC3E}">
        <p14:creationId xmlns:p14="http://schemas.microsoft.com/office/powerpoint/2010/main" val="2777025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850256E-5003-34E2-4E72-197BE00A2E99}"/>
              </a:ext>
            </a:extLst>
          </p:cNvPr>
          <p:cNvSpPr>
            <a:spLocks noGrp="1"/>
          </p:cNvSpPr>
          <p:nvPr>
            <p:ph type="title"/>
          </p:nvPr>
        </p:nvSpPr>
        <p:spPr>
          <a:xfrm>
            <a:off x="640080" y="914399"/>
            <a:ext cx="10847494" cy="1171069"/>
          </a:xfrm>
        </p:spPr>
        <p:txBody>
          <a:bodyPr anchor="t">
            <a:normAutofit/>
          </a:bodyPr>
          <a:lstStyle/>
          <a:p>
            <a:r>
              <a:rPr lang="es-ES" dirty="0"/>
              <a:t>1.2 Direccionamiento</a:t>
            </a:r>
          </a:p>
        </p:txBody>
      </p:sp>
      <p:pic>
        <p:nvPicPr>
          <p:cNvPr id="3074" name="Picture 2" descr="Calculadoraip - La capa de red explicada de manera sencilla">
            <a:extLst>
              <a:ext uri="{FF2B5EF4-FFF2-40B4-BE49-F238E27FC236}">
                <a16:creationId xmlns:a16="http://schemas.microsoft.com/office/drawing/2014/main" id="{FD28F44F-79C1-96AB-774E-A1E1E950A46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3232" y="2256287"/>
            <a:ext cx="5612626" cy="3760459"/>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043C1486-0F9B-C705-E5F9-04829439A58B}"/>
              </a:ext>
            </a:extLst>
          </p:cNvPr>
          <p:cNvSpPr>
            <a:spLocks noGrp="1"/>
          </p:cNvSpPr>
          <p:nvPr>
            <p:ph idx="1"/>
          </p:nvPr>
        </p:nvSpPr>
        <p:spPr>
          <a:xfrm>
            <a:off x="6915150" y="2256287"/>
            <a:ext cx="4563618" cy="3760459"/>
          </a:xfrm>
        </p:spPr>
        <p:txBody>
          <a:bodyPr anchor="t">
            <a:normAutofit/>
          </a:bodyPr>
          <a:lstStyle/>
          <a:p>
            <a:pPr marL="0" indent="0">
              <a:buNone/>
            </a:pPr>
            <a:r>
              <a:rPr lang="es-ES" dirty="0"/>
              <a:t>El direccionamiento es una función propia de los protocolos de la capa de red/Internet que permite la identificación y transmisión de información entre nodos, tanto si están en la misma red como en diferentes.</a:t>
            </a:r>
          </a:p>
        </p:txBody>
      </p:sp>
      <p:cxnSp>
        <p:nvCxnSpPr>
          <p:cNvPr id="3081" name="Straight Connector 308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272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9B5DE0-B2DA-0443-DC88-A764CE2E52DF}"/>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45E91B75-46CE-59F6-70BC-EA76CF7D1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7850EFB-ADA5-081E-46F3-2858B30B9404}"/>
              </a:ext>
            </a:extLst>
          </p:cNvPr>
          <p:cNvSpPr>
            <a:spLocks noGrp="1"/>
          </p:cNvSpPr>
          <p:nvPr>
            <p:ph type="title"/>
          </p:nvPr>
        </p:nvSpPr>
        <p:spPr>
          <a:xfrm>
            <a:off x="640080" y="914399"/>
            <a:ext cx="10847494" cy="1171069"/>
          </a:xfrm>
        </p:spPr>
        <p:txBody>
          <a:bodyPr anchor="t">
            <a:normAutofit/>
          </a:bodyPr>
          <a:lstStyle/>
          <a:p>
            <a:r>
              <a:rPr lang="es-ES" dirty="0"/>
              <a:t>1.2  Tipos de direccionamiento</a:t>
            </a:r>
          </a:p>
        </p:txBody>
      </p:sp>
      <p:cxnSp>
        <p:nvCxnSpPr>
          <p:cNvPr id="3081" name="Straight Connector 3080">
            <a:extLst>
              <a:ext uri="{FF2B5EF4-FFF2-40B4-BE49-F238E27FC236}">
                <a16:creationId xmlns:a16="http://schemas.microsoft.com/office/drawing/2014/main" id="{A1D0DC56-DC16-F19F-68EB-7AB9A30C6B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B4B53DAE-6863-6D2C-9E3E-07184CA147D0}"/>
              </a:ext>
            </a:extLst>
          </p:cNvPr>
          <p:cNvSpPr>
            <a:spLocks noGrp="1" noChangeArrowheads="1"/>
          </p:cNvSpPr>
          <p:nvPr>
            <p:ph idx="1"/>
          </p:nvPr>
        </p:nvSpPr>
        <p:spPr bwMode="auto">
          <a:xfrm>
            <a:off x="816543" y="2902074"/>
            <a:ext cx="640240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SzTx/>
            </a:pPr>
            <a:r>
              <a:rPr kumimoji="0" lang="es-ES" altLang="es-ES" sz="2400" b="1" i="0" u="none" strike="noStrike" cap="none" normalizeH="0" baseline="0" dirty="0">
                <a:ln>
                  <a:noFill/>
                </a:ln>
                <a:solidFill>
                  <a:schemeClr val="tx1"/>
                </a:solidFill>
                <a:effectLst/>
              </a:rPr>
              <a:t>Definición:</a:t>
            </a:r>
            <a:r>
              <a:rPr kumimoji="0" lang="es-ES" altLang="es-ES" sz="2400" b="0" i="0" u="none" strike="noStrike" cap="none" normalizeH="0" baseline="0" dirty="0">
                <a:ln>
                  <a:noFill/>
                </a:ln>
                <a:solidFill>
                  <a:schemeClr val="tx1"/>
                </a:solidFill>
                <a:effectLst/>
              </a:rPr>
              <a:t> Comunicación de </a:t>
            </a:r>
            <a:r>
              <a:rPr kumimoji="0" lang="es-ES" altLang="es-ES" sz="2400" b="1" i="0" u="none" strike="noStrike" cap="none" normalizeH="0" baseline="0" dirty="0">
                <a:ln>
                  <a:noFill/>
                </a:ln>
                <a:solidFill>
                  <a:schemeClr val="tx1"/>
                </a:solidFill>
                <a:effectLst/>
              </a:rPr>
              <a:t>uno a uno</a:t>
            </a:r>
            <a:r>
              <a:rPr kumimoji="0" lang="es-ES" altLang="es-ES" sz="2400" b="0" i="0" u="none" strike="noStrike" cap="none" normalizeH="0" baseline="0" dirty="0">
                <a:ln>
                  <a:noFill/>
                </a:ln>
                <a:solidFill>
                  <a:schemeClr val="tx1"/>
                </a:solidFill>
                <a:effectLst/>
              </a:rPr>
              <a:t>.</a:t>
            </a:r>
          </a:p>
          <a:p>
            <a:pPr eaLnBrk="0" fontAlgn="base" hangingPunct="0">
              <a:lnSpc>
                <a:spcPct val="100000"/>
              </a:lnSpc>
              <a:spcBef>
                <a:spcPct val="0"/>
              </a:spcBef>
              <a:spcAft>
                <a:spcPct val="0"/>
              </a:spcAft>
              <a:buSzTx/>
            </a:pPr>
            <a:r>
              <a:rPr kumimoji="0" lang="es-ES" altLang="es-ES" sz="2400" b="0" i="0" u="none" strike="noStrike" cap="none" normalizeH="0" baseline="0" dirty="0">
                <a:ln>
                  <a:noFill/>
                </a:ln>
                <a:solidFill>
                  <a:schemeClr val="tx1"/>
                </a:solidFill>
                <a:effectLst/>
              </a:rPr>
              <a:t>Un solo emisor envía datos a un único receptor específico.</a:t>
            </a:r>
          </a:p>
          <a:p>
            <a:pPr eaLnBrk="0" fontAlgn="base" hangingPunct="0">
              <a:lnSpc>
                <a:spcPct val="100000"/>
              </a:lnSpc>
              <a:spcBef>
                <a:spcPct val="0"/>
              </a:spcBef>
              <a:spcAft>
                <a:spcPct val="0"/>
              </a:spcAft>
              <a:buSzTx/>
            </a:pPr>
            <a:r>
              <a:rPr kumimoji="0" lang="es-ES" altLang="es-ES" sz="2400" b="0" i="0" u="none" strike="noStrike" cap="none" normalizeH="0" baseline="0" dirty="0">
                <a:ln>
                  <a:noFill/>
                </a:ln>
                <a:solidFill>
                  <a:schemeClr val="tx1"/>
                </a:solidFill>
                <a:effectLst/>
              </a:rPr>
              <a:t>Es el método más común en Internet.</a:t>
            </a:r>
          </a:p>
        </p:txBody>
      </p:sp>
      <p:sp>
        <p:nvSpPr>
          <p:cNvPr id="9" name="CuadroTexto 8">
            <a:extLst>
              <a:ext uri="{FF2B5EF4-FFF2-40B4-BE49-F238E27FC236}">
                <a16:creationId xmlns:a16="http://schemas.microsoft.com/office/drawing/2014/main" id="{5DEECA6F-442C-31B2-66A7-8B7F52605743}"/>
              </a:ext>
            </a:extLst>
          </p:cNvPr>
          <p:cNvSpPr txBox="1"/>
          <p:nvPr/>
        </p:nvSpPr>
        <p:spPr>
          <a:xfrm>
            <a:off x="672253" y="1967600"/>
            <a:ext cx="2028119" cy="646331"/>
          </a:xfrm>
          <a:prstGeom prst="rect">
            <a:avLst/>
          </a:prstGeom>
          <a:noFill/>
        </p:spPr>
        <p:txBody>
          <a:bodyPr wrap="none" rtlCol="0">
            <a:spAutoFit/>
          </a:bodyPr>
          <a:lstStyle/>
          <a:p>
            <a:r>
              <a:rPr lang="es-ES" sz="3600" dirty="0">
                <a:latin typeface="+mj-lt"/>
              </a:rPr>
              <a:t>UNICAST</a:t>
            </a:r>
            <a:endParaRPr lang="es-ES" dirty="0">
              <a:latin typeface="+mj-lt"/>
            </a:endParaRPr>
          </a:p>
        </p:txBody>
      </p:sp>
      <p:pic>
        <p:nvPicPr>
          <p:cNvPr id="4101" name="Picture 5" descr="Unidifusión - Wikipedia, la enciclopedia libre">
            <a:extLst>
              <a:ext uri="{FF2B5EF4-FFF2-40B4-BE49-F238E27FC236}">
                <a16:creationId xmlns:a16="http://schemas.microsoft.com/office/drawing/2014/main" id="{106E7DF8-5932-5CF3-4F26-192B35960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292" y="2319168"/>
            <a:ext cx="4710613" cy="3134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8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FA6774-1430-34AB-EB72-38E57922A62E}"/>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C0805517-5039-210C-5A57-BE2C18A4B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4033AFE-EDC6-A227-D3EC-1F475100532C}"/>
              </a:ext>
            </a:extLst>
          </p:cNvPr>
          <p:cNvSpPr>
            <a:spLocks noGrp="1"/>
          </p:cNvSpPr>
          <p:nvPr>
            <p:ph type="title"/>
          </p:nvPr>
        </p:nvSpPr>
        <p:spPr>
          <a:xfrm>
            <a:off x="640080" y="914399"/>
            <a:ext cx="10847494" cy="1171069"/>
          </a:xfrm>
        </p:spPr>
        <p:txBody>
          <a:bodyPr anchor="t">
            <a:normAutofit/>
          </a:bodyPr>
          <a:lstStyle/>
          <a:p>
            <a:r>
              <a:rPr lang="es-ES" dirty="0"/>
              <a:t>1.2  Tipos de direccionamiento</a:t>
            </a:r>
          </a:p>
        </p:txBody>
      </p:sp>
      <p:cxnSp>
        <p:nvCxnSpPr>
          <p:cNvPr id="3081" name="Straight Connector 3080">
            <a:extLst>
              <a:ext uri="{FF2B5EF4-FFF2-40B4-BE49-F238E27FC236}">
                <a16:creationId xmlns:a16="http://schemas.microsoft.com/office/drawing/2014/main" id="{824E6877-AB6F-FDC4-9D12-B0F85155A7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E495BE8D-07B6-F7B5-9339-2F08E8006762}"/>
              </a:ext>
            </a:extLst>
          </p:cNvPr>
          <p:cNvSpPr txBox="1"/>
          <p:nvPr/>
        </p:nvSpPr>
        <p:spPr>
          <a:xfrm>
            <a:off x="672253" y="1967600"/>
            <a:ext cx="2550698" cy="646331"/>
          </a:xfrm>
          <a:prstGeom prst="rect">
            <a:avLst/>
          </a:prstGeom>
          <a:noFill/>
        </p:spPr>
        <p:txBody>
          <a:bodyPr wrap="none" rtlCol="0">
            <a:spAutoFit/>
          </a:bodyPr>
          <a:lstStyle/>
          <a:p>
            <a:r>
              <a:rPr lang="es-ES" sz="3600" dirty="0">
                <a:latin typeface="+mj-lt"/>
              </a:rPr>
              <a:t>MULTICAST</a:t>
            </a:r>
            <a:endParaRPr lang="es-ES" dirty="0">
              <a:latin typeface="+mj-lt"/>
            </a:endParaRPr>
          </a:p>
        </p:txBody>
      </p:sp>
      <p:sp>
        <p:nvSpPr>
          <p:cNvPr id="6" name="Rectangle 4">
            <a:extLst>
              <a:ext uri="{FF2B5EF4-FFF2-40B4-BE49-F238E27FC236}">
                <a16:creationId xmlns:a16="http://schemas.microsoft.com/office/drawing/2014/main" id="{D16D91A5-339D-15BF-0EE5-E532F97A9CEB}"/>
              </a:ext>
            </a:extLst>
          </p:cNvPr>
          <p:cNvSpPr>
            <a:spLocks noGrp="1" noChangeArrowheads="1"/>
          </p:cNvSpPr>
          <p:nvPr>
            <p:ph idx="1"/>
          </p:nvPr>
        </p:nvSpPr>
        <p:spPr bwMode="auto">
          <a:xfrm>
            <a:off x="815974" y="2904385"/>
            <a:ext cx="583122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SzTx/>
            </a:pPr>
            <a:r>
              <a:rPr kumimoji="0" lang="es-ES" altLang="es-ES" sz="2400" b="1" i="0" u="none" strike="noStrike" cap="none" normalizeH="0" baseline="0" dirty="0">
                <a:ln>
                  <a:noFill/>
                </a:ln>
                <a:solidFill>
                  <a:schemeClr val="tx1"/>
                </a:solidFill>
                <a:effectLst/>
              </a:rPr>
              <a:t>Definición:</a:t>
            </a:r>
            <a:r>
              <a:rPr kumimoji="0" lang="es-ES" altLang="es-ES" sz="2400" b="0" i="0" u="none" strike="noStrike" cap="none" normalizeH="0" baseline="0" dirty="0">
                <a:ln>
                  <a:noFill/>
                </a:ln>
                <a:solidFill>
                  <a:schemeClr val="tx1"/>
                </a:solidFill>
                <a:effectLst/>
              </a:rPr>
              <a:t> Comunicación de </a:t>
            </a:r>
            <a:r>
              <a:rPr kumimoji="0" lang="es-ES" altLang="es-ES" sz="2400" b="1" i="0" u="none" strike="noStrike" cap="none" normalizeH="0" baseline="0" dirty="0">
                <a:ln>
                  <a:noFill/>
                </a:ln>
                <a:solidFill>
                  <a:schemeClr val="tx1"/>
                </a:solidFill>
                <a:effectLst/>
              </a:rPr>
              <a:t>uno a muchos</a:t>
            </a:r>
            <a:r>
              <a:rPr kumimoji="0" lang="es-ES" altLang="es-ES" sz="2400" b="0" i="0" u="none" strike="noStrike" cap="none" normalizeH="0" baseline="0" dirty="0">
                <a:ln>
                  <a:noFill/>
                </a:ln>
                <a:solidFill>
                  <a:schemeClr val="tx1"/>
                </a:solidFill>
                <a:effectLst/>
              </a:rPr>
              <a:t>, pero solo a un </a:t>
            </a:r>
            <a:r>
              <a:rPr kumimoji="0" lang="es-ES" altLang="es-ES" sz="2400" b="1" i="0" u="none" strike="noStrike" cap="none" normalizeH="0" baseline="0" dirty="0">
                <a:ln>
                  <a:noFill/>
                </a:ln>
                <a:solidFill>
                  <a:schemeClr val="tx1"/>
                </a:solidFill>
                <a:effectLst/>
              </a:rPr>
              <a:t>grupo específico de receptores</a:t>
            </a:r>
            <a:r>
              <a:rPr kumimoji="0" lang="es-ES" altLang="es-ES" sz="2400" b="0" i="0" u="none" strike="noStrike" cap="none" normalizeH="0" baseline="0" dirty="0">
                <a:ln>
                  <a:noFill/>
                </a:ln>
                <a:solidFill>
                  <a:schemeClr val="tx1"/>
                </a:solidFill>
                <a:effectLst/>
              </a:rPr>
              <a:t> interesados.</a:t>
            </a:r>
          </a:p>
          <a:p>
            <a:pPr eaLnBrk="0" fontAlgn="base" hangingPunct="0">
              <a:lnSpc>
                <a:spcPct val="100000"/>
              </a:lnSpc>
              <a:spcBef>
                <a:spcPct val="0"/>
              </a:spcBef>
              <a:spcAft>
                <a:spcPct val="0"/>
              </a:spcAft>
              <a:buSzTx/>
            </a:pPr>
            <a:r>
              <a:rPr kumimoji="0" lang="es-ES" altLang="es-ES" sz="2400" b="0" i="0" u="none" strike="noStrike" cap="none" normalizeH="0" baseline="0" dirty="0">
                <a:ln>
                  <a:noFill/>
                </a:ln>
                <a:solidFill>
                  <a:schemeClr val="tx1"/>
                </a:solidFill>
                <a:effectLst/>
              </a:rPr>
              <a:t>Más eficiente que broadcast, porque no todos reciben el mensaje, solo los que pertenecen al grupo.</a:t>
            </a:r>
          </a:p>
        </p:txBody>
      </p:sp>
      <p:pic>
        <p:nvPicPr>
          <p:cNvPr id="10" name="Imagen 9">
            <a:extLst>
              <a:ext uri="{FF2B5EF4-FFF2-40B4-BE49-F238E27FC236}">
                <a16:creationId xmlns:a16="http://schemas.microsoft.com/office/drawing/2014/main" id="{BA27D84E-D40A-25C5-4910-D97364905FEB}"/>
              </a:ext>
            </a:extLst>
          </p:cNvPr>
          <p:cNvPicPr>
            <a:picLocks noChangeAspect="1"/>
          </p:cNvPicPr>
          <p:nvPr/>
        </p:nvPicPr>
        <p:blipFill>
          <a:blip r:embed="rId2"/>
          <a:stretch>
            <a:fillRect/>
          </a:stretch>
        </p:blipFill>
        <p:spPr>
          <a:xfrm>
            <a:off x="6647197" y="2314987"/>
            <a:ext cx="5230681" cy="3487120"/>
          </a:xfrm>
          <a:prstGeom prst="rect">
            <a:avLst/>
          </a:prstGeom>
        </p:spPr>
      </p:pic>
    </p:spTree>
    <p:extLst>
      <p:ext uri="{BB962C8B-B14F-4D97-AF65-F5344CB8AC3E}">
        <p14:creationId xmlns:p14="http://schemas.microsoft.com/office/powerpoint/2010/main" val="3544593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C0D7C7-CF81-A1E2-693D-6691F2ABB74F}"/>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0A83A87-A4F3-A8F8-450B-EDD2CDAB0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547610B-C5A4-D826-850F-FBB16F72145C}"/>
              </a:ext>
            </a:extLst>
          </p:cNvPr>
          <p:cNvSpPr>
            <a:spLocks noGrp="1"/>
          </p:cNvSpPr>
          <p:nvPr>
            <p:ph type="title"/>
          </p:nvPr>
        </p:nvSpPr>
        <p:spPr>
          <a:xfrm>
            <a:off x="640080" y="914399"/>
            <a:ext cx="10847494" cy="1171069"/>
          </a:xfrm>
        </p:spPr>
        <p:txBody>
          <a:bodyPr anchor="t">
            <a:normAutofit/>
          </a:bodyPr>
          <a:lstStyle/>
          <a:p>
            <a:r>
              <a:rPr lang="es-ES" dirty="0"/>
              <a:t>1.2  Tipos de direccionamiento</a:t>
            </a:r>
          </a:p>
        </p:txBody>
      </p:sp>
      <p:cxnSp>
        <p:nvCxnSpPr>
          <p:cNvPr id="3081" name="Straight Connector 3080">
            <a:extLst>
              <a:ext uri="{FF2B5EF4-FFF2-40B4-BE49-F238E27FC236}">
                <a16:creationId xmlns:a16="http://schemas.microsoft.com/office/drawing/2014/main" id="{EA78BDBC-CA10-FA58-CD76-85859DFB1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6AC7BF17-2D55-08E2-F4A5-0F70ECF3D071}"/>
              </a:ext>
            </a:extLst>
          </p:cNvPr>
          <p:cNvSpPr>
            <a:spLocks noGrp="1" noChangeArrowheads="1"/>
          </p:cNvSpPr>
          <p:nvPr>
            <p:ph idx="1"/>
          </p:nvPr>
        </p:nvSpPr>
        <p:spPr bwMode="auto">
          <a:xfrm>
            <a:off x="816543" y="2902074"/>
            <a:ext cx="640240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SzTx/>
            </a:pPr>
            <a:r>
              <a:rPr kumimoji="0" lang="es-ES" altLang="es-ES" sz="2400" b="1" i="0" u="none" strike="noStrike" cap="none" normalizeH="0" baseline="0" dirty="0">
                <a:ln>
                  <a:noFill/>
                </a:ln>
                <a:solidFill>
                  <a:schemeClr val="tx1"/>
                </a:solidFill>
                <a:effectLst/>
              </a:rPr>
              <a:t>Definición</a:t>
            </a:r>
            <a:r>
              <a:rPr kumimoji="0" lang="es-ES" altLang="es-ES" sz="2400" b="0" i="0" u="none" strike="noStrike" cap="none" normalizeH="0" baseline="0" dirty="0">
                <a:ln>
                  <a:noFill/>
                </a:ln>
                <a:solidFill>
                  <a:schemeClr val="tx1"/>
                </a:solidFill>
                <a:effectLst/>
              </a:rPr>
              <a:t>: Comunicación de </a:t>
            </a:r>
            <a:r>
              <a:rPr kumimoji="0" lang="es-ES" altLang="es-ES" sz="2400" b="1" i="0" u="none" strike="noStrike" cap="none" normalizeH="0" baseline="0" dirty="0">
                <a:ln>
                  <a:noFill/>
                </a:ln>
                <a:solidFill>
                  <a:schemeClr val="tx1"/>
                </a:solidFill>
                <a:effectLst/>
              </a:rPr>
              <a:t>uno a todos </a:t>
            </a:r>
            <a:r>
              <a:rPr kumimoji="0" lang="es-ES" altLang="es-ES" sz="2400" b="0" i="0" u="none" strike="noStrike" cap="none" normalizeH="0" baseline="0" dirty="0">
                <a:ln>
                  <a:noFill/>
                </a:ln>
                <a:solidFill>
                  <a:schemeClr val="tx1"/>
                </a:solidFill>
                <a:effectLst/>
              </a:rPr>
              <a:t>dentro de la misma red local (LAN).</a:t>
            </a:r>
          </a:p>
          <a:p>
            <a:pPr eaLnBrk="0" fontAlgn="base" hangingPunct="0">
              <a:lnSpc>
                <a:spcPct val="100000"/>
              </a:lnSpc>
              <a:spcBef>
                <a:spcPct val="0"/>
              </a:spcBef>
              <a:spcAft>
                <a:spcPct val="0"/>
              </a:spcAft>
              <a:buSzTx/>
            </a:pPr>
            <a:r>
              <a:rPr kumimoji="0" lang="es-ES" altLang="es-ES" sz="2400" b="0" i="0" u="none" strike="noStrike" cap="none" normalizeH="0" baseline="0" dirty="0">
                <a:ln>
                  <a:noFill/>
                </a:ln>
                <a:solidFill>
                  <a:schemeClr val="tx1"/>
                </a:solidFill>
                <a:effectLst/>
              </a:rPr>
              <a:t>El emisor envía datos que serán recibidos por </a:t>
            </a:r>
            <a:r>
              <a:rPr kumimoji="0" lang="es-ES" altLang="es-ES" sz="2400" b="1" i="0" u="none" strike="noStrike" cap="none" normalizeH="0" baseline="0" dirty="0">
                <a:ln>
                  <a:noFill/>
                </a:ln>
                <a:solidFill>
                  <a:schemeClr val="tx1"/>
                </a:solidFill>
                <a:effectLst/>
              </a:rPr>
              <a:t>todos los dispositivos de la red</a:t>
            </a:r>
            <a:r>
              <a:rPr kumimoji="0" lang="es-ES" altLang="es-ES" sz="2400" b="0" i="0" u="none" strike="noStrike" cap="none" normalizeH="0" baseline="0" dirty="0">
                <a:ln>
                  <a:noFill/>
                </a:ln>
                <a:solidFill>
                  <a:schemeClr val="tx1"/>
                </a:solidFill>
                <a:effectLst/>
              </a:rPr>
              <a:t>.</a:t>
            </a:r>
          </a:p>
        </p:txBody>
      </p:sp>
      <p:sp>
        <p:nvSpPr>
          <p:cNvPr id="9" name="CuadroTexto 8">
            <a:extLst>
              <a:ext uri="{FF2B5EF4-FFF2-40B4-BE49-F238E27FC236}">
                <a16:creationId xmlns:a16="http://schemas.microsoft.com/office/drawing/2014/main" id="{7846ECA7-5B2A-37D8-9F15-501528CD67CF}"/>
              </a:ext>
            </a:extLst>
          </p:cNvPr>
          <p:cNvSpPr txBox="1"/>
          <p:nvPr/>
        </p:nvSpPr>
        <p:spPr>
          <a:xfrm>
            <a:off x="672253" y="1967600"/>
            <a:ext cx="2773516" cy="646331"/>
          </a:xfrm>
          <a:prstGeom prst="rect">
            <a:avLst/>
          </a:prstGeom>
          <a:noFill/>
        </p:spPr>
        <p:txBody>
          <a:bodyPr wrap="none" rtlCol="0">
            <a:spAutoFit/>
          </a:bodyPr>
          <a:lstStyle/>
          <a:p>
            <a:r>
              <a:rPr lang="es-ES" sz="3600" dirty="0">
                <a:latin typeface="+mj-lt"/>
              </a:rPr>
              <a:t>BROADCAST</a:t>
            </a:r>
            <a:endParaRPr lang="es-ES" dirty="0">
              <a:latin typeface="+mj-lt"/>
            </a:endParaRPr>
          </a:p>
        </p:txBody>
      </p:sp>
      <p:pic>
        <p:nvPicPr>
          <p:cNvPr id="5" name="Imagen 4">
            <a:extLst>
              <a:ext uri="{FF2B5EF4-FFF2-40B4-BE49-F238E27FC236}">
                <a16:creationId xmlns:a16="http://schemas.microsoft.com/office/drawing/2014/main" id="{411E71B1-F56F-0EAB-C9AE-5A8DA6C73189}"/>
              </a:ext>
            </a:extLst>
          </p:cNvPr>
          <p:cNvPicPr>
            <a:picLocks noChangeAspect="1"/>
          </p:cNvPicPr>
          <p:nvPr/>
        </p:nvPicPr>
        <p:blipFill>
          <a:blip r:embed="rId2"/>
          <a:stretch>
            <a:fillRect/>
          </a:stretch>
        </p:blipFill>
        <p:spPr>
          <a:xfrm>
            <a:off x="6440432" y="1856216"/>
            <a:ext cx="5492063" cy="3661375"/>
          </a:xfrm>
          <a:prstGeom prst="rect">
            <a:avLst/>
          </a:prstGeom>
        </p:spPr>
      </p:pic>
    </p:spTree>
    <p:extLst>
      <p:ext uri="{BB962C8B-B14F-4D97-AF65-F5344CB8AC3E}">
        <p14:creationId xmlns:p14="http://schemas.microsoft.com/office/powerpoint/2010/main" val="2079488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FA418-8E56-1B05-B85B-3B4BC470F8BB}"/>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46F614B-990B-5F88-1A12-83151999E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3C94AE5-FDDF-C639-1CD6-D1B55FB05827}"/>
              </a:ext>
            </a:extLst>
          </p:cNvPr>
          <p:cNvSpPr>
            <a:spLocks noGrp="1"/>
          </p:cNvSpPr>
          <p:nvPr>
            <p:ph type="title"/>
          </p:nvPr>
        </p:nvSpPr>
        <p:spPr>
          <a:xfrm>
            <a:off x="640080" y="914399"/>
            <a:ext cx="10847494" cy="1171069"/>
          </a:xfrm>
        </p:spPr>
        <p:txBody>
          <a:bodyPr anchor="t">
            <a:normAutofit/>
          </a:bodyPr>
          <a:lstStyle/>
          <a:p>
            <a:r>
              <a:rPr lang="es-ES" dirty="0"/>
              <a:t>1.2  Tipos de direccionamiento</a:t>
            </a:r>
          </a:p>
        </p:txBody>
      </p:sp>
      <p:cxnSp>
        <p:nvCxnSpPr>
          <p:cNvPr id="3081" name="Straight Connector 3080">
            <a:extLst>
              <a:ext uri="{FF2B5EF4-FFF2-40B4-BE49-F238E27FC236}">
                <a16:creationId xmlns:a16="http://schemas.microsoft.com/office/drawing/2014/main" id="{3124C71C-DB6D-0830-BC73-81AFAD4A4F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5304F191-12A3-0420-6105-4A72AEF964A9}"/>
              </a:ext>
            </a:extLst>
          </p:cNvPr>
          <p:cNvSpPr>
            <a:spLocks noGrp="1" noChangeArrowheads="1"/>
          </p:cNvSpPr>
          <p:nvPr>
            <p:ph idx="1"/>
          </p:nvPr>
        </p:nvSpPr>
        <p:spPr bwMode="auto">
          <a:xfrm>
            <a:off x="848627" y="2817319"/>
            <a:ext cx="640240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SzTx/>
            </a:pPr>
            <a:r>
              <a:rPr kumimoji="0" lang="es-ES" altLang="es-ES" sz="2400" b="1" i="0" u="none" strike="noStrike" cap="none" normalizeH="0" baseline="0" dirty="0">
                <a:ln>
                  <a:noFill/>
                </a:ln>
                <a:solidFill>
                  <a:schemeClr val="tx1"/>
                </a:solidFill>
                <a:effectLst/>
              </a:rPr>
              <a:t>Definición</a:t>
            </a:r>
            <a:r>
              <a:rPr kumimoji="0" lang="es-ES" altLang="es-ES" sz="2400" b="0" i="0" u="none" strike="noStrike" cap="none" normalizeH="0" baseline="0" dirty="0">
                <a:ln>
                  <a:noFill/>
                </a:ln>
                <a:solidFill>
                  <a:schemeClr val="tx1"/>
                </a:solidFill>
                <a:effectLst/>
              </a:rPr>
              <a:t>: Comunicación de </a:t>
            </a:r>
            <a:r>
              <a:rPr kumimoji="0" lang="es-ES" altLang="es-ES" sz="2400" b="1" i="0" u="none" strike="noStrike" cap="none" normalizeH="0" baseline="0" dirty="0">
                <a:ln>
                  <a:noFill/>
                </a:ln>
                <a:solidFill>
                  <a:schemeClr val="tx1"/>
                </a:solidFill>
                <a:effectLst/>
              </a:rPr>
              <a:t>uno a uno del grupo más cercano</a:t>
            </a:r>
            <a:r>
              <a:rPr kumimoji="0" lang="es-ES" altLang="es-ES" sz="2400" b="0" i="0" u="none" strike="noStrike" cap="none" normalizeH="0" baseline="0" dirty="0">
                <a:ln>
                  <a:noFill/>
                </a:ln>
                <a:solidFill>
                  <a:schemeClr val="tx1"/>
                </a:solidFill>
                <a:effectLst/>
              </a:rPr>
              <a:t>.</a:t>
            </a:r>
          </a:p>
          <a:p>
            <a:pPr eaLnBrk="0" fontAlgn="base" hangingPunct="0">
              <a:lnSpc>
                <a:spcPct val="100000"/>
              </a:lnSpc>
              <a:spcBef>
                <a:spcPct val="0"/>
              </a:spcBef>
              <a:spcAft>
                <a:spcPct val="0"/>
              </a:spcAft>
              <a:buSzTx/>
            </a:pPr>
            <a:r>
              <a:rPr kumimoji="0" lang="es-ES" altLang="es-ES" sz="2400" b="0" i="0" u="none" strike="noStrike" cap="none" normalizeH="0" baseline="0" dirty="0">
                <a:ln>
                  <a:noFill/>
                </a:ln>
                <a:solidFill>
                  <a:schemeClr val="tx1"/>
                </a:solidFill>
                <a:effectLst/>
              </a:rPr>
              <a:t>El emisor envía datos </a:t>
            </a:r>
            <a:r>
              <a:rPr kumimoji="0" lang="es-ES" altLang="es-ES" sz="2400" b="1" i="0" u="none" strike="noStrike" cap="none" normalizeH="0" baseline="0" dirty="0">
                <a:ln>
                  <a:noFill/>
                </a:ln>
                <a:solidFill>
                  <a:schemeClr val="tx1"/>
                </a:solidFill>
                <a:effectLst/>
              </a:rPr>
              <a:t>a un grupo de receptores que comparten la misma dirección IP</a:t>
            </a:r>
            <a:r>
              <a:rPr kumimoji="0" lang="es-ES" altLang="es-ES" sz="2400" b="0" i="0" u="none" strike="noStrike" cap="none" normalizeH="0" baseline="0" dirty="0">
                <a:ln>
                  <a:noFill/>
                </a:ln>
                <a:solidFill>
                  <a:schemeClr val="tx1"/>
                </a:solidFill>
                <a:effectLst/>
              </a:rPr>
              <a:t>, pero la red se encarga de que el mensaje llegue al </a:t>
            </a:r>
            <a:r>
              <a:rPr kumimoji="0" lang="es-ES" altLang="es-ES" sz="2400" b="1" i="0" u="none" strike="noStrike" cap="none" normalizeH="0" baseline="0" dirty="0">
                <a:ln>
                  <a:noFill/>
                </a:ln>
                <a:solidFill>
                  <a:schemeClr val="tx1"/>
                </a:solidFill>
                <a:effectLst/>
              </a:rPr>
              <a:t>más próximo (según métricas de enrutamiento).</a:t>
            </a:r>
          </a:p>
        </p:txBody>
      </p:sp>
      <p:sp>
        <p:nvSpPr>
          <p:cNvPr id="9" name="CuadroTexto 8">
            <a:extLst>
              <a:ext uri="{FF2B5EF4-FFF2-40B4-BE49-F238E27FC236}">
                <a16:creationId xmlns:a16="http://schemas.microsoft.com/office/drawing/2014/main" id="{926A3FD1-F43F-8401-29D0-AB59F439484A}"/>
              </a:ext>
            </a:extLst>
          </p:cNvPr>
          <p:cNvSpPr txBox="1"/>
          <p:nvPr/>
        </p:nvSpPr>
        <p:spPr>
          <a:xfrm>
            <a:off x="672253" y="1967600"/>
            <a:ext cx="2129109" cy="646331"/>
          </a:xfrm>
          <a:prstGeom prst="rect">
            <a:avLst/>
          </a:prstGeom>
          <a:noFill/>
        </p:spPr>
        <p:txBody>
          <a:bodyPr wrap="none" rtlCol="0">
            <a:spAutoFit/>
          </a:bodyPr>
          <a:lstStyle/>
          <a:p>
            <a:r>
              <a:rPr lang="es-ES" sz="3600" dirty="0">
                <a:latin typeface="+mj-lt"/>
              </a:rPr>
              <a:t>ANYCAST</a:t>
            </a:r>
            <a:endParaRPr lang="es-ES" dirty="0">
              <a:latin typeface="+mj-lt"/>
            </a:endParaRPr>
          </a:p>
        </p:txBody>
      </p:sp>
      <p:pic>
        <p:nvPicPr>
          <p:cNvPr id="5" name="Imagen 4">
            <a:extLst>
              <a:ext uri="{FF2B5EF4-FFF2-40B4-BE49-F238E27FC236}">
                <a16:creationId xmlns:a16="http://schemas.microsoft.com/office/drawing/2014/main" id="{9E618C18-A258-DF35-A68F-ACAD59E01316}"/>
              </a:ext>
            </a:extLst>
          </p:cNvPr>
          <p:cNvPicPr>
            <a:picLocks noChangeAspect="1"/>
          </p:cNvPicPr>
          <p:nvPr/>
        </p:nvPicPr>
        <p:blipFill>
          <a:blip r:embed="rId2"/>
          <a:stretch>
            <a:fillRect/>
          </a:stretch>
        </p:blipFill>
        <p:spPr>
          <a:xfrm>
            <a:off x="6947235" y="2258569"/>
            <a:ext cx="5143500" cy="3429000"/>
          </a:xfrm>
          <a:prstGeom prst="rect">
            <a:avLst/>
          </a:prstGeom>
        </p:spPr>
      </p:pic>
    </p:spTree>
    <p:extLst>
      <p:ext uri="{BB962C8B-B14F-4D97-AF65-F5344CB8AC3E}">
        <p14:creationId xmlns:p14="http://schemas.microsoft.com/office/powerpoint/2010/main" val="398424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E5E016-6ECB-4A9E-A467-C3B8C6E2174D}"/>
              </a:ext>
            </a:extLst>
          </p:cNvPr>
          <p:cNvSpPr>
            <a:spLocks noGrp="1"/>
          </p:cNvSpPr>
          <p:nvPr>
            <p:ph type="title"/>
          </p:nvPr>
        </p:nvSpPr>
        <p:spPr/>
        <p:txBody>
          <a:bodyPr/>
          <a:lstStyle/>
          <a:p>
            <a:r>
              <a:rPr lang="es-ES" dirty="0"/>
              <a:t>1.3 Protocolo IPv4</a:t>
            </a:r>
          </a:p>
        </p:txBody>
      </p:sp>
      <p:pic>
        <p:nvPicPr>
          <p:cNvPr id="5" name="Imagen 4">
            <a:extLst>
              <a:ext uri="{FF2B5EF4-FFF2-40B4-BE49-F238E27FC236}">
                <a16:creationId xmlns:a16="http://schemas.microsoft.com/office/drawing/2014/main" id="{F3BAFE79-772B-1AB5-2DE5-D1EBCF944C6F}"/>
              </a:ext>
            </a:extLst>
          </p:cNvPr>
          <p:cNvPicPr>
            <a:picLocks noChangeAspect="1"/>
          </p:cNvPicPr>
          <p:nvPr/>
        </p:nvPicPr>
        <p:blipFill>
          <a:blip r:embed="rId2"/>
          <a:stretch>
            <a:fillRect/>
          </a:stretch>
        </p:blipFill>
        <p:spPr>
          <a:xfrm>
            <a:off x="395095" y="2309198"/>
            <a:ext cx="11135913" cy="1941957"/>
          </a:xfrm>
          <a:prstGeom prst="rect">
            <a:avLst/>
          </a:prstGeom>
        </p:spPr>
      </p:pic>
      <p:pic>
        <p:nvPicPr>
          <p:cNvPr id="8194" name="Picture 2" descr="513 resultados de imágenes, fotos de stock e ilustraciones libres de  regalías para Ipv4 | Shutterstock">
            <a:extLst>
              <a:ext uri="{FF2B5EF4-FFF2-40B4-BE49-F238E27FC236}">
                <a16:creationId xmlns:a16="http://schemas.microsoft.com/office/drawing/2014/main" id="{49B75C65-1398-042C-43B4-00E29E50D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233" y="3787194"/>
            <a:ext cx="3303672" cy="2803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720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3484F-4603-545C-5A92-E88CC5401239}"/>
              </a:ext>
            </a:extLst>
          </p:cNvPr>
          <p:cNvSpPr>
            <a:spLocks noGrp="1"/>
          </p:cNvSpPr>
          <p:nvPr>
            <p:ph type="title"/>
          </p:nvPr>
        </p:nvSpPr>
        <p:spPr/>
        <p:txBody>
          <a:bodyPr/>
          <a:lstStyle/>
          <a:p>
            <a:r>
              <a:rPr lang="es-ES" dirty="0"/>
              <a:t>1.3.1 Dirección IPv4</a:t>
            </a:r>
          </a:p>
        </p:txBody>
      </p:sp>
      <p:pic>
        <p:nvPicPr>
          <p:cNvPr id="5" name="Imagen 4">
            <a:extLst>
              <a:ext uri="{FF2B5EF4-FFF2-40B4-BE49-F238E27FC236}">
                <a16:creationId xmlns:a16="http://schemas.microsoft.com/office/drawing/2014/main" id="{07C132D0-92BE-3D04-7461-A10472F56DD5}"/>
              </a:ext>
            </a:extLst>
          </p:cNvPr>
          <p:cNvPicPr>
            <a:picLocks noChangeAspect="1"/>
          </p:cNvPicPr>
          <p:nvPr/>
        </p:nvPicPr>
        <p:blipFill>
          <a:blip r:embed="rId2"/>
          <a:stretch>
            <a:fillRect/>
          </a:stretch>
        </p:blipFill>
        <p:spPr>
          <a:xfrm>
            <a:off x="1555595" y="3959542"/>
            <a:ext cx="9080810" cy="2046622"/>
          </a:xfrm>
          <a:prstGeom prst="rect">
            <a:avLst/>
          </a:prstGeom>
        </p:spPr>
      </p:pic>
      <p:sp>
        <p:nvSpPr>
          <p:cNvPr id="6" name="CuadroTexto 5">
            <a:extLst>
              <a:ext uri="{FF2B5EF4-FFF2-40B4-BE49-F238E27FC236}">
                <a16:creationId xmlns:a16="http://schemas.microsoft.com/office/drawing/2014/main" id="{36FC51BF-85F3-D9E1-6856-7ECE0B7E5293}"/>
              </a:ext>
            </a:extLst>
          </p:cNvPr>
          <p:cNvSpPr txBox="1"/>
          <p:nvPr/>
        </p:nvSpPr>
        <p:spPr>
          <a:xfrm>
            <a:off x="1989221" y="2660213"/>
            <a:ext cx="2728632" cy="369332"/>
          </a:xfrm>
          <a:prstGeom prst="rect">
            <a:avLst/>
          </a:prstGeom>
          <a:noFill/>
        </p:spPr>
        <p:txBody>
          <a:bodyPr wrap="none" rtlCol="0">
            <a:spAutoFit/>
          </a:bodyPr>
          <a:lstStyle/>
          <a:p>
            <a:r>
              <a:rPr lang="es-ES" dirty="0"/>
              <a:t>4 octetos = 32 bits = 2^32</a:t>
            </a:r>
          </a:p>
        </p:txBody>
      </p:sp>
    </p:spTree>
    <p:extLst>
      <p:ext uri="{BB962C8B-B14F-4D97-AF65-F5344CB8AC3E}">
        <p14:creationId xmlns:p14="http://schemas.microsoft.com/office/powerpoint/2010/main" val="3620371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2898E-3A03-D2BB-48B1-98B01D339F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C53CE1-E584-7DCE-B7C9-D7AD4EB23B98}"/>
              </a:ext>
            </a:extLst>
          </p:cNvPr>
          <p:cNvSpPr>
            <a:spLocks noGrp="1"/>
          </p:cNvSpPr>
          <p:nvPr>
            <p:ph type="title"/>
          </p:nvPr>
        </p:nvSpPr>
        <p:spPr/>
        <p:txBody>
          <a:bodyPr/>
          <a:lstStyle/>
          <a:p>
            <a:r>
              <a:rPr lang="es-ES" dirty="0"/>
              <a:t>1.3.1 Dirección IPv4</a:t>
            </a:r>
          </a:p>
        </p:txBody>
      </p:sp>
      <p:sp>
        <p:nvSpPr>
          <p:cNvPr id="3" name="CuadroTexto 2">
            <a:extLst>
              <a:ext uri="{FF2B5EF4-FFF2-40B4-BE49-F238E27FC236}">
                <a16:creationId xmlns:a16="http://schemas.microsoft.com/office/drawing/2014/main" id="{5FD98520-58F9-AB40-82C4-182BC4A0ACAC}"/>
              </a:ext>
            </a:extLst>
          </p:cNvPr>
          <p:cNvSpPr txBox="1"/>
          <p:nvPr/>
        </p:nvSpPr>
        <p:spPr>
          <a:xfrm>
            <a:off x="866274" y="2706741"/>
            <a:ext cx="5919537" cy="2972163"/>
          </a:xfrm>
          <a:prstGeom prst="rect">
            <a:avLst/>
          </a:prstGeom>
          <a:noFill/>
        </p:spPr>
        <p:txBody>
          <a:bodyPr wrap="square" rtlCol="0">
            <a:spAutoFit/>
          </a:bodyPr>
          <a:lstStyle/>
          <a:p>
            <a:r>
              <a:rPr lang="es-ES" dirty="0"/>
              <a:t>Existen las redes privadas y publicas:</a:t>
            </a:r>
          </a:p>
          <a:p>
            <a:endParaRPr lang="es-ES" dirty="0"/>
          </a:p>
          <a:p>
            <a:r>
              <a:rPr lang="es-ES" dirty="0"/>
              <a:t>Privada: Es la que tiene un nodo dentro de una red de área local y únicamente es visible desde la misma red. Para acceder a un servicio ofrecido por un nodo desde otro nodo que resida en la misma red local, bastará con que este ultimo conozca su dirección IP privadas.</a:t>
            </a:r>
          </a:p>
          <a:p>
            <a:endParaRPr lang="es-ES" dirty="0"/>
          </a:p>
          <a:p>
            <a:r>
              <a:rPr lang="es-ES" dirty="0"/>
              <a:t>Pública: Tiene conexión directa a Internet y es la dirección que realmente es visible desde dicha red. </a:t>
            </a:r>
          </a:p>
        </p:txBody>
      </p:sp>
      <p:pic>
        <p:nvPicPr>
          <p:cNvPr id="5" name="Imagen 4">
            <a:extLst>
              <a:ext uri="{FF2B5EF4-FFF2-40B4-BE49-F238E27FC236}">
                <a16:creationId xmlns:a16="http://schemas.microsoft.com/office/drawing/2014/main" id="{C9DAAE46-92A9-10A4-30DC-B77A766529E2}"/>
              </a:ext>
            </a:extLst>
          </p:cNvPr>
          <p:cNvPicPr>
            <a:picLocks noChangeAspect="1"/>
          </p:cNvPicPr>
          <p:nvPr/>
        </p:nvPicPr>
        <p:blipFill>
          <a:blip r:embed="rId2"/>
          <a:stretch>
            <a:fillRect/>
          </a:stretch>
        </p:blipFill>
        <p:spPr>
          <a:xfrm>
            <a:off x="6944728" y="2706741"/>
            <a:ext cx="4958514" cy="2559632"/>
          </a:xfrm>
          <a:prstGeom prst="rect">
            <a:avLst/>
          </a:prstGeom>
        </p:spPr>
      </p:pic>
    </p:spTree>
    <p:extLst>
      <p:ext uri="{BB962C8B-B14F-4D97-AF65-F5344CB8AC3E}">
        <p14:creationId xmlns:p14="http://schemas.microsoft.com/office/powerpoint/2010/main" val="3772510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BBF88-7B3F-C831-DA47-2B7A51C11732}"/>
              </a:ext>
            </a:extLst>
          </p:cNvPr>
          <p:cNvSpPr>
            <a:spLocks noGrp="1"/>
          </p:cNvSpPr>
          <p:nvPr>
            <p:ph type="title"/>
          </p:nvPr>
        </p:nvSpPr>
        <p:spPr/>
        <p:txBody>
          <a:bodyPr/>
          <a:lstStyle/>
          <a:p>
            <a:r>
              <a:rPr lang="es-ES" dirty="0"/>
              <a:t>1.3.2 Máscara de red</a:t>
            </a:r>
          </a:p>
        </p:txBody>
      </p:sp>
      <p:pic>
        <p:nvPicPr>
          <p:cNvPr id="5" name="Imagen 4">
            <a:extLst>
              <a:ext uri="{FF2B5EF4-FFF2-40B4-BE49-F238E27FC236}">
                <a16:creationId xmlns:a16="http://schemas.microsoft.com/office/drawing/2014/main" id="{9569B73B-B099-EC77-E4D4-7F8C8F9952A3}"/>
              </a:ext>
            </a:extLst>
          </p:cNvPr>
          <p:cNvPicPr>
            <a:picLocks noChangeAspect="1"/>
          </p:cNvPicPr>
          <p:nvPr/>
        </p:nvPicPr>
        <p:blipFill>
          <a:blip r:embed="rId2"/>
          <a:stretch>
            <a:fillRect/>
          </a:stretch>
        </p:blipFill>
        <p:spPr>
          <a:xfrm>
            <a:off x="1219149" y="2933548"/>
            <a:ext cx="9753702" cy="2365709"/>
          </a:xfrm>
          <a:prstGeom prst="rect">
            <a:avLst/>
          </a:prstGeom>
        </p:spPr>
      </p:pic>
    </p:spTree>
    <p:extLst>
      <p:ext uri="{BB962C8B-B14F-4D97-AF65-F5344CB8AC3E}">
        <p14:creationId xmlns:p14="http://schemas.microsoft.com/office/powerpoint/2010/main" val="4293581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560F84-4D75-CD70-9087-266CD47FEC5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6F7395A-86C4-AC80-F06F-AC08B9DAD71C}"/>
              </a:ext>
            </a:extLst>
          </p:cNvPr>
          <p:cNvSpPr>
            <a:spLocks noGrp="1"/>
          </p:cNvSpPr>
          <p:nvPr>
            <p:ph type="title"/>
          </p:nvPr>
        </p:nvSpPr>
        <p:spPr>
          <a:xfrm>
            <a:off x="640080" y="1371600"/>
            <a:ext cx="5737859" cy="1097280"/>
          </a:xfrm>
        </p:spPr>
        <p:txBody>
          <a:bodyPr vert="horz" lIns="91440" tIns="45720" rIns="91440" bIns="45720" rtlCol="0" anchor="t">
            <a:normAutofit/>
          </a:bodyPr>
          <a:lstStyle/>
          <a:p>
            <a:r>
              <a:rPr lang="en-US"/>
              <a:t>1.3.2 Máscara de red</a:t>
            </a:r>
          </a:p>
        </p:txBody>
      </p:sp>
      <p:cxnSp>
        <p:nvCxnSpPr>
          <p:cNvPr id="14" name="Straight Connector 13">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E9615E95-1B49-0166-6838-7F3960823CBD}"/>
              </a:ext>
            </a:extLst>
          </p:cNvPr>
          <p:cNvSpPr txBox="1"/>
          <p:nvPr/>
        </p:nvSpPr>
        <p:spPr>
          <a:xfrm>
            <a:off x="640080" y="2633236"/>
            <a:ext cx="5737860" cy="3666980"/>
          </a:xfrm>
          <a:prstGeom prst="rect">
            <a:avLst/>
          </a:prstGeom>
        </p:spPr>
        <p:txBody>
          <a:bodyPr vert="horz" lIns="91440" tIns="45720" rIns="91440" bIns="45720" rtlCol="0">
            <a:normAutofit/>
          </a:bodyPr>
          <a:lstStyle/>
          <a:p>
            <a:pPr>
              <a:lnSpc>
                <a:spcPct val="120000"/>
              </a:lnSpc>
              <a:spcAft>
                <a:spcPts val="600"/>
              </a:spcAft>
              <a:buSzPct val="87000"/>
              <a:buFont typeface="Arial" panose="020B0604020202020204" pitchFamily="34" charset="0"/>
              <a:buChar char="•"/>
            </a:pPr>
            <a:r>
              <a:rPr lang="en-US" dirty="0"/>
              <a:t>Todo </a:t>
            </a:r>
            <a:r>
              <a:rPr lang="en-US" dirty="0" err="1"/>
              <a:t>el</a:t>
            </a:r>
            <a:r>
              <a:rPr lang="en-US" dirty="0"/>
              <a:t> </a:t>
            </a:r>
            <a:r>
              <a:rPr lang="en-US" dirty="0" err="1"/>
              <a:t>espacio</a:t>
            </a:r>
            <a:r>
              <a:rPr lang="en-US" dirty="0"/>
              <a:t> de </a:t>
            </a:r>
            <a:r>
              <a:rPr lang="en-US" dirty="0" err="1"/>
              <a:t>direcciones</a:t>
            </a:r>
            <a:r>
              <a:rPr lang="en-US" dirty="0"/>
              <a:t> IPv4 </a:t>
            </a:r>
            <a:r>
              <a:rPr lang="en-US" dirty="0" err="1"/>
              <a:t>está</a:t>
            </a:r>
            <a:r>
              <a:rPr lang="en-US" dirty="0"/>
              <a:t> </a:t>
            </a:r>
            <a:r>
              <a:rPr lang="en-US" dirty="0" err="1"/>
              <a:t>inicialmente</a:t>
            </a:r>
            <a:r>
              <a:rPr lang="en-US" dirty="0"/>
              <a:t> </a:t>
            </a:r>
            <a:r>
              <a:rPr lang="en-US" dirty="0" err="1"/>
              <a:t>dividido</a:t>
            </a:r>
            <a:r>
              <a:rPr lang="en-US" dirty="0"/>
              <a:t> </a:t>
            </a:r>
            <a:r>
              <a:rPr lang="en-US" dirty="0" err="1"/>
              <a:t>en</a:t>
            </a:r>
            <a:r>
              <a:rPr lang="en-US" dirty="0"/>
              <a:t> </a:t>
            </a:r>
            <a:r>
              <a:rPr lang="en-US" dirty="0" err="1"/>
              <a:t>diferentes</a:t>
            </a:r>
            <a:r>
              <a:rPr lang="en-US" dirty="0"/>
              <a:t> </a:t>
            </a:r>
            <a:r>
              <a:rPr lang="en-US" dirty="0" err="1"/>
              <a:t>clases</a:t>
            </a:r>
            <a:r>
              <a:rPr lang="en-US" dirty="0"/>
              <a:t> con </a:t>
            </a:r>
            <a:r>
              <a:rPr lang="en-US" dirty="0" err="1"/>
              <a:t>diferentes</a:t>
            </a:r>
            <a:r>
              <a:rPr lang="en-US" dirty="0"/>
              <a:t> </a:t>
            </a:r>
            <a:r>
              <a:rPr lang="en-US" dirty="0" err="1"/>
              <a:t>máscaras</a:t>
            </a:r>
            <a:r>
              <a:rPr lang="en-US" dirty="0"/>
              <a:t> </a:t>
            </a:r>
            <a:r>
              <a:rPr lang="en-US" dirty="0" err="1"/>
              <a:t>según</a:t>
            </a:r>
            <a:r>
              <a:rPr lang="en-US" dirty="0"/>
              <a:t> </a:t>
            </a:r>
            <a:r>
              <a:rPr lang="en-US" dirty="0" err="1"/>
              <a:t>su</a:t>
            </a:r>
            <a:r>
              <a:rPr lang="en-US" dirty="0"/>
              <a:t> </a:t>
            </a:r>
            <a:r>
              <a:rPr lang="en-US" dirty="0" err="1"/>
              <a:t>rango</a:t>
            </a:r>
            <a:r>
              <a:rPr lang="en-US" dirty="0"/>
              <a:t>. Si la </a:t>
            </a:r>
            <a:r>
              <a:rPr lang="en-US" dirty="0" err="1"/>
              <a:t>máscara</a:t>
            </a:r>
            <a:r>
              <a:rPr lang="en-US" dirty="0"/>
              <a:t> de </a:t>
            </a:r>
            <a:r>
              <a:rPr lang="en-US" dirty="0" err="1"/>
              <a:t>los</a:t>
            </a:r>
            <a:r>
              <a:rPr lang="en-US" dirty="0"/>
              <a:t> </a:t>
            </a:r>
            <a:r>
              <a:rPr lang="en-US" dirty="0" err="1"/>
              <a:t>equipos</a:t>
            </a:r>
            <a:r>
              <a:rPr lang="en-US" dirty="0"/>
              <a:t> de </a:t>
            </a:r>
            <a:r>
              <a:rPr lang="en-US" dirty="0" err="1"/>
              <a:t>una</a:t>
            </a:r>
            <a:r>
              <a:rPr lang="en-US" dirty="0"/>
              <a:t> red es </a:t>
            </a:r>
            <a:r>
              <a:rPr lang="en-US" dirty="0" err="1"/>
              <a:t>distinta</a:t>
            </a:r>
            <a:r>
              <a:rPr lang="en-US" dirty="0"/>
              <a:t> a /8, /16 ó /24, se </a:t>
            </a:r>
            <a:r>
              <a:rPr lang="en-US" dirty="0" err="1"/>
              <a:t>tratará</a:t>
            </a:r>
            <a:r>
              <a:rPr lang="en-US" dirty="0"/>
              <a:t> de </a:t>
            </a:r>
            <a:r>
              <a:rPr lang="en-US" dirty="0" err="1"/>
              <a:t>una</a:t>
            </a:r>
            <a:r>
              <a:rPr lang="en-US" dirty="0"/>
              <a:t> red sin </a:t>
            </a:r>
            <a:r>
              <a:rPr lang="en-US" dirty="0" err="1"/>
              <a:t>clase</a:t>
            </a:r>
            <a:r>
              <a:rPr lang="en-US" dirty="0"/>
              <a:t>.</a:t>
            </a:r>
          </a:p>
          <a:p>
            <a:pPr>
              <a:lnSpc>
                <a:spcPct val="120000"/>
              </a:lnSpc>
              <a:spcAft>
                <a:spcPts val="600"/>
              </a:spcAft>
              <a:buSzPct val="87000"/>
              <a:buFont typeface="Arial" panose="020B0604020202020204" pitchFamily="34" charset="0"/>
              <a:buChar char="•"/>
            </a:pPr>
            <a:endParaRPr lang="en-US" dirty="0"/>
          </a:p>
        </p:txBody>
      </p:sp>
      <p:graphicFrame>
        <p:nvGraphicFramePr>
          <p:cNvPr id="6" name="Google Shape;88;p11">
            <a:extLst>
              <a:ext uri="{FF2B5EF4-FFF2-40B4-BE49-F238E27FC236}">
                <a16:creationId xmlns:a16="http://schemas.microsoft.com/office/drawing/2014/main" id="{6AE27A97-822F-3A30-C838-B271198B173A}"/>
              </a:ext>
            </a:extLst>
          </p:cNvPr>
          <p:cNvGraphicFramePr/>
          <p:nvPr>
            <p:extLst>
              <p:ext uri="{D42A27DB-BD31-4B8C-83A1-F6EECF244321}">
                <p14:modId xmlns:p14="http://schemas.microsoft.com/office/powerpoint/2010/main" val="26365781"/>
              </p:ext>
            </p:extLst>
          </p:nvPr>
        </p:nvGraphicFramePr>
        <p:xfrm>
          <a:off x="6850492" y="2468880"/>
          <a:ext cx="4868953" cy="3289313"/>
        </p:xfrm>
        <a:graphic>
          <a:graphicData uri="http://schemas.openxmlformats.org/drawingml/2006/table">
            <a:tbl>
              <a:tblPr firstRow="1" bandRow="1">
                <a:noFill/>
              </a:tblPr>
              <a:tblGrid>
                <a:gridCol w="685966">
                  <a:extLst>
                    <a:ext uri="{9D8B030D-6E8A-4147-A177-3AD203B41FA5}">
                      <a16:colId xmlns:a16="http://schemas.microsoft.com/office/drawing/2014/main" val="20000"/>
                    </a:ext>
                  </a:extLst>
                </a:gridCol>
                <a:gridCol w="1229635">
                  <a:extLst>
                    <a:ext uri="{9D8B030D-6E8A-4147-A177-3AD203B41FA5}">
                      <a16:colId xmlns:a16="http://schemas.microsoft.com/office/drawing/2014/main" val="20001"/>
                    </a:ext>
                  </a:extLst>
                </a:gridCol>
                <a:gridCol w="890840">
                  <a:extLst>
                    <a:ext uri="{9D8B030D-6E8A-4147-A177-3AD203B41FA5}">
                      <a16:colId xmlns:a16="http://schemas.microsoft.com/office/drawing/2014/main" val="20002"/>
                    </a:ext>
                  </a:extLst>
                </a:gridCol>
                <a:gridCol w="1050744">
                  <a:extLst>
                    <a:ext uri="{9D8B030D-6E8A-4147-A177-3AD203B41FA5}">
                      <a16:colId xmlns:a16="http://schemas.microsoft.com/office/drawing/2014/main" val="20003"/>
                    </a:ext>
                  </a:extLst>
                </a:gridCol>
                <a:gridCol w="1011768">
                  <a:extLst>
                    <a:ext uri="{9D8B030D-6E8A-4147-A177-3AD203B41FA5}">
                      <a16:colId xmlns:a16="http://schemas.microsoft.com/office/drawing/2014/main" val="20004"/>
                    </a:ext>
                  </a:extLst>
                </a:gridCol>
              </a:tblGrid>
              <a:tr h="564587">
                <a:tc>
                  <a:txBody>
                    <a:bodyPr/>
                    <a:lstStyle/>
                    <a:p>
                      <a:pPr marL="0" lvl="0" indent="0" algn="ctr" rtl="0">
                        <a:spcBef>
                          <a:spcPts val="0"/>
                        </a:spcBef>
                        <a:spcAft>
                          <a:spcPts val="0"/>
                        </a:spcAft>
                        <a:buNone/>
                      </a:pPr>
                      <a:r>
                        <a:rPr lang="en" sz="1000" b="1">
                          <a:solidFill>
                            <a:schemeClr val="lt1"/>
                          </a:solidFill>
                        </a:rPr>
                        <a:t>CLASE</a:t>
                      </a:r>
                      <a:endParaRPr sz="1000" b="1">
                        <a:solidFill>
                          <a:schemeClr val="lt1"/>
                        </a:solidFill>
                      </a:endParaRPr>
                    </a:p>
                  </a:txBody>
                  <a:tcPr marL="51726" marR="51726" marT="51726" marB="51726" anchor="ctr">
                    <a:solidFill>
                      <a:srgbClr val="D7BD74"/>
                    </a:solidFill>
                  </a:tcPr>
                </a:tc>
                <a:tc>
                  <a:txBody>
                    <a:bodyPr/>
                    <a:lstStyle/>
                    <a:p>
                      <a:pPr marL="0" lvl="0" indent="0" algn="ctr" rtl="0">
                        <a:spcBef>
                          <a:spcPts val="0"/>
                        </a:spcBef>
                        <a:spcAft>
                          <a:spcPts val="0"/>
                        </a:spcAft>
                        <a:buNone/>
                      </a:pPr>
                      <a:r>
                        <a:rPr lang="en" sz="1000" b="1">
                          <a:solidFill>
                            <a:schemeClr val="lt1"/>
                          </a:solidFill>
                        </a:rPr>
                        <a:t>RANGO DE IPs</a:t>
                      </a:r>
                      <a:endParaRPr sz="1000" b="1">
                        <a:solidFill>
                          <a:schemeClr val="lt1"/>
                        </a:solidFill>
                      </a:endParaRPr>
                    </a:p>
                  </a:txBody>
                  <a:tcPr marL="51726" marR="51726" marT="51726" marB="51726" anchor="ctr">
                    <a:solidFill>
                      <a:srgbClr val="D7BD74"/>
                    </a:solidFill>
                  </a:tcPr>
                </a:tc>
                <a:tc>
                  <a:txBody>
                    <a:bodyPr/>
                    <a:lstStyle/>
                    <a:p>
                      <a:pPr marL="0" lvl="0" indent="0" algn="ctr" rtl="0">
                        <a:spcBef>
                          <a:spcPts val="0"/>
                        </a:spcBef>
                        <a:spcAft>
                          <a:spcPts val="0"/>
                        </a:spcAft>
                        <a:buNone/>
                      </a:pPr>
                      <a:r>
                        <a:rPr lang="en" sz="1000" b="1">
                          <a:solidFill>
                            <a:schemeClr val="lt1"/>
                          </a:solidFill>
                        </a:rPr>
                        <a:t>Nº REDES</a:t>
                      </a:r>
                      <a:endParaRPr sz="1000" b="1">
                        <a:solidFill>
                          <a:schemeClr val="lt1"/>
                        </a:solidFill>
                      </a:endParaRPr>
                    </a:p>
                  </a:txBody>
                  <a:tcPr marL="51726" marR="51726" marT="51726" marB="51726" anchor="ctr">
                    <a:solidFill>
                      <a:srgbClr val="D7BD74"/>
                    </a:solidFill>
                  </a:tcPr>
                </a:tc>
                <a:tc>
                  <a:txBody>
                    <a:bodyPr/>
                    <a:lstStyle/>
                    <a:p>
                      <a:pPr marL="0" lvl="0" indent="0" algn="ctr" rtl="0">
                        <a:spcBef>
                          <a:spcPts val="0"/>
                        </a:spcBef>
                        <a:spcAft>
                          <a:spcPts val="0"/>
                        </a:spcAft>
                        <a:buNone/>
                      </a:pPr>
                      <a:r>
                        <a:rPr lang="en" sz="1000" b="1">
                          <a:solidFill>
                            <a:schemeClr val="lt1"/>
                          </a:solidFill>
                        </a:rPr>
                        <a:t>Nº EQUIPOS POR RED</a:t>
                      </a:r>
                      <a:endParaRPr sz="1000" b="1">
                        <a:solidFill>
                          <a:schemeClr val="lt1"/>
                        </a:solidFill>
                      </a:endParaRPr>
                    </a:p>
                  </a:txBody>
                  <a:tcPr marL="51726" marR="51726" marT="51726" marB="51726" anchor="ctr">
                    <a:solidFill>
                      <a:srgbClr val="D7BD74"/>
                    </a:solidFill>
                  </a:tcPr>
                </a:tc>
                <a:tc>
                  <a:txBody>
                    <a:bodyPr/>
                    <a:lstStyle/>
                    <a:p>
                      <a:pPr marL="0" lvl="0" indent="0" algn="ctr" rtl="0">
                        <a:spcBef>
                          <a:spcPts val="0"/>
                        </a:spcBef>
                        <a:spcAft>
                          <a:spcPts val="0"/>
                        </a:spcAft>
                        <a:buNone/>
                      </a:pPr>
                      <a:r>
                        <a:rPr lang="en" sz="1000" b="1">
                          <a:solidFill>
                            <a:schemeClr val="lt1"/>
                          </a:solidFill>
                        </a:rPr>
                        <a:t>MÁSCARA</a:t>
                      </a:r>
                      <a:endParaRPr sz="1000" b="1">
                        <a:solidFill>
                          <a:schemeClr val="lt1"/>
                        </a:solidFill>
                      </a:endParaRPr>
                    </a:p>
                  </a:txBody>
                  <a:tcPr marL="51726" marR="51726" marT="51726" marB="51726" anchor="ctr">
                    <a:solidFill>
                      <a:srgbClr val="D7BD74"/>
                    </a:solidFill>
                  </a:tcPr>
                </a:tc>
                <a:extLst>
                  <a:ext uri="{0D108BD9-81ED-4DB2-BD59-A6C34878D82A}">
                    <a16:rowId xmlns:a16="http://schemas.microsoft.com/office/drawing/2014/main" val="10000"/>
                  </a:ext>
                </a:extLst>
              </a:tr>
              <a:tr h="555998">
                <a:tc>
                  <a:txBody>
                    <a:bodyPr/>
                    <a:lstStyle/>
                    <a:p>
                      <a:pPr marL="0" lvl="0" indent="0" algn="ctr" rtl="0">
                        <a:spcBef>
                          <a:spcPts val="0"/>
                        </a:spcBef>
                        <a:spcAft>
                          <a:spcPts val="0"/>
                        </a:spcAft>
                        <a:buNone/>
                      </a:pPr>
                      <a:r>
                        <a:rPr lang="en" sz="1400" b="1">
                          <a:solidFill>
                            <a:srgbClr val="5B7E51"/>
                          </a:solidFill>
                        </a:rPr>
                        <a:t>A</a:t>
                      </a:r>
                      <a:endParaRPr sz="1400" b="1">
                        <a:solidFill>
                          <a:srgbClr val="5B7E51"/>
                        </a:solidFill>
                      </a:endParaRPr>
                    </a:p>
                  </a:txBody>
                  <a:tcPr marL="51726" marR="51726" marT="51726" marB="51726" anchor="ctr"/>
                </a:tc>
                <a:tc>
                  <a:txBody>
                    <a:bodyPr/>
                    <a:lstStyle/>
                    <a:p>
                      <a:pPr marL="0" lvl="0" indent="0" algn="ctr" rtl="0">
                        <a:lnSpc>
                          <a:spcPct val="115000"/>
                        </a:lnSpc>
                        <a:spcBef>
                          <a:spcPts val="0"/>
                        </a:spcBef>
                        <a:spcAft>
                          <a:spcPts val="0"/>
                        </a:spcAft>
                        <a:buNone/>
                      </a:pPr>
                      <a:r>
                        <a:rPr lang="en" sz="900"/>
                        <a:t>1.0.0.0 - 127.255.255.255</a:t>
                      </a:r>
                      <a:endParaRPr sz="900"/>
                    </a:p>
                  </a:txBody>
                  <a:tcPr marL="51726" marR="51726" marT="51726" marB="51726" anchor="ctr"/>
                </a:tc>
                <a:tc>
                  <a:txBody>
                    <a:bodyPr/>
                    <a:lstStyle/>
                    <a:p>
                      <a:pPr marL="0" lvl="0" indent="0" algn="ctr" rtl="0">
                        <a:spcBef>
                          <a:spcPts val="0"/>
                        </a:spcBef>
                        <a:spcAft>
                          <a:spcPts val="0"/>
                        </a:spcAft>
                        <a:buNone/>
                      </a:pPr>
                      <a:r>
                        <a:rPr lang="en" sz="900"/>
                        <a:t>127</a:t>
                      </a:r>
                      <a:endParaRPr sz="900"/>
                    </a:p>
                  </a:txBody>
                  <a:tcPr marL="51726" marR="51726" marT="51726" marB="51726" anchor="ctr"/>
                </a:tc>
                <a:tc>
                  <a:txBody>
                    <a:bodyPr/>
                    <a:lstStyle/>
                    <a:p>
                      <a:pPr marL="0" lvl="0" indent="0" algn="ctr" rtl="0">
                        <a:spcBef>
                          <a:spcPts val="0"/>
                        </a:spcBef>
                        <a:spcAft>
                          <a:spcPts val="0"/>
                        </a:spcAft>
                        <a:buNone/>
                      </a:pPr>
                      <a:r>
                        <a:rPr lang="en" sz="900"/>
                        <a:t>16777214</a:t>
                      </a:r>
                      <a:endParaRPr sz="900"/>
                    </a:p>
                  </a:txBody>
                  <a:tcPr marL="51726" marR="51726" marT="51726" marB="51726" anchor="ctr"/>
                </a:tc>
                <a:tc>
                  <a:txBody>
                    <a:bodyPr/>
                    <a:lstStyle/>
                    <a:p>
                      <a:pPr marL="0" lvl="0" indent="0" algn="ctr" rtl="0">
                        <a:spcBef>
                          <a:spcPts val="0"/>
                        </a:spcBef>
                        <a:spcAft>
                          <a:spcPts val="0"/>
                        </a:spcAft>
                        <a:buNone/>
                      </a:pPr>
                      <a:r>
                        <a:rPr lang="en" sz="900"/>
                        <a:t>255.0.0.0 (/8)</a:t>
                      </a:r>
                      <a:endParaRPr sz="900"/>
                    </a:p>
                  </a:txBody>
                  <a:tcPr marL="51726" marR="51726" marT="51726" marB="51726" anchor="ctr"/>
                </a:tc>
                <a:extLst>
                  <a:ext uri="{0D108BD9-81ED-4DB2-BD59-A6C34878D82A}">
                    <a16:rowId xmlns:a16="http://schemas.microsoft.com/office/drawing/2014/main" val="10001"/>
                  </a:ext>
                </a:extLst>
              </a:tr>
              <a:tr h="519777">
                <a:tc>
                  <a:txBody>
                    <a:bodyPr/>
                    <a:lstStyle/>
                    <a:p>
                      <a:pPr marL="0" lvl="0" indent="0" algn="ctr" rtl="0">
                        <a:spcBef>
                          <a:spcPts val="0"/>
                        </a:spcBef>
                        <a:spcAft>
                          <a:spcPts val="0"/>
                        </a:spcAft>
                        <a:buNone/>
                      </a:pPr>
                      <a:r>
                        <a:rPr lang="en" sz="1400" b="1">
                          <a:solidFill>
                            <a:srgbClr val="5B7E51"/>
                          </a:solidFill>
                        </a:rPr>
                        <a:t>B</a:t>
                      </a:r>
                      <a:endParaRPr sz="1400" b="1">
                        <a:solidFill>
                          <a:srgbClr val="5B7E51"/>
                        </a:solidFill>
                      </a:endParaRPr>
                    </a:p>
                  </a:txBody>
                  <a:tcPr marL="51726" marR="51726" marT="51726" marB="51726" anchor="ctr"/>
                </a:tc>
                <a:tc>
                  <a:txBody>
                    <a:bodyPr/>
                    <a:lstStyle/>
                    <a:p>
                      <a:pPr marL="0" lvl="0" indent="0" algn="ctr" rtl="0">
                        <a:spcBef>
                          <a:spcPts val="0"/>
                        </a:spcBef>
                        <a:spcAft>
                          <a:spcPts val="0"/>
                        </a:spcAft>
                        <a:buNone/>
                      </a:pPr>
                      <a:r>
                        <a:rPr lang="en" sz="900"/>
                        <a:t>128.0.0.0 - 191.255.255.255</a:t>
                      </a:r>
                      <a:endParaRPr sz="900"/>
                    </a:p>
                  </a:txBody>
                  <a:tcPr marL="51726" marR="51726" marT="51726" marB="51726" anchor="ctr"/>
                </a:tc>
                <a:tc>
                  <a:txBody>
                    <a:bodyPr/>
                    <a:lstStyle/>
                    <a:p>
                      <a:pPr marL="0" lvl="0" indent="0" algn="ctr" rtl="0">
                        <a:spcBef>
                          <a:spcPts val="0"/>
                        </a:spcBef>
                        <a:spcAft>
                          <a:spcPts val="0"/>
                        </a:spcAft>
                        <a:buNone/>
                      </a:pPr>
                      <a:r>
                        <a:rPr lang="en" sz="900"/>
                        <a:t>16384</a:t>
                      </a:r>
                      <a:endParaRPr sz="900"/>
                    </a:p>
                  </a:txBody>
                  <a:tcPr marL="51726" marR="51726" marT="51726" marB="51726" anchor="ctr"/>
                </a:tc>
                <a:tc>
                  <a:txBody>
                    <a:bodyPr/>
                    <a:lstStyle/>
                    <a:p>
                      <a:pPr marL="0" lvl="0" indent="0" algn="ctr" rtl="0">
                        <a:spcBef>
                          <a:spcPts val="0"/>
                        </a:spcBef>
                        <a:spcAft>
                          <a:spcPts val="0"/>
                        </a:spcAft>
                        <a:buNone/>
                      </a:pPr>
                      <a:r>
                        <a:rPr lang="en" sz="900"/>
                        <a:t>65534</a:t>
                      </a:r>
                      <a:endParaRPr sz="900"/>
                    </a:p>
                  </a:txBody>
                  <a:tcPr marL="51726" marR="51726" marT="51726" marB="51726" anchor="ctr"/>
                </a:tc>
                <a:tc>
                  <a:txBody>
                    <a:bodyPr/>
                    <a:lstStyle/>
                    <a:p>
                      <a:pPr marL="0" lvl="0" indent="0" algn="ctr" rtl="0">
                        <a:spcBef>
                          <a:spcPts val="0"/>
                        </a:spcBef>
                        <a:spcAft>
                          <a:spcPts val="0"/>
                        </a:spcAft>
                        <a:buNone/>
                      </a:pPr>
                      <a:r>
                        <a:rPr lang="en" sz="900"/>
                        <a:t>255.255.0.0 (/16)</a:t>
                      </a:r>
                      <a:endParaRPr sz="900"/>
                    </a:p>
                  </a:txBody>
                  <a:tcPr marL="51726" marR="51726" marT="51726" marB="51726" anchor="ctr"/>
                </a:tc>
                <a:extLst>
                  <a:ext uri="{0D108BD9-81ED-4DB2-BD59-A6C34878D82A}">
                    <a16:rowId xmlns:a16="http://schemas.microsoft.com/office/drawing/2014/main" val="10002"/>
                  </a:ext>
                </a:extLst>
              </a:tr>
              <a:tr h="519777">
                <a:tc>
                  <a:txBody>
                    <a:bodyPr/>
                    <a:lstStyle/>
                    <a:p>
                      <a:pPr marL="0" lvl="0" indent="0" algn="ctr" rtl="0">
                        <a:spcBef>
                          <a:spcPts val="0"/>
                        </a:spcBef>
                        <a:spcAft>
                          <a:spcPts val="0"/>
                        </a:spcAft>
                        <a:buNone/>
                      </a:pPr>
                      <a:r>
                        <a:rPr lang="en" sz="1400" b="1">
                          <a:solidFill>
                            <a:srgbClr val="5B7E51"/>
                          </a:solidFill>
                        </a:rPr>
                        <a:t>C</a:t>
                      </a:r>
                      <a:endParaRPr sz="1400" b="1">
                        <a:solidFill>
                          <a:srgbClr val="5B7E51"/>
                        </a:solidFill>
                      </a:endParaRPr>
                    </a:p>
                  </a:txBody>
                  <a:tcPr marL="51726" marR="51726" marT="51726" marB="51726" anchor="ctr"/>
                </a:tc>
                <a:tc>
                  <a:txBody>
                    <a:bodyPr/>
                    <a:lstStyle/>
                    <a:p>
                      <a:pPr marL="0" lvl="0" indent="0" algn="ctr" rtl="0">
                        <a:spcBef>
                          <a:spcPts val="0"/>
                        </a:spcBef>
                        <a:spcAft>
                          <a:spcPts val="0"/>
                        </a:spcAft>
                        <a:buNone/>
                      </a:pPr>
                      <a:r>
                        <a:rPr lang="en" sz="900"/>
                        <a:t>192.0.0.0 - 223.255.255.255</a:t>
                      </a:r>
                      <a:endParaRPr sz="900"/>
                    </a:p>
                  </a:txBody>
                  <a:tcPr marL="51726" marR="51726" marT="51726" marB="51726" anchor="ctr"/>
                </a:tc>
                <a:tc>
                  <a:txBody>
                    <a:bodyPr/>
                    <a:lstStyle/>
                    <a:p>
                      <a:pPr marL="0" lvl="0" indent="0" algn="ctr" rtl="0">
                        <a:spcBef>
                          <a:spcPts val="0"/>
                        </a:spcBef>
                        <a:spcAft>
                          <a:spcPts val="0"/>
                        </a:spcAft>
                        <a:buNone/>
                      </a:pPr>
                      <a:r>
                        <a:rPr lang="en" sz="900"/>
                        <a:t>2097152</a:t>
                      </a:r>
                      <a:endParaRPr sz="900"/>
                    </a:p>
                  </a:txBody>
                  <a:tcPr marL="51726" marR="51726" marT="51726" marB="51726" anchor="ctr"/>
                </a:tc>
                <a:tc>
                  <a:txBody>
                    <a:bodyPr/>
                    <a:lstStyle/>
                    <a:p>
                      <a:pPr marL="0" lvl="0" indent="0" algn="ctr" rtl="0">
                        <a:spcBef>
                          <a:spcPts val="0"/>
                        </a:spcBef>
                        <a:spcAft>
                          <a:spcPts val="0"/>
                        </a:spcAft>
                        <a:buNone/>
                      </a:pPr>
                      <a:r>
                        <a:rPr lang="en" sz="900"/>
                        <a:t>254</a:t>
                      </a:r>
                      <a:endParaRPr sz="900"/>
                    </a:p>
                  </a:txBody>
                  <a:tcPr marL="51726" marR="51726" marT="51726" marB="51726" anchor="ctr"/>
                </a:tc>
                <a:tc>
                  <a:txBody>
                    <a:bodyPr/>
                    <a:lstStyle/>
                    <a:p>
                      <a:pPr marL="0" lvl="0" indent="0" algn="ctr" rtl="0">
                        <a:spcBef>
                          <a:spcPts val="0"/>
                        </a:spcBef>
                        <a:spcAft>
                          <a:spcPts val="0"/>
                        </a:spcAft>
                        <a:buNone/>
                      </a:pPr>
                      <a:r>
                        <a:rPr lang="en" sz="900"/>
                        <a:t>255.255.255.0 (/24)</a:t>
                      </a:r>
                      <a:endParaRPr sz="900"/>
                    </a:p>
                  </a:txBody>
                  <a:tcPr marL="51726" marR="51726" marT="51726" marB="51726" anchor="ctr"/>
                </a:tc>
                <a:extLst>
                  <a:ext uri="{0D108BD9-81ED-4DB2-BD59-A6C34878D82A}">
                    <a16:rowId xmlns:a16="http://schemas.microsoft.com/office/drawing/2014/main" val="10003"/>
                  </a:ext>
                </a:extLst>
              </a:tr>
              <a:tr h="564587">
                <a:tc>
                  <a:txBody>
                    <a:bodyPr/>
                    <a:lstStyle/>
                    <a:p>
                      <a:pPr marL="0" lvl="0" indent="0" algn="ctr" rtl="0">
                        <a:spcBef>
                          <a:spcPts val="0"/>
                        </a:spcBef>
                        <a:spcAft>
                          <a:spcPts val="0"/>
                        </a:spcAft>
                        <a:buNone/>
                      </a:pPr>
                      <a:r>
                        <a:rPr lang="en" sz="1400" b="1">
                          <a:solidFill>
                            <a:srgbClr val="5B7E51"/>
                          </a:solidFill>
                        </a:rPr>
                        <a:t>(D)</a:t>
                      </a:r>
                      <a:endParaRPr sz="1400" b="1">
                        <a:solidFill>
                          <a:srgbClr val="5B7E51"/>
                        </a:solidFill>
                      </a:endParaRPr>
                    </a:p>
                  </a:txBody>
                  <a:tcPr marL="51726" marR="51726" marT="51726" marB="51726" anchor="ctr">
                    <a:solidFill>
                      <a:srgbClr val="D9D9D9"/>
                    </a:solidFill>
                  </a:tcPr>
                </a:tc>
                <a:tc>
                  <a:txBody>
                    <a:bodyPr/>
                    <a:lstStyle/>
                    <a:p>
                      <a:pPr marL="0" lvl="0" indent="0" algn="ctr" rtl="0">
                        <a:spcBef>
                          <a:spcPts val="0"/>
                        </a:spcBef>
                        <a:spcAft>
                          <a:spcPts val="0"/>
                        </a:spcAft>
                        <a:buNone/>
                      </a:pPr>
                      <a:r>
                        <a:rPr lang="en" sz="900"/>
                        <a:t>224.0.0.0 - 239.255.255.255</a:t>
                      </a:r>
                      <a:endParaRPr sz="900"/>
                    </a:p>
                  </a:txBody>
                  <a:tcPr marL="51726" marR="51726" marT="51726" marB="51726" anchor="ctr">
                    <a:solidFill>
                      <a:srgbClr val="D9D9D9"/>
                    </a:solidFill>
                  </a:tcPr>
                </a:tc>
                <a:tc gridSpan="3">
                  <a:txBody>
                    <a:bodyPr/>
                    <a:lstStyle/>
                    <a:p>
                      <a:pPr marL="0" lvl="0" indent="0" algn="ctr" rtl="0">
                        <a:spcBef>
                          <a:spcPts val="0"/>
                        </a:spcBef>
                        <a:spcAft>
                          <a:spcPts val="0"/>
                        </a:spcAft>
                        <a:buNone/>
                      </a:pPr>
                      <a:r>
                        <a:rPr lang="en" sz="1000"/>
                        <a:t>Clase no usada, reservada para difusión de mensajes</a:t>
                      </a:r>
                      <a:endParaRPr sz="1000"/>
                    </a:p>
                  </a:txBody>
                  <a:tcPr marL="51726" marR="51726" marT="51726" marB="51726" anchor="ctr">
                    <a:solidFill>
                      <a:srgbClr val="D9D9D9"/>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4"/>
                  </a:ext>
                </a:extLst>
              </a:tr>
              <a:tr h="564587">
                <a:tc>
                  <a:txBody>
                    <a:bodyPr/>
                    <a:lstStyle/>
                    <a:p>
                      <a:pPr marL="0" lvl="0" indent="0" algn="ctr" rtl="0">
                        <a:spcBef>
                          <a:spcPts val="0"/>
                        </a:spcBef>
                        <a:spcAft>
                          <a:spcPts val="0"/>
                        </a:spcAft>
                        <a:buNone/>
                      </a:pPr>
                      <a:r>
                        <a:rPr lang="en" sz="1400" b="1">
                          <a:solidFill>
                            <a:srgbClr val="5B7E51"/>
                          </a:solidFill>
                        </a:rPr>
                        <a:t>(E)</a:t>
                      </a:r>
                      <a:endParaRPr sz="1400" b="1">
                        <a:solidFill>
                          <a:srgbClr val="5B7E51"/>
                        </a:solidFill>
                      </a:endParaRPr>
                    </a:p>
                  </a:txBody>
                  <a:tcPr marL="51726" marR="51726" marT="51726" marB="51726" anchor="ctr">
                    <a:solidFill>
                      <a:srgbClr val="D9D9D9"/>
                    </a:solidFill>
                  </a:tcPr>
                </a:tc>
                <a:tc>
                  <a:txBody>
                    <a:bodyPr/>
                    <a:lstStyle/>
                    <a:p>
                      <a:pPr marL="0" lvl="0" indent="0" algn="ctr" rtl="0">
                        <a:spcBef>
                          <a:spcPts val="0"/>
                        </a:spcBef>
                        <a:spcAft>
                          <a:spcPts val="0"/>
                        </a:spcAft>
                        <a:buNone/>
                      </a:pPr>
                      <a:r>
                        <a:rPr lang="en" sz="900"/>
                        <a:t>240.0.0.0 - 255.255.255.255</a:t>
                      </a:r>
                      <a:endParaRPr sz="900"/>
                    </a:p>
                  </a:txBody>
                  <a:tcPr marL="51726" marR="51726" marT="51726" marB="51726" anchor="ctr">
                    <a:solidFill>
                      <a:srgbClr val="D9D9D9"/>
                    </a:solidFill>
                  </a:tcPr>
                </a:tc>
                <a:tc gridSpan="3">
                  <a:txBody>
                    <a:bodyPr/>
                    <a:lstStyle/>
                    <a:p>
                      <a:pPr marL="0" lvl="0" indent="0" algn="ctr" rtl="0">
                        <a:spcBef>
                          <a:spcPts val="0"/>
                        </a:spcBef>
                        <a:spcAft>
                          <a:spcPts val="0"/>
                        </a:spcAft>
                        <a:buNone/>
                      </a:pPr>
                      <a:r>
                        <a:rPr lang="en" sz="1000" dirty="0"/>
                        <a:t>Clase no usada, pensada inicialmente para ampliar el espacio de direcciones IPv4</a:t>
                      </a:r>
                      <a:endParaRPr sz="1000" dirty="0"/>
                    </a:p>
                  </a:txBody>
                  <a:tcPr marL="51726" marR="51726" marT="51726" marB="51726" anchor="ctr">
                    <a:solidFill>
                      <a:srgbClr val="D9D9D9"/>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5134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6E9BB0-AB1D-905D-9B5E-42A3FECA899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84D77A1-E394-848C-C5DC-CC0FBA192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3F138F-EE08-808C-CEB6-E3E0A7E15750}"/>
              </a:ext>
            </a:extLst>
          </p:cNvPr>
          <p:cNvSpPr>
            <a:spLocks noGrp="1"/>
          </p:cNvSpPr>
          <p:nvPr>
            <p:ph type="title"/>
          </p:nvPr>
        </p:nvSpPr>
        <p:spPr>
          <a:xfrm>
            <a:off x="640080" y="1371600"/>
            <a:ext cx="5737859" cy="1097280"/>
          </a:xfrm>
        </p:spPr>
        <p:txBody>
          <a:bodyPr vert="horz" lIns="91440" tIns="45720" rIns="91440" bIns="45720" rtlCol="0" anchor="t">
            <a:normAutofit/>
          </a:bodyPr>
          <a:lstStyle/>
          <a:p>
            <a:r>
              <a:rPr lang="en-US"/>
              <a:t>1.3.2 Máscara de red</a:t>
            </a:r>
          </a:p>
        </p:txBody>
      </p:sp>
      <p:cxnSp>
        <p:nvCxnSpPr>
          <p:cNvPr id="14" name="Straight Connector 13">
            <a:extLst>
              <a:ext uri="{FF2B5EF4-FFF2-40B4-BE49-F238E27FC236}">
                <a16:creationId xmlns:a16="http://schemas.microsoft.com/office/drawing/2014/main" id="{73B8BCA5-61DE-FA34-4B8A-35A5997750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E277F64A-B79F-9E15-58FB-AF4088E69D94}"/>
              </a:ext>
            </a:extLst>
          </p:cNvPr>
          <p:cNvSpPr txBox="1"/>
          <p:nvPr/>
        </p:nvSpPr>
        <p:spPr>
          <a:xfrm>
            <a:off x="1202663" y="2425720"/>
            <a:ext cx="1858201" cy="523220"/>
          </a:xfrm>
          <a:prstGeom prst="rect">
            <a:avLst/>
          </a:prstGeom>
          <a:noFill/>
        </p:spPr>
        <p:txBody>
          <a:bodyPr wrap="none" rtlCol="0">
            <a:spAutoFit/>
          </a:bodyPr>
          <a:lstStyle/>
          <a:p>
            <a:r>
              <a:rPr lang="es-ES" sz="2800" dirty="0" err="1"/>
              <a:t>Subnetting</a:t>
            </a:r>
            <a:endParaRPr lang="es-ES" dirty="0"/>
          </a:p>
        </p:txBody>
      </p:sp>
      <p:sp>
        <p:nvSpPr>
          <p:cNvPr id="4" name="CuadroTexto 3">
            <a:extLst>
              <a:ext uri="{FF2B5EF4-FFF2-40B4-BE49-F238E27FC236}">
                <a16:creationId xmlns:a16="http://schemas.microsoft.com/office/drawing/2014/main" id="{0010C9DC-33D0-8D13-FAC0-81A1025C6211}"/>
              </a:ext>
            </a:extLst>
          </p:cNvPr>
          <p:cNvSpPr txBox="1"/>
          <p:nvPr/>
        </p:nvSpPr>
        <p:spPr>
          <a:xfrm>
            <a:off x="1026883" y="3101816"/>
            <a:ext cx="5351056" cy="1477328"/>
          </a:xfrm>
          <a:prstGeom prst="rect">
            <a:avLst/>
          </a:prstGeom>
          <a:noFill/>
        </p:spPr>
        <p:txBody>
          <a:bodyPr wrap="square" rtlCol="0">
            <a:spAutoFit/>
          </a:bodyPr>
          <a:lstStyle/>
          <a:p>
            <a:r>
              <a:rPr lang="es-ES" dirty="0"/>
              <a:t>Es el proceso mediante el cual se incrementa el numero de bits a 1 de la mascara por encima de los valores predeterminados y permite dividir la red en redes más pequeñas que albergan a un número menor de hosts</a:t>
            </a:r>
          </a:p>
        </p:txBody>
      </p:sp>
      <p:pic>
        <p:nvPicPr>
          <p:cNvPr id="2050" name="Picture 2" descr="Subnetting 101 - Everything you need to know [Free IPv4 cheat sheet  included]">
            <a:extLst>
              <a:ext uri="{FF2B5EF4-FFF2-40B4-BE49-F238E27FC236}">
                <a16:creationId xmlns:a16="http://schemas.microsoft.com/office/drawing/2014/main" id="{036FB660-1BDA-3F20-E11E-90ADA4FD8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4822" y="770885"/>
            <a:ext cx="3759510" cy="5316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63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9A08E-D4C7-4D13-FCCC-D068FB4315F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5DD4D29-0CFB-BA89-76C8-AE52B36A8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D72F044-141F-55A1-E741-F4255B3BF237}"/>
              </a:ext>
            </a:extLst>
          </p:cNvPr>
          <p:cNvSpPr>
            <a:spLocks noGrp="1"/>
          </p:cNvSpPr>
          <p:nvPr>
            <p:ph type="title"/>
          </p:nvPr>
        </p:nvSpPr>
        <p:spPr>
          <a:xfrm>
            <a:off x="640080" y="1371600"/>
            <a:ext cx="5737859" cy="1097280"/>
          </a:xfrm>
        </p:spPr>
        <p:txBody>
          <a:bodyPr vert="horz" lIns="91440" tIns="45720" rIns="91440" bIns="45720" rtlCol="0" anchor="t">
            <a:normAutofit/>
          </a:bodyPr>
          <a:lstStyle/>
          <a:p>
            <a:r>
              <a:rPr lang="en-US"/>
              <a:t>1.3.2 Máscara de red</a:t>
            </a:r>
          </a:p>
        </p:txBody>
      </p:sp>
      <p:cxnSp>
        <p:nvCxnSpPr>
          <p:cNvPr id="14" name="Straight Connector 13">
            <a:extLst>
              <a:ext uri="{FF2B5EF4-FFF2-40B4-BE49-F238E27FC236}">
                <a16:creationId xmlns:a16="http://schemas.microsoft.com/office/drawing/2014/main" id="{09789379-B988-A5B6-ED43-05247791A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C27E9698-C260-9942-A7DD-9C4E7F32228E}"/>
              </a:ext>
            </a:extLst>
          </p:cNvPr>
          <p:cNvSpPr txBox="1"/>
          <p:nvPr/>
        </p:nvSpPr>
        <p:spPr>
          <a:xfrm>
            <a:off x="1184070" y="2402602"/>
            <a:ext cx="2190023" cy="523220"/>
          </a:xfrm>
          <a:prstGeom prst="rect">
            <a:avLst/>
          </a:prstGeom>
          <a:noFill/>
        </p:spPr>
        <p:txBody>
          <a:bodyPr wrap="none" rtlCol="0">
            <a:spAutoFit/>
          </a:bodyPr>
          <a:lstStyle/>
          <a:p>
            <a:r>
              <a:rPr lang="es-ES" sz="2800" dirty="0" err="1"/>
              <a:t>Supernetting</a:t>
            </a:r>
            <a:endParaRPr lang="es-ES" sz="2800" dirty="0"/>
          </a:p>
        </p:txBody>
      </p:sp>
      <p:sp>
        <p:nvSpPr>
          <p:cNvPr id="4" name="CuadroTexto 3">
            <a:extLst>
              <a:ext uri="{FF2B5EF4-FFF2-40B4-BE49-F238E27FC236}">
                <a16:creationId xmlns:a16="http://schemas.microsoft.com/office/drawing/2014/main" id="{5E030C8B-D7B1-9465-96CC-F37CFD815345}"/>
              </a:ext>
            </a:extLst>
          </p:cNvPr>
          <p:cNvSpPr txBox="1"/>
          <p:nvPr/>
        </p:nvSpPr>
        <p:spPr>
          <a:xfrm>
            <a:off x="1184070" y="3278445"/>
            <a:ext cx="4577540" cy="923330"/>
          </a:xfrm>
          <a:prstGeom prst="rect">
            <a:avLst/>
          </a:prstGeom>
          <a:noFill/>
        </p:spPr>
        <p:txBody>
          <a:bodyPr wrap="square" rtlCol="0">
            <a:spAutoFit/>
          </a:bodyPr>
          <a:lstStyle/>
          <a:p>
            <a:r>
              <a:rPr lang="es-ES" dirty="0"/>
              <a:t>El proceso inverso que reduce el numero de bits a 1 de la mascara por debajo de los valores predeterminados</a:t>
            </a:r>
          </a:p>
        </p:txBody>
      </p:sp>
      <p:pic>
        <p:nvPicPr>
          <p:cNvPr id="3074" name="Picture 2" descr="Supernetting: Aprende a calcular Superredes IPv4">
            <a:extLst>
              <a:ext uri="{FF2B5EF4-FFF2-40B4-BE49-F238E27FC236}">
                <a16:creationId xmlns:a16="http://schemas.microsoft.com/office/drawing/2014/main" id="{31503F4C-EF31-9345-6606-3BB50D48B1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863" y="1573530"/>
            <a:ext cx="5515884" cy="3912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532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4EDDF-1D32-9721-97EB-2C6C6B904624}"/>
              </a:ext>
            </a:extLst>
          </p:cNvPr>
          <p:cNvSpPr>
            <a:spLocks noGrp="1"/>
          </p:cNvSpPr>
          <p:nvPr>
            <p:ph type="title"/>
          </p:nvPr>
        </p:nvSpPr>
        <p:spPr/>
        <p:txBody>
          <a:bodyPr/>
          <a:lstStyle/>
          <a:p>
            <a:r>
              <a:rPr lang="es-ES" dirty="0"/>
              <a:t>1.3.3 Puerta de enlace</a:t>
            </a:r>
          </a:p>
        </p:txBody>
      </p:sp>
      <p:sp>
        <p:nvSpPr>
          <p:cNvPr id="3" name="Marcador de contenido 2">
            <a:extLst>
              <a:ext uri="{FF2B5EF4-FFF2-40B4-BE49-F238E27FC236}">
                <a16:creationId xmlns:a16="http://schemas.microsoft.com/office/drawing/2014/main" id="{9B61C3D3-BF4C-043C-5B4D-35B90D696102}"/>
              </a:ext>
            </a:extLst>
          </p:cNvPr>
          <p:cNvSpPr>
            <a:spLocks noGrp="1"/>
          </p:cNvSpPr>
          <p:nvPr>
            <p:ph idx="1"/>
          </p:nvPr>
        </p:nvSpPr>
        <p:spPr>
          <a:xfrm>
            <a:off x="640080" y="2312630"/>
            <a:ext cx="10890928" cy="1755648"/>
          </a:xfrm>
        </p:spPr>
        <p:txBody>
          <a:bodyPr/>
          <a:lstStyle/>
          <a:p>
            <a:pPr marL="0" indent="0">
              <a:buNone/>
            </a:pPr>
            <a:r>
              <a:rPr lang="es-ES" dirty="0"/>
              <a:t>Cuando un nodo quiere comunicarse con otro, comprueba si tanto él como el nodo destino están en la misma red. </a:t>
            </a:r>
          </a:p>
          <a:p>
            <a:pPr marL="0" indent="0">
              <a:buNone/>
            </a:pPr>
            <a:r>
              <a:rPr lang="es-ES" dirty="0"/>
              <a:t>Esto lo hace obteniendo ambas redes mediante operaciones AND entre las IP y la máscara del nodo origen, y finalmente realizando la comparación bit a bit de ambas redes.</a:t>
            </a:r>
          </a:p>
        </p:txBody>
      </p:sp>
      <p:pic>
        <p:nvPicPr>
          <p:cNvPr id="4098" name="Picture 2" descr="Operaciones lógicas con imágenes - Visión artificial - Solución ingenieril">
            <a:extLst>
              <a:ext uri="{FF2B5EF4-FFF2-40B4-BE49-F238E27FC236}">
                <a16:creationId xmlns:a16="http://schemas.microsoft.com/office/drawing/2014/main" id="{6A3AE7A8-2AA2-64C6-53C6-0495CD57F0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526" y="4331567"/>
            <a:ext cx="2394786" cy="230966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Operación AND y OR | Direccionamiento IP y Subredes">
            <a:extLst>
              <a:ext uri="{FF2B5EF4-FFF2-40B4-BE49-F238E27FC236}">
                <a16:creationId xmlns:a16="http://schemas.microsoft.com/office/drawing/2014/main" id="{715D518B-337F-CEC2-16F1-13E9B31DB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3985" y="4778794"/>
            <a:ext cx="8265226" cy="109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159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579791-F1AF-FB56-6BB3-12A918A16C0D}"/>
            </a:ext>
          </a:extLst>
        </p:cNvPr>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82B90D8-AA97-56F2-9053-CE9ADFA001AB}"/>
              </a:ext>
            </a:extLst>
          </p:cNvPr>
          <p:cNvSpPr>
            <a:spLocks noGrp="1"/>
          </p:cNvSpPr>
          <p:nvPr>
            <p:ph type="title"/>
          </p:nvPr>
        </p:nvSpPr>
        <p:spPr>
          <a:xfrm>
            <a:off x="640080" y="1371600"/>
            <a:ext cx="5737859" cy="1097280"/>
          </a:xfrm>
        </p:spPr>
        <p:txBody>
          <a:bodyPr>
            <a:normAutofit/>
          </a:bodyPr>
          <a:lstStyle/>
          <a:p>
            <a:r>
              <a:rPr lang="es-ES" dirty="0"/>
              <a:t>1.3.3 Puerta de enlace</a:t>
            </a:r>
          </a:p>
        </p:txBody>
      </p:sp>
      <p:cxnSp>
        <p:nvCxnSpPr>
          <p:cNvPr id="5129" name="Straight Connector 5128">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8879A83D-D123-FEC4-DDF4-67A66B66643A}"/>
              </a:ext>
            </a:extLst>
          </p:cNvPr>
          <p:cNvSpPr>
            <a:spLocks noGrp="1"/>
          </p:cNvSpPr>
          <p:nvPr>
            <p:ph idx="1"/>
          </p:nvPr>
        </p:nvSpPr>
        <p:spPr>
          <a:xfrm>
            <a:off x="640080" y="2633236"/>
            <a:ext cx="5737860" cy="3666980"/>
          </a:xfrm>
        </p:spPr>
        <p:txBody>
          <a:bodyPr>
            <a:normAutofit/>
          </a:bodyPr>
          <a:lstStyle/>
          <a:p>
            <a:pPr marL="0" indent="0">
              <a:buNone/>
            </a:pPr>
            <a:r>
              <a:rPr lang="es-ES" dirty="0"/>
              <a:t>En caso de que ambas redes sean iguales, las comunicaciones se llevan a cabo sin problemas, gracias a la existencia el protocolo ARP.</a:t>
            </a:r>
          </a:p>
          <a:p>
            <a:pPr marL="0" indent="0">
              <a:buNone/>
            </a:pPr>
            <a:r>
              <a:rPr lang="es-ES" dirty="0"/>
              <a:t>Sin embargo, si el recurso al que se quiere acceder no está en la misma red, se hace necesario usar algún elemento que, siendo accesible, reenvíe los paquetes IP que no coinciden con ninguna ruta de la tabla de enrutamiento al destino</a:t>
            </a:r>
          </a:p>
        </p:txBody>
      </p:sp>
      <p:pic>
        <p:nvPicPr>
          <p:cNvPr id="5122" name="Picture 2" descr="Qué es la puerta de enlace?">
            <a:extLst>
              <a:ext uri="{FF2B5EF4-FFF2-40B4-BE49-F238E27FC236}">
                <a16:creationId xmlns:a16="http://schemas.microsoft.com/office/drawing/2014/main" id="{30CE6CE1-E87B-0E58-E3D3-0A5FD74243E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55179" y="1411022"/>
            <a:ext cx="4375829" cy="4889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738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2E20D-2556-714C-C336-6CD07E0D67CA}"/>
              </a:ext>
            </a:extLst>
          </p:cNvPr>
          <p:cNvSpPr>
            <a:spLocks noGrp="1"/>
          </p:cNvSpPr>
          <p:nvPr>
            <p:ph type="title"/>
          </p:nvPr>
        </p:nvSpPr>
        <p:spPr/>
        <p:txBody>
          <a:bodyPr/>
          <a:lstStyle/>
          <a:p>
            <a:r>
              <a:rPr lang="es-ES" dirty="0"/>
              <a:t>Actividades propuestas</a:t>
            </a:r>
          </a:p>
        </p:txBody>
      </p:sp>
      <p:pic>
        <p:nvPicPr>
          <p:cNvPr id="5" name="Imagen 4">
            <a:extLst>
              <a:ext uri="{FF2B5EF4-FFF2-40B4-BE49-F238E27FC236}">
                <a16:creationId xmlns:a16="http://schemas.microsoft.com/office/drawing/2014/main" id="{A2A33035-2868-BEDC-7E24-87025BACD427}"/>
              </a:ext>
            </a:extLst>
          </p:cNvPr>
          <p:cNvPicPr>
            <a:picLocks noChangeAspect="1"/>
          </p:cNvPicPr>
          <p:nvPr/>
        </p:nvPicPr>
        <p:blipFill>
          <a:blip r:embed="rId2"/>
          <a:stretch>
            <a:fillRect/>
          </a:stretch>
        </p:blipFill>
        <p:spPr>
          <a:xfrm>
            <a:off x="933197" y="2111793"/>
            <a:ext cx="9943349" cy="4199778"/>
          </a:xfrm>
          <a:prstGeom prst="rect">
            <a:avLst/>
          </a:prstGeom>
        </p:spPr>
      </p:pic>
    </p:spTree>
    <p:extLst>
      <p:ext uri="{BB962C8B-B14F-4D97-AF65-F5344CB8AC3E}">
        <p14:creationId xmlns:p14="http://schemas.microsoft.com/office/powerpoint/2010/main" val="4205348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E83C8-A50C-3695-F74F-FCB21B88993B}"/>
              </a:ext>
            </a:extLst>
          </p:cNvPr>
          <p:cNvSpPr>
            <a:spLocks noGrp="1"/>
          </p:cNvSpPr>
          <p:nvPr>
            <p:ph type="title"/>
          </p:nvPr>
        </p:nvSpPr>
        <p:spPr/>
        <p:txBody>
          <a:bodyPr/>
          <a:lstStyle/>
          <a:p>
            <a:r>
              <a:rPr lang="es-ES" dirty="0"/>
              <a:t>Soluciones</a:t>
            </a:r>
          </a:p>
        </p:txBody>
      </p:sp>
      <p:pic>
        <p:nvPicPr>
          <p:cNvPr id="5" name="Imagen 4">
            <a:extLst>
              <a:ext uri="{FF2B5EF4-FFF2-40B4-BE49-F238E27FC236}">
                <a16:creationId xmlns:a16="http://schemas.microsoft.com/office/drawing/2014/main" id="{7F0157A1-B334-FABB-9141-954AA512EC8C}"/>
              </a:ext>
            </a:extLst>
          </p:cNvPr>
          <p:cNvPicPr>
            <a:picLocks noChangeAspect="1"/>
          </p:cNvPicPr>
          <p:nvPr/>
        </p:nvPicPr>
        <p:blipFill>
          <a:blip r:embed="rId2"/>
          <a:stretch>
            <a:fillRect/>
          </a:stretch>
        </p:blipFill>
        <p:spPr>
          <a:xfrm>
            <a:off x="340193" y="2783204"/>
            <a:ext cx="11190815" cy="2418715"/>
          </a:xfrm>
          <a:prstGeom prst="rect">
            <a:avLst/>
          </a:prstGeom>
        </p:spPr>
      </p:pic>
      <p:sp>
        <p:nvSpPr>
          <p:cNvPr id="6" name="CuadroTexto 5">
            <a:extLst>
              <a:ext uri="{FF2B5EF4-FFF2-40B4-BE49-F238E27FC236}">
                <a16:creationId xmlns:a16="http://schemas.microsoft.com/office/drawing/2014/main" id="{2777571A-DC55-CD74-C105-B1CA262D6D3B}"/>
              </a:ext>
            </a:extLst>
          </p:cNvPr>
          <p:cNvSpPr txBox="1"/>
          <p:nvPr/>
        </p:nvSpPr>
        <p:spPr>
          <a:xfrm>
            <a:off x="822960" y="2468881"/>
            <a:ext cx="484428" cy="369332"/>
          </a:xfrm>
          <a:prstGeom prst="rect">
            <a:avLst/>
          </a:prstGeom>
          <a:noFill/>
        </p:spPr>
        <p:txBody>
          <a:bodyPr wrap="none" rtlCol="0">
            <a:spAutoFit/>
          </a:bodyPr>
          <a:lstStyle/>
          <a:p>
            <a:r>
              <a:rPr lang="es-ES" dirty="0"/>
              <a:t>1.2</a:t>
            </a:r>
          </a:p>
        </p:txBody>
      </p:sp>
    </p:spTree>
    <p:extLst>
      <p:ext uri="{BB962C8B-B14F-4D97-AF65-F5344CB8AC3E}">
        <p14:creationId xmlns:p14="http://schemas.microsoft.com/office/powerpoint/2010/main" val="2041802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3864A4-A3E1-0C9F-FFE0-D8C4A85C978B}"/>
              </a:ext>
            </a:extLst>
          </p:cNvPr>
          <p:cNvSpPr>
            <a:spLocks noGrp="1"/>
          </p:cNvSpPr>
          <p:nvPr>
            <p:ph type="title"/>
          </p:nvPr>
        </p:nvSpPr>
        <p:spPr/>
        <p:txBody>
          <a:bodyPr/>
          <a:lstStyle/>
          <a:p>
            <a:r>
              <a:rPr lang="es-ES" dirty="0"/>
              <a:t>1.4 Protocolo IPv6</a:t>
            </a:r>
          </a:p>
        </p:txBody>
      </p:sp>
      <p:sp>
        <p:nvSpPr>
          <p:cNvPr id="3" name="Marcador de contenido 2">
            <a:extLst>
              <a:ext uri="{FF2B5EF4-FFF2-40B4-BE49-F238E27FC236}">
                <a16:creationId xmlns:a16="http://schemas.microsoft.com/office/drawing/2014/main" id="{D224D999-AB38-8CD0-D4AD-638CFAD54356}"/>
              </a:ext>
            </a:extLst>
          </p:cNvPr>
          <p:cNvSpPr>
            <a:spLocks noGrp="1"/>
          </p:cNvSpPr>
          <p:nvPr>
            <p:ph idx="1"/>
          </p:nvPr>
        </p:nvSpPr>
        <p:spPr/>
        <p:txBody>
          <a:bodyPr/>
          <a:lstStyle/>
          <a:p>
            <a:pPr marL="0" indent="0">
              <a:buNone/>
            </a:pPr>
            <a:r>
              <a:rPr lang="es-ES" dirty="0"/>
              <a:t>El desmesurado crecimiento del mercado hizo que surgiera un agotamiento del espacio de direccionamiento que el protocolo IPV4 ofrecía. Para solventar este problema, y con la finalidad de reemplazar IPV4, se definió el protocolo IPV6 en la RFC 2460.</a:t>
            </a:r>
          </a:p>
        </p:txBody>
      </p:sp>
    </p:spTree>
    <p:extLst>
      <p:ext uri="{BB962C8B-B14F-4D97-AF65-F5344CB8AC3E}">
        <p14:creationId xmlns:p14="http://schemas.microsoft.com/office/powerpoint/2010/main" val="326843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0F8A7-B821-06CE-93BD-952F4302E9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195304-8DB7-10F8-1C0F-A43957A7E464}"/>
              </a:ext>
            </a:extLst>
          </p:cNvPr>
          <p:cNvSpPr>
            <a:spLocks noGrp="1"/>
          </p:cNvSpPr>
          <p:nvPr>
            <p:ph type="title"/>
          </p:nvPr>
        </p:nvSpPr>
        <p:spPr/>
        <p:txBody>
          <a:bodyPr/>
          <a:lstStyle/>
          <a:p>
            <a:r>
              <a:rPr lang="es-ES" dirty="0"/>
              <a:t>1.4 Protocolo IPv6</a:t>
            </a:r>
          </a:p>
        </p:txBody>
      </p:sp>
      <p:sp>
        <p:nvSpPr>
          <p:cNvPr id="3" name="Marcador de contenido 2">
            <a:extLst>
              <a:ext uri="{FF2B5EF4-FFF2-40B4-BE49-F238E27FC236}">
                <a16:creationId xmlns:a16="http://schemas.microsoft.com/office/drawing/2014/main" id="{84D1B4BF-2279-31A7-78F8-ECCE518CCACA}"/>
              </a:ext>
            </a:extLst>
          </p:cNvPr>
          <p:cNvSpPr>
            <a:spLocks noGrp="1"/>
          </p:cNvSpPr>
          <p:nvPr>
            <p:ph idx="1"/>
          </p:nvPr>
        </p:nvSpPr>
        <p:spPr/>
        <p:txBody>
          <a:bodyPr>
            <a:normAutofit/>
          </a:bodyPr>
          <a:lstStyle/>
          <a:p>
            <a:pPr marL="0" indent="0">
              <a:buNone/>
            </a:pPr>
            <a:r>
              <a:rPr lang="es-ES" dirty="0"/>
              <a:t>Esta nueva versión del protocolo está diseñada para incluirse por defecto en la mayoría de los dispositivos que acceden a Internet y ofrece muchas características nuevas para gestionar de forma más eficiente las redes:</a:t>
            </a:r>
          </a:p>
        </p:txBody>
      </p:sp>
      <p:sp>
        <p:nvSpPr>
          <p:cNvPr id="4" name="Flecha: hacia abajo 3">
            <a:extLst>
              <a:ext uri="{FF2B5EF4-FFF2-40B4-BE49-F238E27FC236}">
                <a16:creationId xmlns:a16="http://schemas.microsoft.com/office/drawing/2014/main" id="{C46F0D74-2719-4FEB-6917-1DD8FECBA6D8}"/>
              </a:ext>
            </a:extLst>
          </p:cNvPr>
          <p:cNvSpPr/>
          <p:nvPr/>
        </p:nvSpPr>
        <p:spPr>
          <a:xfrm>
            <a:off x="4491789" y="3801979"/>
            <a:ext cx="2903621" cy="27592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7223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01C2-6CF1-3E91-062A-040B5A350E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08F408-12CF-788E-20CC-28950124277F}"/>
              </a:ext>
            </a:extLst>
          </p:cNvPr>
          <p:cNvSpPr>
            <a:spLocks noGrp="1"/>
          </p:cNvSpPr>
          <p:nvPr>
            <p:ph type="title"/>
          </p:nvPr>
        </p:nvSpPr>
        <p:spPr/>
        <p:txBody>
          <a:bodyPr/>
          <a:lstStyle/>
          <a:p>
            <a:r>
              <a:rPr lang="es-ES" dirty="0"/>
              <a:t>1.4 Protocolo IPv6</a:t>
            </a:r>
          </a:p>
        </p:txBody>
      </p:sp>
      <p:sp>
        <p:nvSpPr>
          <p:cNvPr id="3" name="Marcador de contenido 2">
            <a:extLst>
              <a:ext uri="{FF2B5EF4-FFF2-40B4-BE49-F238E27FC236}">
                <a16:creationId xmlns:a16="http://schemas.microsoft.com/office/drawing/2014/main" id="{BB47B66A-7819-5633-7801-6E9C1D77D2E9}"/>
              </a:ext>
            </a:extLst>
          </p:cNvPr>
          <p:cNvSpPr>
            <a:spLocks noGrp="1"/>
          </p:cNvSpPr>
          <p:nvPr>
            <p:ph idx="1"/>
          </p:nvPr>
        </p:nvSpPr>
        <p:spPr/>
        <p:txBody>
          <a:bodyPr>
            <a:normAutofit lnSpcReduction="10000"/>
          </a:bodyPr>
          <a:lstStyle/>
          <a:p>
            <a:pPr>
              <a:buFontTx/>
              <a:buChar char="-"/>
            </a:pPr>
            <a:r>
              <a:rPr lang="es-ES" dirty="0"/>
              <a:t>Mayor espacio de direccionamiento.</a:t>
            </a:r>
          </a:p>
          <a:p>
            <a:pPr>
              <a:buFontTx/>
              <a:buChar char="-"/>
            </a:pPr>
            <a:r>
              <a:rPr lang="es-ES" dirty="0"/>
              <a:t>La seguridad se define como parte del protocolo, incorporando </a:t>
            </a:r>
            <a:r>
              <a:rPr lang="es-ES" dirty="0" err="1"/>
              <a:t>IPSec</a:t>
            </a:r>
            <a:r>
              <a:rPr lang="es-ES" dirty="0"/>
              <a:t> de forma nativa.</a:t>
            </a:r>
          </a:p>
          <a:p>
            <a:pPr>
              <a:buFontTx/>
              <a:buChar char="-"/>
            </a:pPr>
            <a:r>
              <a:rPr lang="es-ES" dirty="0"/>
              <a:t>Elimina la necesidad de hacer NAT.</a:t>
            </a:r>
          </a:p>
          <a:p>
            <a:pPr>
              <a:buFontTx/>
              <a:buChar char="-"/>
            </a:pPr>
            <a:r>
              <a:rPr lang="es-ES" dirty="0"/>
              <a:t>Elimina las sumas  de verificación. Se dispone de un mecanismo de control de errores propio que evita tener que realizar los tradicionales </a:t>
            </a:r>
            <a:r>
              <a:rPr lang="es-ES" dirty="0" err="1"/>
              <a:t>checksums</a:t>
            </a:r>
            <a:r>
              <a:rPr lang="es-ES" dirty="0"/>
              <a:t> y redunda en una conexión de mayor velocidad.</a:t>
            </a:r>
          </a:p>
          <a:p>
            <a:pPr>
              <a:buFontTx/>
              <a:buChar char="-"/>
            </a:pPr>
            <a:r>
              <a:rPr lang="es-ES" dirty="0"/>
              <a:t>Nuevo diseño que permitirá al protocolo adaptarse fácilmente a futuras funcionalidades.</a:t>
            </a:r>
          </a:p>
          <a:p>
            <a:pPr>
              <a:buFontTx/>
              <a:buChar char="-"/>
            </a:pPr>
            <a:r>
              <a:rPr lang="es-ES" dirty="0"/>
              <a:t>Direccionamiento automático de la interfaz.</a:t>
            </a:r>
          </a:p>
        </p:txBody>
      </p:sp>
    </p:spTree>
    <p:extLst>
      <p:ext uri="{BB962C8B-B14F-4D97-AF65-F5344CB8AC3E}">
        <p14:creationId xmlns:p14="http://schemas.microsoft.com/office/powerpoint/2010/main" val="426307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39468E-449B-C979-1575-F61959141A7D}"/>
              </a:ext>
            </a:extLst>
          </p:cNvPr>
          <p:cNvSpPr>
            <a:spLocks noGrp="1"/>
          </p:cNvSpPr>
          <p:nvPr>
            <p:ph type="title"/>
          </p:nvPr>
        </p:nvSpPr>
        <p:spPr>
          <a:xfrm>
            <a:off x="640079" y="1371600"/>
            <a:ext cx="5752093" cy="1097280"/>
          </a:xfrm>
        </p:spPr>
        <p:txBody>
          <a:bodyPr>
            <a:normAutofit/>
          </a:bodyPr>
          <a:lstStyle/>
          <a:p>
            <a:r>
              <a:rPr lang="es-ES" dirty="0"/>
              <a:t>1.4.1 Dirección IPv6</a:t>
            </a:r>
          </a:p>
        </p:txBody>
      </p:sp>
      <p:cxnSp>
        <p:nvCxnSpPr>
          <p:cNvPr id="1040" name="Straight Connector 1039">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15CEBB27-BC29-263B-D938-A4642DBB903C}"/>
              </a:ext>
            </a:extLst>
          </p:cNvPr>
          <p:cNvSpPr>
            <a:spLocks noGrp="1"/>
          </p:cNvSpPr>
          <p:nvPr>
            <p:ph idx="1"/>
          </p:nvPr>
        </p:nvSpPr>
        <p:spPr>
          <a:xfrm>
            <a:off x="640079" y="2636205"/>
            <a:ext cx="5752095" cy="3661713"/>
          </a:xfrm>
        </p:spPr>
        <p:txBody>
          <a:bodyPr>
            <a:normAutofit/>
          </a:bodyPr>
          <a:lstStyle/>
          <a:p>
            <a:pPr marL="0" indent="0">
              <a:buNone/>
            </a:pPr>
            <a:r>
              <a:rPr lang="es-ES" dirty="0"/>
              <a:t>Una dirección IPV6 es un conjunto de ocho campos formados por cadenas hexadecimales (128 bits) separadas por el carácter dos puntos (:), que ofrecen un espacio de direccionamiento de 2^128 posibles valores. Cada cadena consta de cuatro caracteres hexadecimales (0-9, a-f).</a:t>
            </a:r>
          </a:p>
        </p:txBody>
      </p:sp>
      <p:pic>
        <p:nvPicPr>
          <p:cNvPr id="1026" name="Picture 2" descr="IPv6: La siguiente generación del Protocolo de Internet">
            <a:extLst>
              <a:ext uri="{FF2B5EF4-FFF2-40B4-BE49-F238E27FC236}">
                <a16:creationId xmlns:a16="http://schemas.microsoft.com/office/drawing/2014/main" id="{2B29F018-124D-2ADE-61C5-1F656A9F9A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97946" y="624137"/>
            <a:ext cx="4250585" cy="26566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Pv6 (Internet Protocol version 6): funcionalidad, IPv6 vs IPv4">
            <a:extLst>
              <a:ext uri="{FF2B5EF4-FFF2-40B4-BE49-F238E27FC236}">
                <a16:creationId xmlns:a16="http://schemas.microsoft.com/office/drawing/2014/main" id="{ECA0285D-F6C3-432D-F7D3-118189FC9BD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77128" y="3607283"/>
            <a:ext cx="4092220" cy="2690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162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85547-24BE-FE57-8243-1D26E7ACF2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1C7BED4-0832-51B1-7DAA-BAD76866B0BC}"/>
              </a:ext>
            </a:extLst>
          </p:cNvPr>
          <p:cNvSpPr>
            <a:spLocks noGrp="1"/>
          </p:cNvSpPr>
          <p:nvPr>
            <p:ph type="title"/>
          </p:nvPr>
        </p:nvSpPr>
        <p:spPr>
          <a:xfrm>
            <a:off x="640080" y="914399"/>
            <a:ext cx="10847494" cy="1171069"/>
          </a:xfrm>
        </p:spPr>
        <p:txBody>
          <a:bodyPr anchor="t">
            <a:normAutofit/>
          </a:bodyPr>
          <a:lstStyle/>
          <a:p>
            <a:r>
              <a:rPr lang="es-ES" dirty="0"/>
              <a:t>1.4.1 Dirección IPv6</a:t>
            </a:r>
          </a:p>
        </p:txBody>
      </p:sp>
      <p:pic>
        <p:nvPicPr>
          <p:cNvPr id="5" name="Imagen 4" descr="Interfaz de usuario gráfica&#10;&#10;El contenido generado por IA puede ser incorrecto.">
            <a:extLst>
              <a:ext uri="{FF2B5EF4-FFF2-40B4-BE49-F238E27FC236}">
                <a16:creationId xmlns:a16="http://schemas.microsoft.com/office/drawing/2014/main" id="{3F7DF07C-8CBA-5FE3-DAEA-7091E81543E6}"/>
              </a:ext>
            </a:extLst>
          </p:cNvPr>
          <p:cNvPicPr>
            <a:picLocks noChangeAspect="1"/>
          </p:cNvPicPr>
          <p:nvPr/>
        </p:nvPicPr>
        <p:blipFill>
          <a:blip r:embed="rId2"/>
          <a:stretch>
            <a:fillRect/>
          </a:stretch>
        </p:blipFill>
        <p:spPr>
          <a:xfrm>
            <a:off x="713232" y="3345769"/>
            <a:ext cx="5648193" cy="1581494"/>
          </a:xfrm>
          <a:prstGeom prst="rect">
            <a:avLst/>
          </a:prstGeom>
        </p:spPr>
      </p:pic>
      <p:sp>
        <p:nvSpPr>
          <p:cNvPr id="3" name="Marcador de contenido 2">
            <a:extLst>
              <a:ext uri="{FF2B5EF4-FFF2-40B4-BE49-F238E27FC236}">
                <a16:creationId xmlns:a16="http://schemas.microsoft.com/office/drawing/2014/main" id="{5E0A3135-0DE7-BC2E-77F5-4D24DCB88715}"/>
              </a:ext>
            </a:extLst>
          </p:cNvPr>
          <p:cNvSpPr>
            <a:spLocks noGrp="1"/>
          </p:cNvSpPr>
          <p:nvPr>
            <p:ph idx="1"/>
          </p:nvPr>
        </p:nvSpPr>
        <p:spPr>
          <a:xfrm>
            <a:off x="6915150" y="2256287"/>
            <a:ext cx="4563618" cy="3760459"/>
          </a:xfrm>
        </p:spPr>
        <p:txBody>
          <a:bodyPr anchor="t">
            <a:normAutofit/>
          </a:bodyPr>
          <a:lstStyle/>
          <a:p>
            <a:pPr marL="0" indent="0">
              <a:lnSpc>
                <a:spcPct val="110000"/>
              </a:lnSpc>
              <a:buNone/>
            </a:pPr>
            <a:r>
              <a:rPr lang="es-ES" sz="1400" dirty="0"/>
              <a:t>Cada grupo de campos tiene un significado especial:</a:t>
            </a:r>
          </a:p>
          <a:p>
            <a:pPr>
              <a:lnSpc>
                <a:spcPct val="110000"/>
              </a:lnSpc>
            </a:pPr>
            <a:r>
              <a:rPr lang="es-ES" sz="1400" dirty="0"/>
              <a:t>Los tres primeros campos (48 bits) contienen el prefijo del sitio que describe la topología publica (suele ser asignada por el ISP o un RIR)</a:t>
            </a:r>
          </a:p>
          <a:p>
            <a:pPr>
              <a:lnSpc>
                <a:spcPct val="110000"/>
              </a:lnSpc>
            </a:pPr>
            <a:r>
              <a:rPr lang="es-ES" sz="1400" dirty="0"/>
              <a:t>El cuarto campo (16 bits) es el identificador de la subred (puede variarse para crear subredes). A diferencia de IPV4, no es necesario utilizar bits de la Id. de interfaz (parte host) para hacer subredes.</a:t>
            </a:r>
          </a:p>
          <a:p>
            <a:pPr>
              <a:lnSpc>
                <a:spcPct val="110000"/>
              </a:lnSpc>
            </a:pPr>
            <a:r>
              <a:rPr lang="es-ES" sz="1400" dirty="0"/>
              <a:t>Los últimos cuatro campos (64 bits) contienen el identificador de la interfaz. Se configura automáticamente desde la dirección MAC de la interfaz o manualmente en formato EUI-64.</a:t>
            </a:r>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827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2D79BA-8BDD-9E07-0CCB-5C92452B5DD6}"/>
              </a:ext>
            </a:extLst>
          </p:cNvPr>
          <p:cNvSpPr>
            <a:spLocks noGrp="1"/>
          </p:cNvSpPr>
          <p:nvPr>
            <p:ph type="title"/>
          </p:nvPr>
        </p:nvSpPr>
        <p:spPr/>
        <p:txBody>
          <a:bodyPr/>
          <a:lstStyle/>
          <a:p>
            <a:r>
              <a:rPr lang="es-ES" dirty="0"/>
              <a:t>1.4.1 Dirección IPv6</a:t>
            </a:r>
          </a:p>
        </p:txBody>
      </p:sp>
      <p:sp>
        <p:nvSpPr>
          <p:cNvPr id="3" name="Marcador de contenido 2">
            <a:extLst>
              <a:ext uri="{FF2B5EF4-FFF2-40B4-BE49-F238E27FC236}">
                <a16:creationId xmlns:a16="http://schemas.microsoft.com/office/drawing/2014/main" id="{EE26E427-961C-40F8-1412-B08F5BD8C6F1}"/>
              </a:ext>
            </a:extLst>
          </p:cNvPr>
          <p:cNvSpPr>
            <a:spLocks noGrp="1"/>
          </p:cNvSpPr>
          <p:nvPr>
            <p:ph idx="1"/>
          </p:nvPr>
        </p:nvSpPr>
        <p:spPr/>
        <p:txBody>
          <a:bodyPr/>
          <a:lstStyle/>
          <a:p>
            <a:pPr marL="0" indent="0">
              <a:buNone/>
            </a:pPr>
            <a:r>
              <a:rPr lang="es-ES" dirty="0"/>
              <a:t>Las direcciones IPV6 son muy extensas y complejas. Existe una serie de reglas que establecen como deben formarse y que permiten resumirlas para facilitar su tratamiento:</a:t>
            </a:r>
          </a:p>
          <a:p>
            <a:pPr>
              <a:buFontTx/>
              <a:buChar char="-"/>
            </a:pPr>
            <a:r>
              <a:rPr lang="es-ES" dirty="0"/>
              <a:t>Es insensible a mayúsculas y minúsculas.</a:t>
            </a:r>
          </a:p>
          <a:p>
            <a:pPr>
              <a:buFontTx/>
              <a:buChar char="-"/>
            </a:pPr>
            <a:r>
              <a:rPr lang="es-ES" dirty="0"/>
              <a:t>Es posible utilizar un formato hibrido IPv6-IPv4 de manera que el final de la dirección puede ser una dirección IPv4 en notación decimal.</a:t>
            </a:r>
          </a:p>
          <a:p>
            <a:pPr>
              <a:buFontTx/>
              <a:buChar char="-"/>
            </a:pPr>
            <a:r>
              <a:rPr lang="es-ES" dirty="0"/>
              <a:t>Los ceros que hay al comienzo de cada campo se pueden omitir.</a:t>
            </a:r>
          </a:p>
          <a:p>
            <a:pPr>
              <a:buFontTx/>
              <a:buChar char="-"/>
            </a:pPr>
            <a:r>
              <a:rPr lang="es-ES" dirty="0"/>
              <a:t>El campo, o conjunto de campos consecutivos, con todo ceros se pueden omitir, pero solo una vez, quedando representados por dos caracteres dos puntos (::).</a:t>
            </a:r>
          </a:p>
        </p:txBody>
      </p:sp>
    </p:spTree>
    <p:extLst>
      <p:ext uri="{BB962C8B-B14F-4D97-AF65-F5344CB8AC3E}">
        <p14:creationId xmlns:p14="http://schemas.microsoft.com/office/powerpoint/2010/main" val="2698971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AE7C5-7FBF-B770-9863-D6507582C1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25EAB6-876F-A927-4436-AD0F83B71250}"/>
              </a:ext>
            </a:extLst>
          </p:cNvPr>
          <p:cNvSpPr>
            <a:spLocks noGrp="1"/>
          </p:cNvSpPr>
          <p:nvPr>
            <p:ph type="title"/>
          </p:nvPr>
        </p:nvSpPr>
        <p:spPr/>
        <p:txBody>
          <a:bodyPr/>
          <a:lstStyle/>
          <a:p>
            <a:r>
              <a:rPr lang="es-ES" dirty="0"/>
              <a:t>1.4.1 Dirección IPv6</a:t>
            </a:r>
          </a:p>
        </p:txBody>
      </p:sp>
      <p:pic>
        <p:nvPicPr>
          <p:cNvPr id="5" name="Imagen 4">
            <a:extLst>
              <a:ext uri="{FF2B5EF4-FFF2-40B4-BE49-F238E27FC236}">
                <a16:creationId xmlns:a16="http://schemas.microsoft.com/office/drawing/2014/main" id="{8A65184B-B376-F303-5E34-9B9088DB76F1}"/>
              </a:ext>
            </a:extLst>
          </p:cNvPr>
          <p:cNvPicPr>
            <a:picLocks noChangeAspect="1"/>
          </p:cNvPicPr>
          <p:nvPr/>
        </p:nvPicPr>
        <p:blipFill>
          <a:blip r:embed="rId2"/>
          <a:stretch>
            <a:fillRect/>
          </a:stretch>
        </p:blipFill>
        <p:spPr>
          <a:xfrm>
            <a:off x="1557337" y="2617469"/>
            <a:ext cx="9077325" cy="2457450"/>
          </a:xfrm>
          <a:prstGeom prst="rect">
            <a:avLst/>
          </a:prstGeom>
        </p:spPr>
      </p:pic>
    </p:spTree>
    <p:extLst>
      <p:ext uri="{BB962C8B-B14F-4D97-AF65-F5344CB8AC3E}">
        <p14:creationId xmlns:p14="http://schemas.microsoft.com/office/powerpoint/2010/main" val="1974028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FF887-785D-F91A-1F30-3790417489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94283F-5DE8-D476-F57E-760E0B6D5AB0}"/>
              </a:ext>
            </a:extLst>
          </p:cNvPr>
          <p:cNvSpPr>
            <a:spLocks noGrp="1"/>
          </p:cNvSpPr>
          <p:nvPr>
            <p:ph type="title"/>
          </p:nvPr>
        </p:nvSpPr>
        <p:spPr/>
        <p:txBody>
          <a:bodyPr/>
          <a:lstStyle/>
          <a:p>
            <a:r>
              <a:rPr lang="es-ES" dirty="0"/>
              <a:t>1.4.1 Dirección IPv6</a:t>
            </a:r>
          </a:p>
        </p:txBody>
      </p:sp>
      <p:sp>
        <p:nvSpPr>
          <p:cNvPr id="3" name="CuadroTexto 2">
            <a:extLst>
              <a:ext uri="{FF2B5EF4-FFF2-40B4-BE49-F238E27FC236}">
                <a16:creationId xmlns:a16="http://schemas.microsoft.com/office/drawing/2014/main" id="{AAF7F024-F731-7577-A627-A6EBD0B09048}"/>
              </a:ext>
            </a:extLst>
          </p:cNvPr>
          <p:cNvSpPr txBox="1"/>
          <p:nvPr/>
        </p:nvSpPr>
        <p:spPr>
          <a:xfrm>
            <a:off x="2277979" y="2468881"/>
            <a:ext cx="1157689" cy="369332"/>
          </a:xfrm>
          <a:prstGeom prst="rect">
            <a:avLst/>
          </a:prstGeom>
          <a:noFill/>
        </p:spPr>
        <p:txBody>
          <a:bodyPr wrap="square" rtlCol="0">
            <a:spAutoFit/>
          </a:bodyPr>
          <a:lstStyle/>
          <a:p>
            <a:r>
              <a:rPr lang="es-ES" dirty="0"/>
              <a:t>Enrutable</a:t>
            </a:r>
          </a:p>
        </p:txBody>
      </p:sp>
      <p:sp>
        <p:nvSpPr>
          <p:cNvPr id="4" name="CuadroTexto 3">
            <a:extLst>
              <a:ext uri="{FF2B5EF4-FFF2-40B4-BE49-F238E27FC236}">
                <a16:creationId xmlns:a16="http://schemas.microsoft.com/office/drawing/2014/main" id="{9B3668E9-D9A3-459C-B64D-CFE6EDBD6FEC}"/>
              </a:ext>
            </a:extLst>
          </p:cNvPr>
          <p:cNvSpPr txBox="1"/>
          <p:nvPr/>
        </p:nvSpPr>
        <p:spPr>
          <a:xfrm>
            <a:off x="8398043" y="2468881"/>
            <a:ext cx="1515978" cy="369332"/>
          </a:xfrm>
          <a:prstGeom prst="rect">
            <a:avLst/>
          </a:prstGeom>
          <a:noFill/>
        </p:spPr>
        <p:txBody>
          <a:bodyPr wrap="square" rtlCol="0">
            <a:spAutoFit/>
          </a:bodyPr>
          <a:lstStyle/>
          <a:p>
            <a:r>
              <a:rPr lang="es-ES" dirty="0"/>
              <a:t>No enrutable</a:t>
            </a:r>
          </a:p>
        </p:txBody>
      </p:sp>
      <p:sp>
        <p:nvSpPr>
          <p:cNvPr id="6" name="CuadroTexto 5">
            <a:extLst>
              <a:ext uri="{FF2B5EF4-FFF2-40B4-BE49-F238E27FC236}">
                <a16:creationId xmlns:a16="http://schemas.microsoft.com/office/drawing/2014/main" id="{3431C1B5-F161-FBBF-6CD1-EBF4763CE6CF}"/>
              </a:ext>
            </a:extLst>
          </p:cNvPr>
          <p:cNvSpPr txBox="1"/>
          <p:nvPr/>
        </p:nvSpPr>
        <p:spPr>
          <a:xfrm>
            <a:off x="1181752" y="3096126"/>
            <a:ext cx="4507831" cy="923330"/>
          </a:xfrm>
          <a:prstGeom prst="rect">
            <a:avLst/>
          </a:prstGeom>
          <a:noFill/>
        </p:spPr>
        <p:txBody>
          <a:bodyPr wrap="square" rtlCol="0">
            <a:spAutoFit/>
          </a:bodyPr>
          <a:lstStyle/>
          <a:p>
            <a:r>
              <a:rPr lang="es-ES" dirty="0"/>
              <a:t>La dirección puede ser anunciada y alcanzada fuera de la red local (ej. una dirección IPv6 global 2000::/3).</a:t>
            </a:r>
          </a:p>
        </p:txBody>
      </p:sp>
      <p:sp>
        <p:nvSpPr>
          <p:cNvPr id="7" name="CuadroTexto 6">
            <a:extLst>
              <a:ext uri="{FF2B5EF4-FFF2-40B4-BE49-F238E27FC236}">
                <a16:creationId xmlns:a16="http://schemas.microsoft.com/office/drawing/2014/main" id="{56AEFEFC-9D19-D928-EC77-06555C122316}"/>
              </a:ext>
            </a:extLst>
          </p:cNvPr>
          <p:cNvSpPr txBox="1"/>
          <p:nvPr/>
        </p:nvSpPr>
        <p:spPr>
          <a:xfrm>
            <a:off x="6817895" y="3096126"/>
            <a:ext cx="4713113" cy="646331"/>
          </a:xfrm>
          <a:prstGeom prst="rect">
            <a:avLst/>
          </a:prstGeom>
          <a:noFill/>
        </p:spPr>
        <p:txBody>
          <a:bodyPr wrap="square" rtlCol="0">
            <a:spAutoFit/>
          </a:bodyPr>
          <a:lstStyle/>
          <a:p>
            <a:r>
              <a:rPr lang="es-ES" dirty="0"/>
              <a:t>Su uso se restringe a un ámbito limitado (link-local, local único, </a:t>
            </a:r>
            <a:r>
              <a:rPr lang="es-ES" dirty="0" err="1"/>
              <a:t>loopback</a:t>
            </a:r>
            <a:r>
              <a:rPr lang="es-ES" dirty="0"/>
              <a:t>, etc.).</a:t>
            </a:r>
          </a:p>
        </p:txBody>
      </p:sp>
    </p:spTree>
    <p:extLst>
      <p:ext uri="{BB962C8B-B14F-4D97-AF65-F5344CB8AC3E}">
        <p14:creationId xmlns:p14="http://schemas.microsoft.com/office/powerpoint/2010/main" val="35545363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902167-93A9-197A-82CF-B2ACB4E574C4}"/>
              </a:ext>
            </a:extLst>
          </p:cNvPr>
          <p:cNvSpPr>
            <a:spLocks noGrp="1"/>
          </p:cNvSpPr>
          <p:nvPr>
            <p:ph type="title"/>
          </p:nvPr>
        </p:nvSpPr>
        <p:spPr/>
        <p:txBody>
          <a:bodyPr/>
          <a:lstStyle/>
          <a:p>
            <a:r>
              <a:rPr lang="es-ES" dirty="0"/>
              <a:t>1.4.1 Dirección IPv6</a:t>
            </a:r>
          </a:p>
        </p:txBody>
      </p:sp>
      <p:sp>
        <p:nvSpPr>
          <p:cNvPr id="3" name="Marcador de contenido 2">
            <a:extLst>
              <a:ext uri="{FF2B5EF4-FFF2-40B4-BE49-F238E27FC236}">
                <a16:creationId xmlns:a16="http://schemas.microsoft.com/office/drawing/2014/main" id="{79CE363B-4EB2-DB4B-7A90-2062DB07DB37}"/>
              </a:ext>
            </a:extLst>
          </p:cNvPr>
          <p:cNvSpPr>
            <a:spLocks noGrp="1"/>
          </p:cNvSpPr>
          <p:nvPr>
            <p:ph idx="1"/>
          </p:nvPr>
        </p:nvSpPr>
        <p:spPr/>
        <p:txBody>
          <a:bodyPr/>
          <a:lstStyle/>
          <a:p>
            <a:pPr marL="0" indent="0">
              <a:buNone/>
            </a:pPr>
            <a:r>
              <a:rPr lang="es-ES" dirty="0"/>
              <a:t>En IPv6 se elimina el direccionamiento broadcast. Pueden ser:</a:t>
            </a:r>
          </a:p>
          <a:p>
            <a:pPr marL="457200" indent="-457200">
              <a:buAutoNum type="alphaLcParenR"/>
            </a:pPr>
            <a:r>
              <a:rPr lang="es-ES" b="1" i="1" dirty="0"/>
              <a:t>Dirección de difusión simple (</a:t>
            </a:r>
            <a:r>
              <a:rPr lang="es-ES" b="1" i="1" dirty="0" err="1"/>
              <a:t>unicast</a:t>
            </a:r>
            <a:r>
              <a:rPr lang="es-ES" b="1" i="1" dirty="0"/>
              <a:t>): </a:t>
            </a:r>
            <a:r>
              <a:rPr lang="es-ES" dirty="0"/>
              <a:t>Especifica una única interfaz y se divide en:</a:t>
            </a:r>
          </a:p>
          <a:p>
            <a:r>
              <a:rPr lang="es-ES" b="1" i="1" dirty="0"/>
              <a:t>Dirección de enlace local</a:t>
            </a:r>
            <a:r>
              <a:rPr lang="es-ES" dirty="0"/>
              <a:t>: Ámbito de red local y no enrutable. Los nodos crean automáticamente su propia dirección IPv6 de enlace local al iniciarse. Su prefijo es </a:t>
            </a:r>
            <a:r>
              <a:rPr lang="es-ES" i="1" dirty="0"/>
              <a:t>fe80::/10.</a:t>
            </a:r>
          </a:p>
          <a:p>
            <a:r>
              <a:rPr lang="es-ES" b="1" i="1" dirty="0"/>
              <a:t>Dirección global</a:t>
            </a:r>
            <a:r>
              <a:rPr lang="es-ES" b="1" dirty="0"/>
              <a:t> (GUA, por sus siglas en inglés): </a:t>
            </a:r>
            <a:r>
              <a:rPr lang="es-ES" dirty="0"/>
              <a:t>Ámbito global (equivalentes a direcciones IPv4 públicas). Son enrutables y accesibles en Internet IPv6. Su prefijo empieza por 001 en binario (luego el primer digito será 2 o 3 en hexadecimal) y es el prefijo o porción de red de la dirección asignada por el ISP.</a:t>
            </a:r>
          </a:p>
        </p:txBody>
      </p:sp>
    </p:spTree>
    <p:extLst>
      <p:ext uri="{BB962C8B-B14F-4D97-AF65-F5344CB8AC3E}">
        <p14:creationId xmlns:p14="http://schemas.microsoft.com/office/powerpoint/2010/main" val="4146398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1086-8A3F-64E0-87B5-465B7502D9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23E8E8-7E64-23DA-7C94-EC9F5D32EA1D}"/>
              </a:ext>
            </a:extLst>
          </p:cNvPr>
          <p:cNvSpPr>
            <a:spLocks noGrp="1"/>
          </p:cNvSpPr>
          <p:nvPr>
            <p:ph type="title"/>
          </p:nvPr>
        </p:nvSpPr>
        <p:spPr/>
        <p:txBody>
          <a:bodyPr/>
          <a:lstStyle/>
          <a:p>
            <a:r>
              <a:rPr lang="es-ES" dirty="0"/>
              <a:t>1.4.1 Dirección IPv6</a:t>
            </a:r>
          </a:p>
        </p:txBody>
      </p:sp>
      <p:sp>
        <p:nvSpPr>
          <p:cNvPr id="3" name="Marcador de contenido 2">
            <a:extLst>
              <a:ext uri="{FF2B5EF4-FFF2-40B4-BE49-F238E27FC236}">
                <a16:creationId xmlns:a16="http://schemas.microsoft.com/office/drawing/2014/main" id="{D1C88BCF-8D16-619C-7155-9D6E4FCF6FA0}"/>
              </a:ext>
            </a:extLst>
          </p:cNvPr>
          <p:cNvSpPr>
            <a:spLocks noGrp="1"/>
          </p:cNvSpPr>
          <p:nvPr>
            <p:ph idx="1"/>
          </p:nvPr>
        </p:nvSpPr>
        <p:spPr/>
        <p:txBody>
          <a:bodyPr>
            <a:normAutofit/>
          </a:bodyPr>
          <a:lstStyle/>
          <a:p>
            <a:r>
              <a:rPr lang="es-ES" b="1" i="1" dirty="0"/>
              <a:t>Dirección con IPv4 embebido</a:t>
            </a:r>
            <a:r>
              <a:rPr lang="es-ES" dirty="0"/>
              <a:t>: Dirección IPv6 que lleva una dirección IPv4 en los 32 bits de orden inferior de la dirección:</a:t>
            </a:r>
          </a:p>
          <a:p>
            <a:pPr lvl="1"/>
            <a:r>
              <a:rPr lang="es-ES" b="1" i="1" dirty="0"/>
              <a:t>Direcciones IPv6 asignadas a IPv4</a:t>
            </a:r>
            <a:r>
              <a:rPr lang="es-ES" dirty="0"/>
              <a:t>: Utilizadas por dispositivos de doble pila que necesitan enviar paquetes IPv6 a dispositivos IPv4. Los primeros 96 bits están representados en hexadecimal (80 primeros bits son 0 y 16 bits restantes son 1) y los últimos 32 bits contienen la dirección IPv4 en notación decimal con puntos. Ejemplo: ::ffff:192.168.1.6.</a:t>
            </a:r>
          </a:p>
          <a:p>
            <a:pPr lvl="1"/>
            <a:r>
              <a:rPr lang="es-ES" b="1" i="1" dirty="0"/>
              <a:t>Direcciones IPv6 compatibles con IPv4</a:t>
            </a:r>
            <a:r>
              <a:rPr lang="es-ES" dirty="0"/>
              <a:t>: Son muy similares a las anteriores, salvo porque los 96 bits son 0. Están en desuso. Ejemplo: ::192.168.10.10.</a:t>
            </a:r>
          </a:p>
        </p:txBody>
      </p:sp>
    </p:spTree>
    <p:extLst>
      <p:ext uri="{BB962C8B-B14F-4D97-AF65-F5344CB8AC3E}">
        <p14:creationId xmlns:p14="http://schemas.microsoft.com/office/powerpoint/2010/main" val="4085351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6FEAB-8099-D01B-0D51-9A2C57B998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551BFE-00AE-BA6A-3126-E57FE0F942EB}"/>
              </a:ext>
            </a:extLst>
          </p:cNvPr>
          <p:cNvSpPr>
            <a:spLocks noGrp="1"/>
          </p:cNvSpPr>
          <p:nvPr>
            <p:ph type="title"/>
          </p:nvPr>
        </p:nvSpPr>
        <p:spPr/>
        <p:txBody>
          <a:bodyPr/>
          <a:lstStyle/>
          <a:p>
            <a:r>
              <a:rPr lang="es-ES" dirty="0"/>
              <a:t>1.4.1 Dirección IPv6</a:t>
            </a:r>
          </a:p>
        </p:txBody>
      </p:sp>
      <p:sp>
        <p:nvSpPr>
          <p:cNvPr id="3" name="Marcador de contenido 2">
            <a:extLst>
              <a:ext uri="{FF2B5EF4-FFF2-40B4-BE49-F238E27FC236}">
                <a16:creationId xmlns:a16="http://schemas.microsoft.com/office/drawing/2014/main" id="{4C8F0E77-B3C0-6FED-F8D3-9C1A8E1148C6}"/>
              </a:ext>
            </a:extLst>
          </p:cNvPr>
          <p:cNvSpPr>
            <a:spLocks noGrp="1"/>
          </p:cNvSpPr>
          <p:nvPr>
            <p:ph idx="1"/>
          </p:nvPr>
        </p:nvSpPr>
        <p:spPr/>
        <p:txBody>
          <a:bodyPr>
            <a:normAutofit/>
          </a:bodyPr>
          <a:lstStyle/>
          <a:p>
            <a:r>
              <a:rPr lang="es-ES" dirty="0"/>
              <a:t>Existen dos direcciones de difusión simple especiales predefinidas:</a:t>
            </a:r>
          </a:p>
          <a:p>
            <a:pPr lvl="1"/>
            <a:r>
              <a:rPr lang="es-ES" b="1" i="1" dirty="0"/>
              <a:t>Dirección sin especificar</a:t>
            </a:r>
            <a:r>
              <a:rPr lang="es-ES" dirty="0"/>
              <a:t>: Es 0:0:0:0:0:0:0:0 y se puede abreviar como ::. Indica ausencia de dirección y no puede asignarse a un sistema principal, aunque es empleada por él cuando aún no se le ha asignado dirección (por ejemplo, cuando se envía un paquete para descubrir si una dirección es utilizada por otro nodo indicando que la dirección de origen es la dirección sin especificar). </a:t>
            </a:r>
          </a:p>
          <a:p>
            <a:pPr lvl="1"/>
            <a:r>
              <a:rPr lang="es-ES" b="1" i="1" dirty="0"/>
              <a:t>Dirección de bucle de retorno</a:t>
            </a:r>
            <a:r>
              <a:rPr lang="es-ES" dirty="0"/>
              <a:t>: Es 0:0:0:0:0:0:0:1 y se puede abreviar como :: 1. Un nodo emplea esta dirección para enviarse a sí mismo un paquete (equivalente a 127.0.0.1 IPv4).</a:t>
            </a:r>
          </a:p>
        </p:txBody>
      </p:sp>
    </p:spTree>
    <p:extLst>
      <p:ext uri="{BB962C8B-B14F-4D97-AF65-F5344CB8AC3E}">
        <p14:creationId xmlns:p14="http://schemas.microsoft.com/office/powerpoint/2010/main" val="2837459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108F0-3A3A-DFF9-4698-2F24D8B7B9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CDB278-0F93-5857-9202-6BA8536BAB6A}"/>
              </a:ext>
            </a:extLst>
          </p:cNvPr>
          <p:cNvSpPr>
            <a:spLocks noGrp="1"/>
          </p:cNvSpPr>
          <p:nvPr>
            <p:ph type="title"/>
          </p:nvPr>
        </p:nvSpPr>
        <p:spPr/>
        <p:txBody>
          <a:bodyPr/>
          <a:lstStyle/>
          <a:p>
            <a:r>
              <a:rPr lang="es-ES" dirty="0"/>
              <a:t>1.4.1 Dirección IPv6</a:t>
            </a:r>
          </a:p>
        </p:txBody>
      </p:sp>
      <p:sp>
        <p:nvSpPr>
          <p:cNvPr id="3" name="Marcador de contenido 2">
            <a:extLst>
              <a:ext uri="{FF2B5EF4-FFF2-40B4-BE49-F238E27FC236}">
                <a16:creationId xmlns:a16="http://schemas.microsoft.com/office/drawing/2014/main" id="{8279602C-DE2B-A50C-858E-F987513B6B4A}"/>
              </a:ext>
            </a:extLst>
          </p:cNvPr>
          <p:cNvSpPr>
            <a:spLocks noGrp="1"/>
          </p:cNvSpPr>
          <p:nvPr>
            <p:ph idx="1"/>
          </p:nvPr>
        </p:nvSpPr>
        <p:spPr/>
        <p:txBody>
          <a:bodyPr/>
          <a:lstStyle/>
          <a:p>
            <a:pPr marL="0" indent="0">
              <a:buNone/>
            </a:pPr>
            <a:r>
              <a:rPr lang="es-ES" dirty="0"/>
              <a:t>b) </a:t>
            </a:r>
            <a:r>
              <a:rPr lang="es-ES" b="1" i="1" dirty="0"/>
              <a:t>Dirección de difusión múltiple (</a:t>
            </a:r>
            <a:r>
              <a:rPr lang="es-ES" b="1" i="1" dirty="0" err="1"/>
              <a:t>multicast</a:t>
            </a:r>
            <a:r>
              <a:rPr lang="es-ES" b="1" i="1" dirty="0"/>
              <a:t>): </a:t>
            </a:r>
            <a:r>
              <a:rPr lang="es-ES" dirty="0"/>
              <a:t>Especifica en conjunto de interfaces, posiblemente en ubicaciones múltiples. Esta dirección nunca puede ser la dirección de origen de un paquete. Su prefijo es </a:t>
            </a:r>
            <a:r>
              <a:rPr lang="es-ES" i="1" dirty="0" err="1"/>
              <a:t>ffXY</a:t>
            </a:r>
            <a:r>
              <a:rPr lang="es-ES" i="1" dirty="0"/>
              <a:t>::/8,</a:t>
            </a:r>
            <a:r>
              <a:rPr lang="es-ES" dirty="0"/>
              <a:t> en donde X e Y representan </a:t>
            </a:r>
            <a:r>
              <a:rPr lang="es-ES" dirty="0" err="1"/>
              <a:t>flags</a:t>
            </a:r>
            <a:r>
              <a:rPr lang="es-ES" dirty="0"/>
              <a:t> y alcance respectivamente.</a:t>
            </a:r>
          </a:p>
          <a:p>
            <a:pPr marL="0" indent="0">
              <a:buNone/>
            </a:pPr>
            <a:r>
              <a:rPr lang="es-ES" dirty="0"/>
              <a:t>c) </a:t>
            </a:r>
            <a:r>
              <a:rPr lang="es-ES" b="1" i="1" dirty="0"/>
              <a:t>Dirección de difusión indiferente (</a:t>
            </a:r>
            <a:r>
              <a:rPr lang="es-ES" b="1" i="1" dirty="0" err="1"/>
              <a:t>anycast</a:t>
            </a:r>
            <a:r>
              <a:rPr lang="es-ES" b="1" i="1" dirty="0"/>
              <a:t>): </a:t>
            </a:r>
            <a:r>
              <a:rPr lang="es-ES" dirty="0"/>
              <a:t>Especifica un conjunto de interfaces, posiblemente en ubicaciones diferentes, que comparten la misma dirección. Un paquete enviado a esta dirección se transmite únicamente al miembro más próximo (de acuerdo con la tabla de encaminamiento del </a:t>
            </a:r>
            <a:r>
              <a:rPr lang="es-ES" dirty="0" err="1"/>
              <a:t>router</a:t>
            </a:r>
            <a:r>
              <a:rPr lang="es-ES" dirty="0"/>
              <a:t>). Utiliza el mismo prefijo que las direcciones </a:t>
            </a:r>
            <a:r>
              <a:rPr lang="es-ES" dirty="0" err="1"/>
              <a:t>unicast</a:t>
            </a:r>
            <a:r>
              <a:rPr lang="es-ES" dirty="0"/>
              <a:t> globales (GUA).</a:t>
            </a:r>
          </a:p>
        </p:txBody>
      </p:sp>
    </p:spTree>
    <p:extLst>
      <p:ext uri="{BB962C8B-B14F-4D97-AF65-F5344CB8AC3E}">
        <p14:creationId xmlns:p14="http://schemas.microsoft.com/office/powerpoint/2010/main" val="3603086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0517BF-39F4-24BC-8C3D-41974267194C}"/>
              </a:ext>
            </a:extLst>
          </p:cNvPr>
          <p:cNvSpPr>
            <a:spLocks noGrp="1"/>
          </p:cNvSpPr>
          <p:nvPr>
            <p:ph type="title"/>
          </p:nvPr>
        </p:nvSpPr>
        <p:spPr/>
        <p:txBody>
          <a:bodyPr/>
          <a:lstStyle/>
          <a:p>
            <a:r>
              <a:rPr lang="es-ES" dirty="0"/>
              <a:t>Ejercicios propuestos</a:t>
            </a:r>
          </a:p>
        </p:txBody>
      </p:sp>
      <p:pic>
        <p:nvPicPr>
          <p:cNvPr id="5" name="Imagen 4">
            <a:extLst>
              <a:ext uri="{FF2B5EF4-FFF2-40B4-BE49-F238E27FC236}">
                <a16:creationId xmlns:a16="http://schemas.microsoft.com/office/drawing/2014/main" id="{3A5FAB03-4ED1-1DFD-C5E7-D809D54A09AC}"/>
              </a:ext>
            </a:extLst>
          </p:cNvPr>
          <p:cNvPicPr>
            <a:picLocks noChangeAspect="1"/>
          </p:cNvPicPr>
          <p:nvPr/>
        </p:nvPicPr>
        <p:blipFill>
          <a:blip r:embed="rId2"/>
          <a:stretch>
            <a:fillRect/>
          </a:stretch>
        </p:blipFill>
        <p:spPr>
          <a:xfrm>
            <a:off x="770910" y="2724872"/>
            <a:ext cx="9572625" cy="2219325"/>
          </a:xfrm>
          <a:prstGeom prst="rect">
            <a:avLst/>
          </a:prstGeom>
        </p:spPr>
      </p:pic>
    </p:spTree>
    <p:extLst>
      <p:ext uri="{BB962C8B-B14F-4D97-AF65-F5344CB8AC3E}">
        <p14:creationId xmlns:p14="http://schemas.microsoft.com/office/powerpoint/2010/main" val="2257187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C423A0-6F2B-27F5-D8AE-7D3C6BACB732}"/>
              </a:ext>
            </a:extLst>
          </p:cNvPr>
          <p:cNvSpPr>
            <a:spLocks noGrp="1"/>
          </p:cNvSpPr>
          <p:nvPr>
            <p:ph type="title"/>
          </p:nvPr>
        </p:nvSpPr>
        <p:spPr/>
        <p:txBody>
          <a:bodyPr/>
          <a:lstStyle/>
          <a:p>
            <a:r>
              <a:rPr lang="es-ES" dirty="0"/>
              <a:t>1.4.2 Prefijo de subred</a:t>
            </a:r>
          </a:p>
        </p:txBody>
      </p:sp>
      <p:sp>
        <p:nvSpPr>
          <p:cNvPr id="3" name="Marcador de contenido 2">
            <a:extLst>
              <a:ext uri="{FF2B5EF4-FFF2-40B4-BE49-F238E27FC236}">
                <a16:creationId xmlns:a16="http://schemas.microsoft.com/office/drawing/2014/main" id="{D851751E-770A-C4E0-B2AA-D9B7AE08A12C}"/>
              </a:ext>
            </a:extLst>
          </p:cNvPr>
          <p:cNvSpPr>
            <a:spLocks noGrp="1"/>
          </p:cNvSpPr>
          <p:nvPr>
            <p:ph idx="1"/>
          </p:nvPr>
        </p:nvSpPr>
        <p:spPr/>
        <p:txBody>
          <a:bodyPr/>
          <a:lstStyle/>
          <a:p>
            <a:pPr marL="0" indent="0">
              <a:buNone/>
            </a:pPr>
            <a:r>
              <a:rPr lang="es-ES" dirty="0"/>
              <a:t>IPv6 abandona el uso de máscara, apareciendo ahora el concepto “longitud de prefijo subred”. Un prefijo de dirección IPv6 (la porción de red de la dirección) se representa con el formato:</a:t>
            </a:r>
          </a:p>
          <a:p>
            <a:pPr marL="0" indent="0" algn="ctr">
              <a:buNone/>
            </a:pPr>
            <a:r>
              <a:rPr lang="es-ES" dirty="0"/>
              <a:t>IPv6/prefijo</a:t>
            </a:r>
          </a:p>
          <a:p>
            <a:pPr marL="0" indent="0">
              <a:buNone/>
            </a:pPr>
            <a:r>
              <a:rPr lang="es-ES" dirty="0"/>
              <a:t>Este formato es similar al de las máscaras de dirección IPv4 en notación CIDR, donde es 0&lt;=prefijo&lt;=128.</a:t>
            </a:r>
          </a:p>
        </p:txBody>
      </p:sp>
    </p:spTree>
    <p:extLst>
      <p:ext uri="{BB962C8B-B14F-4D97-AF65-F5344CB8AC3E}">
        <p14:creationId xmlns:p14="http://schemas.microsoft.com/office/powerpoint/2010/main" val="32011874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FFE4E-16C6-C945-4667-65861F7426E1}"/>
              </a:ext>
            </a:extLst>
          </p:cNvPr>
          <p:cNvSpPr>
            <a:spLocks noGrp="1"/>
          </p:cNvSpPr>
          <p:nvPr>
            <p:ph type="title"/>
          </p:nvPr>
        </p:nvSpPr>
        <p:spPr/>
        <p:txBody>
          <a:bodyPr/>
          <a:lstStyle/>
          <a:p>
            <a:r>
              <a:rPr lang="es-ES"/>
              <a:t>Actividad propuesta</a:t>
            </a:r>
            <a:endParaRPr lang="es-ES" dirty="0"/>
          </a:p>
        </p:txBody>
      </p:sp>
      <p:pic>
        <p:nvPicPr>
          <p:cNvPr id="5" name="Imagen 4">
            <a:extLst>
              <a:ext uri="{FF2B5EF4-FFF2-40B4-BE49-F238E27FC236}">
                <a16:creationId xmlns:a16="http://schemas.microsoft.com/office/drawing/2014/main" id="{A39AADD0-3BC3-E108-B42A-5DEAC17AD1C0}"/>
              </a:ext>
            </a:extLst>
          </p:cNvPr>
          <p:cNvPicPr>
            <a:picLocks noChangeAspect="1"/>
          </p:cNvPicPr>
          <p:nvPr/>
        </p:nvPicPr>
        <p:blipFill>
          <a:blip r:embed="rId2"/>
          <a:stretch>
            <a:fillRect/>
          </a:stretch>
        </p:blipFill>
        <p:spPr>
          <a:xfrm>
            <a:off x="781000" y="2468881"/>
            <a:ext cx="10063653" cy="3428499"/>
          </a:xfrm>
          <a:prstGeom prst="rect">
            <a:avLst/>
          </a:prstGeom>
        </p:spPr>
      </p:pic>
    </p:spTree>
    <p:extLst>
      <p:ext uri="{BB962C8B-B14F-4D97-AF65-F5344CB8AC3E}">
        <p14:creationId xmlns:p14="http://schemas.microsoft.com/office/powerpoint/2010/main" val="411210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E966F6-E3A2-FE8A-25C1-74E7F1B041F1}"/>
              </a:ext>
            </a:extLst>
          </p:cNvPr>
          <p:cNvSpPr>
            <a:spLocks noGrp="1"/>
          </p:cNvSpPr>
          <p:nvPr>
            <p:ph type="title"/>
          </p:nvPr>
        </p:nvSpPr>
        <p:spPr/>
        <p:txBody>
          <a:bodyPr/>
          <a:lstStyle/>
          <a:p>
            <a:r>
              <a:rPr lang="es-ES" dirty="0"/>
              <a:t>1.5 Servicios de red, protocolos </a:t>
            </a:r>
            <a:r>
              <a:rPr lang="es-ES"/>
              <a:t>y puertos</a:t>
            </a:r>
          </a:p>
        </p:txBody>
      </p:sp>
      <p:sp>
        <p:nvSpPr>
          <p:cNvPr id="3" name="Marcador de contenido 2">
            <a:extLst>
              <a:ext uri="{FF2B5EF4-FFF2-40B4-BE49-F238E27FC236}">
                <a16:creationId xmlns:a16="http://schemas.microsoft.com/office/drawing/2014/main" id="{E7191E79-DEEB-79F5-51C1-83E4529BCEC4}"/>
              </a:ext>
            </a:extLst>
          </p:cNvPr>
          <p:cNvSpPr>
            <a:spLocks noGrp="1"/>
          </p:cNvSpPr>
          <p:nvPr>
            <p:ph idx="1"/>
          </p:nvPr>
        </p:nvSpPr>
        <p:spPr/>
        <p:txBody>
          <a:bodyPr/>
          <a:lstStyle/>
          <a:p>
            <a:pPr marL="0" indent="0">
              <a:buNone/>
            </a:pPr>
            <a:r>
              <a:rPr lang="es-ES" dirty="0"/>
              <a:t>La capa de aplicación define cómo se ofrecen los servicios de red a los usuarios.</a:t>
            </a:r>
          </a:p>
          <a:p>
            <a:pPr marL="0" indent="0">
              <a:buNone/>
            </a:pPr>
            <a:r>
              <a:rPr lang="es-ES" dirty="0"/>
              <a:t>Utiliza protocolos que permiten comunicación, transferencia de datos y gestión de recursos.</a:t>
            </a:r>
          </a:p>
          <a:p>
            <a:pPr marL="0" indent="0">
              <a:buNone/>
            </a:pPr>
            <a:r>
              <a:rPr lang="es-ES" dirty="0"/>
              <a:t>Ejemplos: correo electrónico, transferencia de ficheros, chat, mensajería instantánea, etc.</a:t>
            </a:r>
          </a:p>
        </p:txBody>
      </p:sp>
    </p:spTree>
    <p:extLst>
      <p:ext uri="{BB962C8B-B14F-4D97-AF65-F5344CB8AC3E}">
        <p14:creationId xmlns:p14="http://schemas.microsoft.com/office/powerpoint/2010/main" val="31363518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DB2D-373D-0DAD-FD76-2594B8014D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2892CE-5FDA-FFCB-C711-EDAF8F7068C0}"/>
              </a:ext>
            </a:extLst>
          </p:cNvPr>
          <p:cNvSpPr>
            <a:spLocks noGrp="1"/>
          </p:cNvSpPr>
          <p:nvPr>
            <p:ph type="title"/>
          </p:nvPr>
        </p:nvSpPr>
        <p:spPr/>
        <p:txBody>
          <a:bodyPr/>
          <a:lstStyle/>
          <a:p>
            <a:r>
              <a:rPr lang="es-ES" dirty="0"/>
              <a:t>1.5 Servicios de red, protocolos y puertos</a:t>
            </a:r>
          </a:p>
        </p:txBody>
      </p:sp>
      <p:sp>
        <p:nvSpPr>
          <p:cNvPr id="3" name="Marcador de contenido 2">
            <a:extLst>
              <a:ext uri="{FF2B5EF4-FFF2-40B4-BE49-F238E27FC236}">
                <a16:creationId xmlns:a16="http://schemas.microsoft.com/office/drawing/2014/main" id="{46DE2D3F-AFFC-BA91-D4D2-C0ED1D00075F}"/>
              </a:ext>
            </a:extLst>
          </p:cNvPr>
          <p:cNvSpPr>
            <a:spLocks noGrp="1"/>
          </p:cNvSpPr>
          <p:nvPr>
            <p:ph idx="1"/>
          </p:nvPr>
        </p:nvSpPr>
        <p:spPr>
          <a:xfrm>
            <a:off x="895120" y="3166349"/>
            <a:ext cx="10380846" cy="2852927"/>
          </a:xfrm>
        </p:spPr>
        <p:txBody>
          <a:bodyPr>
            <a:normAutofit lnSpcReduction="10000"/>
          </a:bodyPr>
          <a:lstStyle/>
          <a:p>
            <a:r>
              <a:rPr lang="es-ES" i="1" dirty="0"/>
              <a:t>RIP</a:t>
            </a:r>
            <a:r>
              <a:rPr lang="es-ES" dirty="0"/>
              <a:t>: Protocolo de enrutamiento vector-distancia.</a:t>
            </a:r>
          </a:p>
          <a:p>
            <a:r>
              <a:rPr lang="es-ES" i="1" dirty="0"/>
              <a:t>DHCP</a:t>
            </a:r>
            <a:r>
              <a:rPr lang="es-ES" dirty="0"/>
              <a:t>: Configura automáticamente direcciones IP y parámetros de red.</a:t>
            </a:r>
          </a:p>
          <a:p>
            <a:r>
              <a:rPr lang="es-ES" i="1" dirty="0"/>
              <a:t>DNS</a:t>
            </a:r>
            <a:r>
              <a:rPr lang="es-ES" dirty="0"/>
              <a:t>: Traduce nombres de dominio en direcciones IP.</a:t>
            </a:r>
          </a:p>
          <a:p>
            <a:r>
              <a:rPr lang="es-ES" i="1" dirty="0"/>
              <a:t>NTP</a:t>
            </a:r>
            <a:r>
              <a:rPr lang="es-ES" dirty="0"/>
              <a:t>: Sincronización de relojes de equipos en red.</a:t>
            </a:r>
          </a:p>
          <a:p>
            <a:r>
              <a:rPr lang="es-ES" i="1" dirty="0"/>
              <a:t>SNMP</a:t>
            </a:r>
            <a:r>
              <a:rPr lang="es-ES" dirty="0"/>
              <a:t>: Administración de dispositivos de red.</a:t>
            </a:r>
          </a:p>
          <a:p>
            <a:r>
              <a:rPr lang="es-ES" i="1" dirty="0"/>
              <a:t>HTTP</a:t>
            </a:r>
            <a:r>
              <a:rPr lang="es-ES" dirty="0"/>
              <a:t>: Transferencia de información en la web.</a:t>
            </a:r>
          </a:p>
        </p:txBody>
      </p:sp>
      <p:sp>
        <p:nvSpPr>
          <p:cNvPr id="5" name="CuadroTexto 4">
            <a:extLst>
              <a:ext uri="{FF2B5EF4-FFF2-40B4-BE49-F238E27FC236}">
                <a16:creationId xmlns:a16="http://schemas.microsoft.com/office/drawing/2014/main" id="{D9908578-440C-3ADF-D54D-23DFFBD5981D}"/>
              </a:ext>
            </a:extLst>
          </p:cNvPr>
          <p:cNvSpPr txBox="1"/>
          <p:nvPr/>
        </p:nvSpPr>
        <p:spPr>
          <a:xfrm>
            <a:off x="802105" y="2212242"/>
            <a:ext cx="7074569" cy="954107"/>
          </a:xfrm>
          <a:prstGeom prst="rect">
            <a:avLst/>
          </a:prstGeom>
          <a:noFill/>
        </p:spPr>
        <p:txBody>
          <a:bodyPr wrap="square" rtlCol="0">
            <a:spAutoFit/>
          </a:bodyPr>
          <a:lstStyle/>
          <a:p>
            <a:r>
              <a:rPr lang="es-ES" sz="2800" dirty="0">
                <a:latin typeface="+mj-lt"/>
              </a:rPr>
              <a:t>Servicios de comunicaciones y configuración</a:t>
            </a:r>
          </a:p>
        </p:txBody>
      </p:sp>
    </p:spTree>
    <p:extLst>
      <p:ext uri="{BB962C8B-B14F-4D97-AF65-F5344CB8AC3E}">
        <p14:creationId xmlns:p14="http://schemas.microsoft.com/office/powerpoint/2010/main" val="2717415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79645-D935-4120-27A4-DE9A8225AB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1A8EEB-304E-383B-A837-90B0166CF608}"/>
              </a:ext>
            </a:extLst>
          </p:cNvPr>
          <p:cNvSpPr>
            <a:spLocks noGrp="1"/>
          </p:cNvSpPr>
          <p:nvPr>
            <p:ph type="title"/>
          </p:nvPr>
        </p:nvSpPr>
        <p:spPr/>
        <p:txBody>
          <a:bodyPr/>
          <a:lstStyle/>
          <a:p>
            <a:r>
              <a:rPr lang="es-ES" dirty="0"/>
              <a:t>1.5 Servicios de red, protocolos y puertos</a:t>
            </a:r>
          </a:p>
        </p:txBody>
      </p:sp>
      <p:sp>
        <p:nvSpPr>
          <p:cNvPr id="3" name="Marcador de contenido 2">
            <a:extLst>
              <a:ext uri="{FF2B5EF4-FFF2-40B4-BE49-F238E27FC236}">
                <a16:creationId xmlns:a16="http://schemas.microsoft.com/office/drawing/2014/main" id="{8398A50A-C679-9148-A543-03F268E469C7}"/>
              </a:ext>
            </a:extLst>
          </p:cNvPr>
          <p:cNvSpPr>
            <a:spLocks noGrp="1"/>
          </p:cNvSpPr>
          <p:nvPr>
            <p:ph idx="1"/>
          </p:nvPr>
        </p:nvSpPr>
        <p:spPr>
          <a:xfrm>
            <a:off x="895120" y="3166349"/>
            <a:ext cx="10380846" cy="2852927"/>
          </a:xfrm>
        </p:spPr>
        <p:txBody>
          <a:bodyPr>
            <a:normAutofit/>
          </a:bodyPr>
          <a:lstStyle/>
          <a:p>
            <a:r>
              <a:rPr lang="es-ES" i="1" dirty="0"/>
              <a:t>Telnet</a:t>
            </a:r>
            <a:r>
              <a:rPr lang="es-ES" dirty="0"/>
              <a:t>: Acceso remoto a sistemas (no seguro).</a:t>
            </a:r>
          </a:p>
          <a:p>
            <a:r>
              <a:rPr lang="es-ES" i="1" dirty="0"/>
              <a:t>SSH</a:t>
            </a:r>
            <a:r>
              <a:rPr lang="es-ES" dirty="0"/>
              <a:t>: Acceso remoto seguro.</a:t>
            </a:r>
          </a:p>
          <a:p>
            <a:r>
              <a:rPr lang="es-ES" i="1" dirty="0"/>
              <a:t>FTP</a:t>
            </a:r>
            <a:r>
              <a:rPr lang="es-ES" dirty="0"/>
              <a:t>: Transferencia de ficheros en red.</a:t>
            </a:r>
          </a:p>
          <a:p>
            <a:r>
              <a:rPr lang="es-ES" i="1" dirty="0"/>
              <a:t>TFTP</a:t>
            </a:r>
            <a:r>
              <a:rPr lang="es-ES" dirty="0"/>
              <a:t>: Transferencia simple de archivos (sin autenticación).</a:t>
            </a:r>
          </a:p>
        </p:txBody>
      </p:sp>
      <p:sp>
        <p:nvSpPr>
          <p:cNvPr id="5" name="CuadroTexto 4">
            <a:extLst>
              <a:ext uri="{FF2B5EF4-FFF2-40B4-BE49-F238E27FC236}">
                <a16:creationId xmlns:a16="http://schemas.microsoft.com/office/drawing/2014/main" id="{55E0EE54-8784-AB6D-2196-F8B8226C6AA4}"/>
              </a:ext>
            </a:extLst>
          </p:cNvPr>
          <p:cNvSpPr txBox="1"/>
          <p:nvPr/>
        </p:nvSpPr>
        <p:spPr>
          <a:xfrm>
            <a:off x="802105" y="2212242"/>
            <a:ext cx="7074569" cy="954107"/>
          </a:xfrm>
          <a:prstGeom prst="rect">
            <a:avLst/>
          </a:prstGeom>
          <a:noFill/>
        </p:spPr>
        <p:txBody>
          <a:bodyPr wrap="square" rtlCol="0">
            <a:spAutoFit/>
          </a:bodyPr>
          <a:lstStyle/>
          <a:p>
            <a:r>
              <a:rPr lang="es-ES" sz="2800" dirty="0">
                <a:latin typeface="+mj-lt"/>
              </a:rPr>
              <a:t>Servicios de acceso remoto y transferencia de ficheros</a:t>
            </a:r>
          </a:p>
        </p:txBody>
      </p:sp>
    </p:spTree>
    <p:extLst>
      <p:ext uri="{BB962C8B-B14F-4D97-AF65-F5344CB8AC3E}">
        <p14:creationId xmlns:p14="http://schemas.microsoft.com/office/powerpoint/2010/main" val="1479359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5068B-139B-941B-06B8-4A092B7C69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C69284-5AC1-2BDD-286D-FBB15DEEA24C}"/>
              </a:ext>
            </a:extLst>
          </p:cNvPr>
          <p:cNvSpPr>
            <a:spLocks noGrp="1"/>
          </p:cNvSpPr>
          <p:nvPr>
            <p:ph type="title"/>
          </p:nvPr>
        </p:nvSpPr>
        <p:spPr/>
        <p:txBody>
          <a:bodyPr/>
          <a:lstStyle/>
          <a:p>
            <a:r>
              <a:rPr lang="es-ES" dirty="0"/>
              <a:t>1.5 Servicios de red, protocolos y puertos</a:t>
            </a:r>
          </a:p>
        </p:txBody>
      </p:sp>
      <p:sp>
        <p:nvSpPr>
          <p:cNvPr id="3" name="Marcador de contenido 2">
            <a:extLst>
              <a:ext uri="{FF2B5EF4-FFF2-40B4-BE49-F238E27FC236}">
                <a16:creationId xmlns:a16="http://schemas.microsoft.com/office/drawing/2014/main" id="{58DF81B6-B862-A965-9436-B1CF6DCF21CF}"/>
              </a:ext>
            </a:extLst>
          </p:cNvPr>
          <p:cNvSpPr>
            <a:spLocks noGrp="1"/>
          </p:cNvSpPr>
          <p:nvPr>
            <p:ph idx="1"/>
          </p:nvPr>
        </p:nvSpPr>
        <p:spPr>
          <a:xfrm>
            <a:off x="895120" y="3166349"/>
            <a:ext cx="10380846" cy="2852927"/>
          </a:xfrm>
        </p:spPr>
        <p:txBody>
          <a:bodyPr>
            <a:normAutofit/>
          </a:bodyPr>
          <a:lstStyle/>
          <a:p>
            <a:r>
              <a:rPr lang="es-ES" i="1" dirty="0"/>
              <a:t>NFS</a:t>
            </a:r>
            <a:r>
              <a:rPr lang="es-ES" dirty="0"/>
              <a:t>: Sistema de archivos en red (Unix/Linux).</a:t>
            </a:r>
          </a:p>
          <a:p>
            <a:r>
              <a:rPr lang="es-ES" i="1" dirty="0"/>
              <a:t>SMB</a:t>
            </a:r>
            <a:r>
              <a:rPr lang="es-ES" dirty="0"/>
              <a:t>: Compartición de archivos e impresoras (Windows).</a:t>
            </a:r>
          </a:p>
        </p:txBody>
      </p:sp>
      <p:sp>
        <p:nvSpPr>
          <p:cNvPr id="5" name="CuadroTexto 4">
            <a:extLst>
              <a:ext uri="{FF2B5EF4-FFF2-40B4-BE49-F238E27FC236}">
                <a16:creationId xmlns:a16="http://schemas.microsoft.com/office/drawing/2014/main" id="{95F31884-F57A-56CA-32A2-D854A80F068C}"/>
              </a:ext>
            </a:extLst>
          </p:cNvPr>
          <p:cNvSpPr txBox="1"/>
          <p:nvPr/>
        </p:nvSpPr>
        <p:spPr>
          <a:xfrm>
            <a:off x="802105" y="2212242"/>
            <a:ext cx="7074569" cy="523220"/>
          </a:xfrm>
          <a:prstGeom prst="rect">
            <a:avLst/>
          </a:prstGeom>
          <a:noFill/>
        </p:spPr>
        <p:txBody>
          <a:bodyPr wrap="square" rtlCol="0">
            <a:spAutoFit/>
          </a:bodyPr>
          <a:lstStyle/>
          <a:p>
            <a:r>
              <a:rPr lang="es-ES" sz="2800" dirty="0">
                <a:latin typeface="+mj-lt"/>
              </a:rPr>
              <a:t>Compartición de recursos en red</a:t>
            </a:r>
          </a:p>
        </p:txBody>
      </p:sp>
    </p:spTree>
    <p:extLst>
      <p:ext uri="{BB962C8B-B14F-4D97-AF65-F5344CB8AC3E}">
        <p14:creationId xmlns:p14="http://schemas.microsoft.com/office/powerpoint/2010/main" val="2475011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19189-C366-9723-16E3-F8428234BE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797691-E6E7-8246-7806-148B7905071D}"/>
              </a:ext>
            </a:extLst>
          </p:cNvPr>
          <p:cNvSpPr>
            <a:spLocks noGrp="1"/>
          </p:cNvSpPr>
          <p:nvPr>
            <p:ph type="title"/>
          </p:nvPr>
        </p:nvSpPr>
        <p:spPr/>
        <p:txBody>
          <a:bodyPr/>
          <a:lstStyle/>
          <a:p>
            <a:r>
              <a:rPr lang="es-ES" dirty="0"/>
              <a:t>1.5 Servicios de red, protocolos y puertos</a:t>
            </a:r>
          </a:p>
        </p:txBody>
      </p:sp>
      <p:sp>
        <p:nvSpPr>
          <p:cNvPr id="3" name="Marcador de contenido 2">
            <a:extLst>
              <a:ext uri="{FF2B5EF4-FFF2-40B4-BE49-F238E27FC236}">
                <a16:creationId xmlns:a16="http://schemas.microsoft.com/office/drawing/2014/main" id="{A0405BA8-258F-B0F8-129E-CD17FB6B8E5C}"/>
              </a:ext>
            </a:extLst>
          </p:cNvPr>
          <p:cNvSpPr>
            <a:spLocks noGrp="1"/>
          </p:cNvSpPr>
          <p:nvPr>
            <p:ph idx="1"/>
          </p:nvPr>
        </p:nvSpPr>
        <p:spPr>
          <a:xfrm>
            <a:off x="895120" y="3166349"/>
            <a:ext cx="10380846" cy="2852927"/>
          </a:xfrm>
        </p:spPr>
        <p:txBody>
          <a:bodyPr>
            <a:normAutofit/>
          </a:bodyPr>
          <a:lstStyle/>
          <a:p>
            <a:r>
              <a:rPr lang="es-ES" i="1" dirty="0"/>
              <a:t>IMAP</a:t>
            </a:r>
            <a:r>
              <a:rPr lang="es-ES" dirty="0"/>
              <a:t>: Acceso remoto a mensajes almacenados en servidor.</a:t>
            </a:r>
          </a:p>
          <a:p>
            <a:r>
              <a:rPr lang="es-ES" i="1" dirty="0"/>
              <a:t>POP</a:t>
            </a:r>
            <a:r>
              <a:rPr lang="es-ES" dirty="0"/>
              <a:t>: Descarga de correos electrónicos al cliente.</a:t>
            </a:r>
          </a:p>
          <a:p>
            <a:r>
              <a:rPr lang="es-ES" i="1" dirty="0"/>
              <a:t>SMTP</a:t>
            </a:r>
            <a:r>
              <a:rPr lang="es-ES" dirty="0"/>
              <a:t>: Envío de correos electrónicos.</a:t>
            </a:r>
          </a:p>
        </p:txBody>
      </p:sp>
      <p:sp>
        <p:nvSpPr>
          <p:cNvPr id="5" name="CuadroTexto 4">
            <a:extLst>
              <a:ext uri="{FF2B5EF4-FFF2-40B4-BE49-F238E27FC236}">
                <a16:creationId xmlns:a16="http://schemas.microsoft.com/office/drawing/2014/main" id="{CCC13143-CC5F-542A-D74E-E9112A2C28F0}"/>
              </a:ext>
            </a:extLst>
          </p:cNvPr>
          <p:cNvSpPr txBox="1"/>
          <p:nvPr/>
        </p:nvSpPr>
        <p:spPr>
          <a:xfrm>
            <a:off x="802105" y="2212242"/>
            <a:ext cx="7074569" cy="523220"/>
          </a:xfrm>
          <a:prstGeom prst="rect">
            <a:avLst/>
          </a:prstGeom>
          <a:noFill/>
        </p:spPr>
        <p:txBody>
          <a:bodyPr wrap="square" rtlCol="0">
            <a:spAutoFit/>
          </a:bodyPr>
          <a:lstStyle/>
          <a:p>
            <a:r>
              <a:rPr lang="es-ES" sz="2800" dirty="0">
                <a:latin typeface="+mj-lt"/>
              </a:rPr>
              <a:t>Correo electrónico</a:t>
            </a:r>
          </a:p>
        </p:txBody>
      </p:sp>
    </p:spTree>
    <p:extLst>
      <p:ext uri="{BB962C8B-B14F-4D97-AF65-F5344CB8AC3E}">
        <p14:creationId xmlns:p14="http://schemas.microsoft.com/office/powerpoint/2010/main" val="3614867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3C5A3-3010-BC69-19B7-163A86255D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1C75B1-6960-01D2-67EC-957AF7A21608}"/>
              </a:ext>
            </a:extLst>
          </p:cNvPr>
          <p:cNvSpPr>
            <a:spLocks noGrp="1"/>
          </p:cNvSpPr>
          <p:nvPr>
            <p:ph type="title"/>
          </p:nvPr>
        </p:nvSpPr>
        <p:spPr/>
        <p:txBody>
          <a:bodyPr/>
          <a:lstStyle/>
          <a:p>
            <a:r>
              <a:rPr lang="es-ES" dirty="0"/>
              <a:t>1.5 Servicios de red, protocolos y puertos</a:t>
            </a:r>
          </a:p>
        </p:txBody>
      </p:sp>
      <p:sp>
        <p:nvSpPr>
          <p:cNvPr id="3" name="Marcador de contenido 2">
            <a:extLst>
              <a:ext uri="{FF2B5EF4-FFF2-40B4-BE49-F238E27FC236}">
                <a16:creationId xmlns:a16="http://schemas.microsoft.com/office/drawing/2014/main" id="{949FF776-3746-5263-2A8A-82E585E261E3}"/>
              </a:ext>
            </a:extLst>
          </p:cNvPr>
          <p:cNvSpPr>
            <a:spLocks noGrp="1"/>
          </p:cNvSpPr>
          <p:nvPr>
            <p:ph idx="1"/>
          </p:nvPr>
        </p:nvSpPr>
        <p:spPr>
          <a:xfrm>
            <a:off x="895120" y="3166349"/>
            <a:ext cx="10380846" cy="2852927"/>
          </a:xfrm>
        </p:spPr>
        <p:txBody>
          <a:bodyPr>
            <a:normAutofit/>
          </a:bodyPr>
          <a:lstStyle/>
          <a:p>
            <a:r>
              <a:rPr lang="es-ES" i="1" dirty="0"/>
              <a:t>IRC</a:t>
            </a:r>
            <a:r>
              <a:rPr lang="es-ES" dirty="0"/>
              <a:t>: Chat en tiempo real.</a:t>
            </a:r>
          </a:p>
          <a:p>
            <a:r>
              <a:rPr lang="es-ES" i="1" dirty="0"/>
              <a:t>XMPP</a:t>
            </a:r>
            <a:r>
              <a:rPr lang="es-ES" dirty="0"/>
              <a:t>: Mensajería instantánea y presencia.</a:t>
            </a:r>
          </a:p>
          <a:p>
            <a:r>
              <a:rPr lang="es-ES" i="1" dirty="0"/>
              <a:t>RTSP</a:t>
            </a:r>
            <a:r>
              <a:rPr lang="es-ES" dirty="0"/>
              <a:t>: Transmisión en </a:t>
            </a:r>
            <a:r>
              <a:rPr lang="es-ES" dirty="0" err="1"/>
              <a:t>streaming</a:t>
            </a:r>
            <a:r>
              <a:rPr lang="es-ES" dirty="0"/>
              <a:t> multimedia.</a:t>
            </a:r>
          </a:p>
          <a:p>
            <a:r>
              <a:rPr lang="es-ES" i="1" dirty="0"/>
              <a:t>SIP</a:t>
            </a:r>
            <a:r>
              <a:rPr lang="es-ES" dirty="0"/>
              <a:t>: Establecimiento de sesiones VoIP.</a:t>
            </a:r>
          </a:p>
          <a:p>
            <a:r>
              <a:rPr lang="es-ES" i="1" dirty="0"/>
              <a:t>IAX</a:t>
            </a:r>
            <a:r>
              <a:rPr lang="es-ES" dirty="0"/>
              <a:t>: Optimización de llamadas VoIP entre servidores.</a:t>
            </a:r>
          </a:p>
        </p:txBody>
      </p:sp>
      <p:sp>
        <p:nvSpPr>
          <p:cNvPr id="5" name="CuadroTexto 4">
            <a:extLst>
              <a:ext uri="{FF2B5EF4-FFF2-40B4-BE49-F238E27FC236}">
                <a16:creationId xmlns:a16="http://schemas.microsoft.com/office/drawing/2014/main" id="{DA1F2E37-07FB-335C-F211-A9E643AC67D8}"/>
              </a:ext>
            </a:extLst>
          </p:cNvPr>
          <p:cNvSpPr txBox="1"/>
          <p:nvPr/>
        </p:nvSpPr>
        <p:spPr>
          <a:xfrm>
            <a:off x="802105" y="2212242"/>
            <a:ext cx="7074569" cy="523220"/>
          </a:xfrm>
          <a:prstGeom prst="rect">
            <a:avLst/>
          </a:prstGeom>
          <a:noFill/>
        </p:spPr>
        <p:txBody>
          <a:bodyPr wrap="square" rtlCol="0">
            <a:spAutoFit/>
          </a:bodyPr>
          <a:lstStyle/>
          <a:p>
            <a:r>
              <a:rPr lang="es-ES" sz="2800" dirty="0">
                <a:latin typeface="+mj-lt"/>
              </a:rPr>
              <a:t>Comunicación en tiempo real</a:t>
            </a:r>
          </a:p>
        </p:txBody>
      </p:sp>
    </p:spTree>
    <p:extLst>
      <p:ext uri="{BB962C8B-B14F-4D97-AF65-F5344CB8AC3E}">
        <p14:creationId xmlns:p14="http://schemas.microsoft.com/office/powerpoint/2010/main" val="301033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FBF504-D3DE-E9EF-C686-12ED08924F7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77FE282-7941-DF44-0861-B47C3149DDED}"/>
              </a:ext>
            </a:extLst>
          </p:cNvPr>
          <p:cNvSpPr>
            <a:spLocks noGrp="1"/>
          </p:cNvSpPr>
          <p:nvPr>
            <p:ph type="title"/>
          </p:nvPr>
        </p:nvSpPr>
        <p:spPr>
          <a:xfrm>
            <a:off x="640080" y="914399"/>
            <a:ext cx="10847494" cy="1171069"/>
          </a:xfrm>
        </p:spPr>
        <p:txBody>
          <a:bodyPr anchor="t">
            <a:normAutofit/>
          </a:bodyPr>
          <a:lstStyle/>
          <a:p>
            <a:r>
              <a:rPr lang="es-ES" dirty="0"/>
              <a:t>1.5 Servicios de red, protocolos y puertos</a:t>
            </a:r>
          </a:p>
        </p:txBody>
      </p:sp>
      <p:pic>
        <p:nvPicPr>
          <p:cNvPr id="6" name="Imagen 5" descr="Interfaz de usuario gráfica&#10;&#10;El contenido generado por IA puede ser incorrecto.">
            <a:extLst>
              <a:ext uri="{FF2B5EF4-FFF2-40B4-BE49-F238E27FC236}">
                <a16:creationId xmlns:a16="http://schemas.microsoft.com/office/drawing/2014/main" id="{7901C030-817D-7244-EAE9-B22FE6015032}"/>
              </a:ext>
            </a:extLst>
          </p:cNvPr>
          <p:cNvPicPr>
            <a:picLocks noChangeAspect="1"/>
          </p:cNvPicPr>
          <p:nvPr/>
        </p:nvPicPr>
        <p:blipFill>
          <a:blip r:embed="rId2"/>
          <a:stretch>
            <a:fillRect/>
          </a:stretch>
        </p:blipFill>
        <p:spPr>
          <a:xfrm>
            <a:off x="713232" y="2816251"/>
            <a:ext cx="5648193" cy="2640530"/>
          </a:xfrm>
          <a:prstGeom prst="rect">
            <a:avLst/>
          </a:prstGeom>
        </p:spPr>
      </p:pic>
      <p:sp>
        <p:nvSpPr>
          <p:cNvPr id="3" name="Marcador de contenido 2">
            <a:extLst>
              <a:ext uri="{FF2B5EF4-FFF2-40B4-BE49-F238E27FC236}">
                <a16:creationId xmlns:a16="http://schemas.microsoft.com/office/drawing/2014/main" id="{14241FB8-3952-0739-C4C2-36768CD1F8C0}"/>
              </a:ext>
            </a:extLst>
          </p:cNvPr>
          <p:cNvSpPr>
            <a:spLocks noGrp="1"/>
          </p:cNvSpPr>
          <p:nvPr>
            <p:ph idx="1"/>
          </p:nvPr>
        </p:nvSpPr>
        <p:spPr>
          <a:xfrm>
            <a:off x="6915150" y="2256287"/>
            <a:ext cx="4563618" cy="3760459"/>
          </a:xfrm>
        </p:spPr>
        <p:txBody>
          <a:bodyPr anchor="t">
            <a:normAutofit/>
          </a:bodyPr>
          <a:lstStyle/>
          <a:p>
            <a:pPr>
              <a:lnSpc>
                <a:spcPct val="110000"/>
              </a:lnSpc>
            </a:pPr>
            <a:r>
              <a:rPr lang="es-ES" sz="1300" dirty="0"/>
              <a:t>La capa de transporte identifica el proceso/servicio que recibirá los datos en el host.</a:t>
            </a:r>
          </a:p>
          <a:p>
            <a:pPr>
              <a:lnSpc>
                <a:spcPct val="110000"/>
              </a:lnSpc>
            </a:pPr>
            <a:r>
              <a:rPr lang="es-ES" sz="1300" dirty="0"/>
              <a:t>Se utilizan los puertos, que permiten diferenciar múltiples servicios en ejecución.</a:t>
            </a:r>
          </a:p>
          <a:p>
            <a:pPr>
              <a:lnSpc>
                <a:spcPct val="110000"/>
              </a:lnSpc>
            </a:pPr>
            <a:r>
              <a:rPr lang="es-ES" sz="1300" dirty="0"/>
              <a:t>Protocolos asociados: TCP, UDP, SCTP.</a:t>
            </a:r>
          </a:p>
          <a:p>
            <a:pPr>
              <a:lnSpc>
                <a:spcPct val="110000"/>
              </a:lnSpc>
            </a:pPr>
            <a:r>
              <a:rPr lang="es-ES" sz="1300" dirty="0"/>
              <a:t>Los puertos por defecto están definidos en las RFC, pero pueden modificarse.</a:t>
            </a:r>
          </a:p>
          <a:p>
            <a:pPr lvl="1">
              <a:lnSpc>
                <a:spcPct val="110000"/>
              </a:lnSpc>
            </a:pPr>
            <a:r>
              <a:rPr lang="es-ES" sz="1100" dirty="0"/>
              <a:t>Precaución: no usar un puerto ya ocupado por otro servicio.</a:t>
            </a:r>
          </a:p>
          <a:p>
            <a:pPr lvl="1">
              <a:lnSpc>
                <a:spcPct val="110000"/>
              </a:lnSpc>
            </a:pPr>
            <a:r>
              <a:rPr lang="es-ES" sz="1100" dirty="0"/>
              <a:t>Es necesario comunicar a los clientes el nuevo puerto para evitar errores.</a:t>
            </a:r>
          </a:p>
          <a:p>
            <a:pPr>
              <a:lnSpc>
                <a:spcPct val="110000"/>
              </a:lnSpc>
            </a:pPr>
            <a:r>
              <a:rPr lang="es-ES" sz="1300" dirty="0"/>
              <a:t>Compatibilidad: la mayoría de servicios funcionan tanto con IPv4 como con IPv6.</a:t>
            </a:r>
          </a:p>
        </p:txBody>
      </p:sp>
      <p:cxnSp>
        <p:nvCxnSpPr>
          <p:cNvPr id="13" name="Straight Connector 12">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Flecha: a la derecha 6">
            <a:extLst>
              <a:ext uri="{FF2B5EF4-FFF2-40B4-BE49-F238E27FC236}">
                <a16:creationId xmlns:a16="http://schemas.microsoft.com/office/drawing/2014/main" id="{4AD57A26-5F8E-C749-30A9-063ACFFD2B77}"/>
              </a:ext>
            </a:extLst>
          </p:cNvPr>
          <p:cNvSpPr/>
          <p:nvPr/>
        </p:nvSpPr>
        <p:spPr>
          <a:xfrm>
            <a:off x="365760" y="3886200"/>
            <a:ext cx="487680" cy="3352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4947585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A8E43-B429-B65B-5799-DBD06830A1CE}"/>
              </a:ext>
            </a:extLst>
          </p:cNvPr>
          <p:cNvSpPr>
            <a:spLocks noGrp="1"/>
          </p:cNvSpPr>
          <p:nvPr>
            <p:ph type="title"/>
          </p:nvPr>
        </p:nvSpPr>
        <p:spPr/>
        <p:txBody>
          <a:bodyPr/>
          <a:lstStyle/>
          <a:p>
            <a:r>
              <a:rPr lang="es-ES" dirty="0"/>
              <a:t>Preparación del entorno de trabajo</a:t>
            </a:r>
          </a:p>
        </p:txBody>
      </p:sp>
      <p:sp>
        <p:nvSpPr>
          <p:cNvPr id="3" name="Marcador de contenido 2">
            <a:extLst>
              <a:ext uri="{FF2B5EF4-FFF2-40B4-BE49-F238E27FC236}">
                <a16:creationId xmlns:a16="http://schemas.microsoft.com/office/drawing/2014/main" id="{34C75ED6-CDBD-5802-C41C-F01E861119B7}"/>
              </a:ext>
            </a:extLst>
          </p:cNvPr>
          <p:cNvSpPr>
            <a:spLocks noGrp="1"/>
          </p:cNvSpPr>
          <p:nvPr>
            <p:ph idx="1"/>
          </p:nvPr>
        </p:nvSpPr>
        <p:spPr/>
        <p:txBody>
          <a:bodyPr/>
          <a:lstStyle/>
          <a:p>
            <a:pPr marL="0" indent="0">
              <a:buNone/>
            </a:pPr>
            <a:r>
              <a:rPr lang="es-ES" dirty="0"/>
              <a:t>Realizar las maquinas virtuales para: </a:t>
            </a:r>
          </a:p>
          <a:p>
            <a:r>
              <a:rPr lang="es-ES" dirty="0"/>
              <a:t>Windows server 2019</a:t>
            </a:r>
          </a:p>
          <a:p>
            <a:r>
              <a:rPr lang="es-ES" dirty="0"/>
              <a:t>Ubuntu server 18.4 LTS</a:t>
            </a:r>
          </a:p>
        </p:txBody>
      </p:sp>
    </p:spTree>
    <p:extLst>
      <p:ext uri="{BB962C8B-B14F-4D97-AF65-F5344CB8AC3E}">
        <p14:creationId xmlns:p14="http://schemas.microsoft.com/office/powerpoint/2010/main" val="36719188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EFFA7A-926C-1835-0362-CE1266646067}"/>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Resumen</a:t>
            </a:r>
          </a:p>
        </p:txBody>
      </p:sp>
      <p:pic>
        <p:nvPicPr>
          <p:cNvPr id="5" name="Marcador de contenido 4">
            <a:extLst>
              <a:ext uri="{FF2B5EF4-FFF2-40B4-BE49-F238E27FC236}">
                <a16:creationId xmlns:a16="http://schemas.microsoft.com/office/drawing/2014/main" id="{7D694CF8-4B6B-EB28-98B5-6D4567C2072B}"/>
              </a:ext>
            </a:extLst>
          </p:cNvPr>
          <p:cNvPicPr>
            <a:picLocks noGrp="1" noChangeAspect="1"/>
          </p:cNvPicPr>
          <p:nvPr>
            <p:ph idx="1"/>
          </p:nvPr>
        </p:nvPicPr>
        <p:blipFill>
          <a:blip r:embed="rId2"/>
          <a:stretch>
            <a:fillRect/>
          </a:stretch>
        </p:blipFill>
        <p:spPr>
          <a:xfrm>
            <a:off x="5121265" y="990201"/>
            <a:ext cx="5506317"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8741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09F94E8-F707-B286-2A81-D08478702C64}"/>
              </a:ext>
            </a:extLst>
          </p:cNvPr>
          <p:cNvSpPr>
            <a:spLocks noGrp="1"/>
          </p:cNvSpPr>
          <p:nvPr>
            <p:ph type="title"/>
          </p:nvPr>
        </p:nvSpPr>
        <p:spPr>
          <a:xfrm>
            <a:off x="640080" y="1434438"/>
            <a:ext cx="2983229" cy="2612976"/>
          </a:xfrm>
        </p:spPr>
        <p:txBody>
          <a:bodyPr vert="horz" lIns="91440" tIns="45720" rIns="91440" bIns="45720" rtlCol="0" anchor="t">
            <a:normAutofit/>
          </a:bodyPr>
          <a:lstStyle/>
          <a:p>
            <a:pPr>
              <a:lnSpc>
                <a:spcPct val="90000"/>
              </a:lnSpc>
            </a:pPr>
            <a:r>
              <a:rPr lang="en-US" sz="3100"/>
              <a:t>Ejercicios de autoevaluación</a:t>
            </a:r>
          </a:p>
        </p:txBody>
      </p:sp>
      <p:pic>
        <p:nvPicPr>
          <p:cNvPr id="5" name="Marcador de contenido 4">
            <a:extLst>
              <a:ext uri="{FF2B5EF4-FFF2-40B4-BE49-F238E27FC236}">
                <a16:creationId xmlns:a16="http://schemas.microsoft.com/office/drawing/2014/main" id="{C4B87973-E9B4-6204-3B88-24C07B04F394}"/>
              </a:ext>
            </a:extLst>
          </p:cNvPr>
          <p:cNvPicPr>
            <a:picLocks noGrp="1" noChangeAspect="1"/>
          </p:cNvPicPr>
          <p:nvPr>
            <p:ph idx="1"/>
          </p:nvPr>
        </p:nvPicPr>
        <p:blipFill>
          <a:blip r:embed="rId2"/>
          <a:stretch>
            <a:fillRect/>
          </a:stretch>
        </p:blipFill>
        <p:spPr>
          <a:xfrm>
            <a:off x="5676199" y="990201"/>
            <a:ext cx="4396449" cy="4818027"/>
          </a:xfrm>
          <a:prstGeom prst="rect">
            <a:avLst/>
          </a:prstGeom>
        </p:spPr>
      </p:pic>
      <p:cxnSp>
        <p:nvCxnSpPr>
          <p:cNvPr id="23" name="Straight Connector 22">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0064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6DDBA-ECC5-FDC5-5CE3-136CAADA24C1}"/>
            </a:ext>
          </a:extLst>
        </p:cNvPr>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D36611A-A852-6575-2F8E-436069ABDDF2}"/>
              </a:ext>
            </a:extLst>
          </p:cNvPr>
          <p:cNvSpPr>
            <a:spLocks noGrp="1"/>
          </p:cNvSpPr>
          <p:nvPr>
            <p:ph type="title"/>
          </p:nvPr>
        </p:nvSpPr>
        <p:spPr>
          <a:xfrm>
            <a:off x="640080" y="1434438"/>
            <a:ext cx="2983229" cy="2612976"/>
          </a:xfrm>
        </p:spPr>
        <p:txBody>
          <a:bodyPr vert="horz" lIns="91440" tIns="45720" rIns="91440" bIns="45720" rtlCol="0" anchor="t">
            <a:normAutofit/>
          </a:bodyPr>
          <a:lstStyle/>
          <a:p>
            <a:pPr>
              <a:lnSpc>
                <a:spcPct val="90000"/>
              </a:lnSpc>
            </a:pPr>
            <a:r>
              <a:rPr lang="en-US" sz="3100"/>
              <a:t>Ejercicios de autoevaluación</a:t>
            </a:r>
          </a:p>
        </p:txBody>
      </p:sp>
      <p:pic>
        <p:nvPicPr>
          <p:cNvPr id="7" name="Marcador de contenido 6">
            <a:extLst>
              <a:ext uri="{FF2B5EF4-FFF2-40B4-BE49-F238E27FC236}">
                <a16:creationId xmlns:a16="http://schemas.microsoft.com/office/drawing/2014/main" id="{1DFB3AB4-112B-DB50-9407-F07BECFC77BE}"/>
              </a:ext>
            </a:extLst>
          </p:cNvPr>
          <p:cNvPicPr>
            <a:picLocks noGrp="1" noChangeAspect="1"/>
          </p:cNvPicPr>
          <p:nvPr>
            <p:ph idx="1"/>
          </p:nvPr>
        </p:nvPicPr>
        <p:blipFill>
          <a:blip r:embed="rId3"/>
          <a:stretch>
            <a:fillRect/>
          </a:stretch>
        </p:blipFill>
        <p:spPr>
          <a:xfrm>
            <a:off x="5854574" y="877609"/>
            <a:ext cx="4579745" cy="5102781"/>
          </a:xfrm>
          <a:prstGeom prst="rect">
            <a:avLst/>
          </a:prstGeom>
        </p:spPr>
      </p:pic>
      <p:cxnSp>
        <p:nvCxnSpPr>
          <p:cNvPr id="32" name="Straight Connector 31">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23337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500</TotalTime>
  <Words>2317</Words>
  <Application>Microsoft Office PowerPoint</Application>
  <PresentationFormat>Panorámica</PresentationFormat>
  <Paragraphs>191</Paragraphs>
  <Slides>50</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vt:i4>
      </vt:variant>
    </vt:vector>
  </HeadingPairs>
  <TitlesOfParts>
    <vt:vector size="55" baseType="lpstr">
      <vt:lpstr>Aptos</vt:lpstr>
      <vt:lpstr>Arial</vt:lpstr>
      <vt:lpstr>Grandview Display</vt:lpstr>
      <vt:lpstr>Wingdings</vt:lpstr>
      <vt:lpstr>DashVTI</vt:lpstr>
      <vt:lpstr>1. Introducción a los servicios en red</vt:lpstr>
      <vt:lpstr>Objetivos</vt:lpstr>
      <vt:lpstr>1.1 Modelos de red</vt:lpstr>
      <vt:lpstr>1.1.1 Modelo OSI</vt:lpstr>
      <vt:lpstr>1.1.1 Modelo OSI</vt:lpstr>
      <vt:lpstr>1.1.1 Modelo OSI</vt:lpstr>
      <vt:lpstr>1.1.2 Modelo TCP/IP</vt:lpstr>
      <vt:lpstr>1.1.2 Modelo TCP/IP</vt:lpstr>
      <vt:lpstr>1.2 Direccionamiento</vt:lpstr>
      <vt:lpstr>1.2  Tipos de direccionamiento</vt:lpstr>
      <vt:lpstr>1.2  Tipos de direccionamiento</vt:lpstr>
      <vt:lpstr>1.2  Tipos de direccionamiento</vt:lpstr>
      <vt:lpstr>1.2  Tipos de direccionamiento</vt:lpstr>
      <vt:lpstr>1.3 Protocolo IPv4</vt:lpstr>
      <vt:lpstr>1.3.1 Dirección IPv4</vt:lpstr>
      <vt:lpstr>1.3.1 Dirección IPv4</vt:lpstr>
      <vt:lpstr>1.3.2 Máscara de red</vt:lpstr>
      <vt:lpstr>1.3.2 Máscara de red</vt:lpstr>
      <vt:lpstr>1.3.2 Máscara de red</vt:lpstr>
      <vt:lpstr>1.3.2 Máscara de red</vt:lpstr>
      <vt:lpstr>1.3.3 Puerta de enlace</vt:lpstr>
      <vt:lpstr>1.3.3 Puerta de enlace</vt:lpstr>
      <vt:lpstr>Actividades propuestas</vt:lpstr>
      <vt:lpstr>Soluciones</vt:lpstr>
      <vt:lpstr>1.4 Protocolo IPv6</vt:lpstr>
      <vt:lpstr>1.4 Protocolo IPv6</vt:lpstr>
      <vt:lpstr>1.4 Protocolo IPv6</vt:lpstr>
      <vt:lpstr>1.4.1 Dirección IPv6</vt:lpstr>
      <vt:lpstr>1.4.1 Dirección IPv6</vt:lpstr>
      <vt:lpstr>1.4.1 Dirección IPv6</vt:lpstr>
      <vt:lpstr>1.4.1 Dirección IPv6</vt:lpstr>
      <vt:lpstr>1.4.1 Dirección IPv6</vt:lpstr>
      <vt:lpstr>1.4.1 Dirección IPv6</vt:lpstr>
      <vt:lpstr>1.4.1 Dirección IPv6</vt:lpstr>
      <vt:lpstr>1.4.1 Dirección IPv6</vt:lpstr>
      <vt:lpstr>1.4.1 Dirección IPv6</vt:lpstr>
      <vt:lpstr>Ejercicios propuestos</vt:lpstr>
      <vt:lpstr>1.4.2 Prefijo de subred</vt:lpstr>
      <vt:lpstr>Actividad propuesta</vt:lpstr>
      <vt:lpstr>1.5 Servicios de red, protocolos y puertos</vt:lpstr>
      <vt:lpstr>1.5 Servicios de red, protocolos y puertos</vt:lpstr>
      <vt:lpstr>1.5 Servicios de red, protocolos y puertos</vt:lpstr>
      <vt:lpstr>1.5 Servicios de red, protocolos y puertos</vt:lpstr>
      <vt:lpstr>1.5 Servicios de red, protocolos y puertos</vt:lpstr>
      <vt:lpstr>1.5 Servicios de red, protocolos y puertos</vt:lpstr>
      <vt:lpstr>1.5 Servicios de red, protocolos y puertos</vt:lpstr>
      <vt:lpstr>Preparación del entorno de trabajo</vt:lpstr>
      <vt:lpstr>Resumen</vt:lpstr>
      <vt:lpstr>Ejercicios de autoevaluación</vt:lpstr>
      <vt:lpstr>Ejercicios de autoevaluación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IRLES RIZO, MARTIN</dc:creator>
  <cp:lastModifiedBy>IRLES RIZO, MARTIN</cp:lastModifiedBy>
  <cp:revision>12</cp:revision>
  <dcterms:created xsi:type="dcterms:W3CDTF">2025-09-24T14:18:52Z</dcterms:created>
  <dcterms:modified xsi:type="dcterms:W3CDTF">2025-10-15T15:58:02Z</dcterms:modified>
</cp:coreProperties>
</file>